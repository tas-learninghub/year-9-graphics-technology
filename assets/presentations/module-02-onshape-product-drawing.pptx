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e025f99d704e9e" /><Relationship Type="http://schemas.openxmlformats.org/officeDocument/2006/relationships/extended-properties" Target="/docProps/app.xml" Id="Rbf0836bfcfda4a81" /><Relationship Type="http://schemas.openxmlformats.org/officeDocument/2006/relationships/officeDocument" Target="/ppt/presentation.xml" Id="R34073489a9a441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c022f31b3c4067"/>
  </p:sldMasterIdLst>
  <p:notesMasterIdLst>
    <p:notesMasterId xmlns:r="http://schemas.openxmlformats.org/officeDocument/2006/relationships" r:id="Rc2709587fb0941fc"/>
  </p:notesMasterIdLst>
  <p:sldIdLst>
    <p:sldId xmlns:r="http://schemas.openxmlformats.org/officeDocument/2006/relationships" id="256" r:id="R83bb5b75d6544728"/>
    <p:sldId xmlns:r="http://schemas.openxmlformats.org/officeDocument/2006/relationships" id="257" r:id="Rd7415557c0f14c95"/>
    <p:sldId xmlns:r="http://schemas.openxmlformats.org/officeDocument/2006/relationships" id="258" r:id="Reab7c2ca795e4c82"/>
    <p:sldId xmlns:r="http://schemas.openxmlformats.org/officeDocument/2006/relationships" id="259" r:id="R441c87d1885744db"/>
    <p:sldId xmlns:r="http://schemas.openxmlformats.org/officeDocument/2006/relationships" id="260" r:id="R978609e5d2384924"/>
    <p:sldId xmlns:r="http://schemas.openxmlformats.org/officeDocument/2006/relationships" id="261" r:id="Rbc05831295b84786"/>
    <p:sldId xmlns:r="http://schemas.openxmlformats.org/officeDocument/2006/relationships" id="262" r:id="Rdb940ee7e3fe4e01"/>
    <p:sldId xmlns:r="http://schemas.openxmlformats.org/officeDocument/2006/relationships" id="263" r:id="R4013f740d00a46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da8d6e18c4453c" /><Relationship Type="http://schemas.openxmlformats.org/officeDocument/2006/relationships/slideMaster" Target="/ppt/slideMasters/slideMaster1.xml" Id="Rb4c022f31b3c4067" /><Relationship Type="http://schemas.openxmlformats.org/officeDocument/2006/relationships/notesMaster" Target="/ppt/notesMasters/notesMaster1.xml" Id="Rc2709587fb0941fc" /><Relationship Type="http://schemas.openxmlformats.org/officeDocument/2006/relationships/presProps" Target="/ppt/presProps.xml" Id="Rc44bb7ee63d5403a" /><Relationship Type="http://schemas.openxmlformats.org/officeDocument/2006/relationships/tableStyles" Target="/ppt/tableStyles.xml" Id="R95c8c3cb8a0d4111" /><Relationship Type="http://schemas.openxmlformats.org/officeDocument/2006/relationships/slide" Target="/ppt/slides/slide1.xml" Id="R83bb5b75d6544728" /><Relationship Type="http://schemas.openxmlformats.org/officeDocument/2006/relationships/slide" Target="/ppt/slides/slide2.xml" Id="Rd7415557c0f14c95" /><Relationship Type="http://schemas.openxmlformats.org/officeDocument/2006/relationships/slide" Target="/ppt/slides/slide3.xml" Id="Reab7c2ca795e4c82" /><Relationship Type="http://schemas.openxmlformats.org/officeDocument/2006/relationships/slide" Target="/ppt/slides/slide4.xml" Id="R441c87d1885744db" /><Relationship Type="http://schemas.openxmlformats.org/officeDocument/2006/relationships/slide" Target="/ppt/slides/slide5.xml" Id="R978609e5d2384924" /><Relationship Type="http://schemas.openxmlformats.org/officeDocument/2006/relationships/slide" Target="/ppt/slides/slide6.xml" Id="Rbc05831295b84786" /><Relationship Type="http://schemas.openxmlformats.org/officeDocument/2006/relationships/slide" Target="/ppt/slides/slide7.xml" Id="Rdb940ee7e3fe4e01" /><Relationship Type="http://schemas.openxmlformats.org/officeDocument/2006/relationships/slide" Target="/ppt/slides/slide8.xml" Id="R4013f740d00a46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63f6ff7e5847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19be19c98f480e" /><Relationship Type="http://schemas.openxmlformats.org/officeDocument/2006/relationships/notesMaster" Target="/ppt/notesMasters/notesMaster1.xml" Id="R5eca9cb9bb4345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bfa5c2defb4da4" /><Relationship Type="http://schemas.openxmlformats.org/officeDocument/2006/relationships/notesMaster" Target="/ppt/notesMasters/notesMaster1.xml" Id="R44db98e2fcea44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1b6cf879d3452d" /><Relationship Type="http://schemas.openxmlformats.org/officeDocument/2006/relationships/notesMaster" Target="/ppt/notesMasters/notesMaster1.xml" Id="R39bb77e4285a48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ccf48b25ff4daf" /><Relationship Type="http://schemas.openxmlformats.org/officeDocument/2006/relationships/notesMaster" Target="/ppt/notesMasters/notesMaster1.xml" Id="Rc1efc1ef4c7e4b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761f51de474cda" /><Relationship Type="http://schemas.openxmlformats.org/officeDocument/2006/relationships/notesMaster" Target="/ppt/notesMasters/notesMaster1.xml" Id="Rca2e592d50044b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e4dad271044797" /><Relationship Type="http://schemas.openxmlformats.org/officeDocument/2006/relationships/notesMaster" Target="/ppt/notesMasters/notesMaster1.xml" Id="Rdad67fe860904b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9b5cca405e4b91" /><Relationship Type="http://schemas.openxmlformats.org/officeDocument/2006/relationships/notesMaster" Target="/ppt/notesMasters/notesMaster1.xml" Id="R65671db6704047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9254c0fb2c4b0a" /><Relationship Type="http://schemas.openxmlformats.org/officeDocument/2006/relationships/notesMaster" Target="/ppt/notesMasters/notesMaster1.xml" Id="Re0e351eeee2c49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talking points — Onshape Product Drawing, slide 1</a:t>
            </a:r>
          </a:p>
          <a:p xmlns:a="http://schemas.openxmlformats.org/drawingml/2006/main">
            <a:r>
              <a:t>- State the course pathway clearly: Onshape is the sole CAD package used here.</a:t>
            </a:r>
          </a:p>
          <a:p xmlns:a="http://schemas.openxmlformats.org/drawingml/2006/main">
            <a:r>
              <a:t>- Connect modelling decisions to later drawing and evidence, not interface memorisation.</a:t>
            </a:r>
          </a:p>
          <a:p xmlns:a="http://schemas.openxmlformats.org/drawingml/2006/main">
            <a:r>
              <a:t>- Ask: What communication job will Onshape Product Drawing help us complete?</a:t>
            </a:r>
          </a:p>
          <a:p xmlns:a="http://schemas.openxmlformats.org/drawingml/2006/main">
            <a:r>
              <a:t>- Invite a short continuous explanation while students point to the visible evidence; the slide is a prompt, not a script to read aloud.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https://curriculum.nsw.edu.au/learning-areas/tas/communication-technology-7-10-2025/content/stage-5/faedaf189a</a:t>
            </a:r>
          </a:p>
          <a:p xmlns:a="http://schemas.openxmlformats.org/drawingml/2006/main">
            <a:r>
              <a:t>- https://curriculum.nsw.edu.au/learning-areas/tas/communication-technology-7-10-2025/content/stage-5/fa63ae38e0</a:t>
            </a:r>
          </a:p>
          <a:p xmlns:a="http://schemas.openxmlformats.org/drawingml/2006/main">
            <a:r>
              <a:t>- https://cad.onshape.com/help/Content/Document/documents.htm</a:t>
            </a:r>
          </a:p>
          <a:p xmlns:a="http://schemas.openxmlformats.org/drawingml/2006/main">
            <a:r>
              <a:t>- Course visual: assets/images/m02s01-document-architecture.jpg — AI-generated teaching visual; provenance recorded in the module visual manifest.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talking points — Onshape Product Drawing, slide 2</a:t>
            </a:r>
          </a:p>
          <a:p xmlns:a="http://schemas.openxmlformats.org/drawingml/2006/main">
            <a:r>
              <a:t>- Preview the document–feature–handoff sequence.</a:t>
            </a:r>
          </a:p>
          <a:p xmlns:a="http://schemas.openxmlformats.org/drawingml/2006/main">
            <a:r>
              <a:t>- Ask students which later errors become easier to prevent when the document structure is understood first.</a:t>
            </a:r>
          </a:p>
          <a:p xmlns:a="http://schemas.openxmlformats.org/drawingml/2006/main">
            <a:r>
              <a:t>- Ask: Which idea depends most on the one before it?</a:t>
            </a:r>
          </a:p>
          <a:p xmlns:a="http://schemas.openxmlformats.org/drawingml/2006/main">
            <a:r>
              <a:t>- Invite a short continuous explanation while students point to the visible evidence; the slide is a prompt, not a script to read aloud.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https://curriculum.nsw.edu.au/learning-areas/tas/communication-technology-7-10-2025/content/stage-5/faedaf189a</a:t>
            </a:r>
          </a:p>
          <a:p xmlns:a="http://schemas.openxmlformats.org/drawingml/2006/main">
            <a:r>
              <a:t>- https://curriculum.nsw.edu.au/learning-areas/tas/communication-technology-7-10-2025/content/stage-5/fa698bf5c2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talking points — Onshape Product Drawing, slide 3</a:t>
            </a:r>
          </a:p>
          <a:p xmlns:a="http://schemas.openxmlformats.org/drawingml/2006/main">
            <a:r>
              <a:t>- Demonstrate that dimensions control size and constraints control relationships.</a:t>
            </a:r>
          </a:p>
          <a:p xmlns:a="http://schemas.openxmlformats.org/drawingml/2006/main">
            <a:r>
              <a:t>- Use the visual as a model of logic, not as a fake software screenshot.</a:t>
            </a:r>
          </a:p>
          <a:p xmlns:a="http://schemas.openxmlformats.org/drawingml/2006/main">
            <a:r>
              <a:t>- Test → Which relationship should remain true when one authorised dimension changes?</a:t>
            </a:r>
          </a:p>
          <a:p xmlns:a="http://schemas.openxmlformats.org/drawingml/2006/main">
            <a:r>
              <a:t>- Invite a short continuous explanation while students point to the visible evidence; the slide is a prompt, not a script to read aloud.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https://cad.onshape.com/help/Content/Document/documents.htm</a:t>
            </a:r>
          </a:p>
          <a:p xmlns:a="http://schemas.openxmlformats.org/drawingml/2006/main">
            <a:r>
              <a:t>- https://cad.onshape.com/help/Content/Sketch/sketch_basics.htm</a:t>
            </a:r>
          </a:p>
          <a:p xmlns:a="http://schemas.openxmlformats.org/drawingml/2006/main">
            <a:r>
              <a:t>- https://cad.onshape.com/help/Content/Sketch/working_with_constraints.htm</a:t>
            </a:r>
          </a:p>
          <a:p xmlns:a="http://schemas.openxmlformats.org/drawingml/2006/main">
            <a:r>
              <a:t>- Course visual: assets/images/m02s01-constraint-progression.jpg — AI-generated teaching visual; provenance recorded in the module visual manifest.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talking points — Onshape Product Drawing, slide 4</a:t>
            </a:r>
          </a:p>
          <a:p xmlns:a="http://schemas.openxmlformats.org/drawingml/2006/main">
            <a:r>
              <a:t>- Read feature history from left to right as cause and effect.</a:t>
            </a:r>
          </a:p>
          <a:p xmlns:a="http://schemas.openxmlformats.org/drawingml/2006/main">
            <a:r>
              <a:t>- Use an authorised change to test whether references are robust or fragile.</a:t>
            </a:r>
          </a:p>
          <a:p xmlns:a="http://schemas.openxmlformats.org/drawingml/2006/main">
            <a:r>
              <a:t>- Trace → Which feature breaks if an early sketch or reference changes?</a:t>
            </a:r>
          </a:p>
          <a:p xmlns:a="http://schemas.openxmlformats.org/drawingml/2006/main">
            <a:r>
              <a:t>- Invite a short continuous explanation while students point to the visible evidence; the slide is a prompt, not a script to read aloud.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https://curriculum.nsw.edu.au/learning-areas/tas/communication-technology-7-10-2025/content/stage-5/fa698bf5c2</a:t>
            </a:r>
          </a:p>
          <a:p xmlns:a="http://schemas.openxmlformats.org/drawingml/2006/main">
            <a:r>
              <a:t>- https://cad.onshape.com/help/Content/PartStudio/feature_tools.htm</a:t>
            </a:r>
          </a:p>
          <a:p xmlns:a="http://schemas.openxmlformats.org/drawingml/2006/main">
            <a:r>
              <a:t>- Course visual: assets/images/m02s02-feature-history-story.jpg — AI-generated teaching visual; provenance recorded in the module visual manifest.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talking points — Onshape Product Drawing, slide 5</a:t>
            </a:r>
          </a:p>
          <a:p xmlns:a="http://schemas.openxmlformats.org/drawingml/2006/main">
            <a:r>
              <a:t>- Separate the live workspace, a named version and an exported copy.</a:t>
            </a:r>
          </a:p>
          <a:p xmlns:a="http://schemas.openxmlformats.org/drawingml/2006/main">
            <a:r>
              <a:t>- Cross-check every drawing view after a model change before handoff.</a:t>
            </a:r>
          </a:p>
          <a:p xmlns:a="http://schemas.openxmlformats.org/drawingml/2006/main">
            <a:r>
              <a:t>- Release-check → What changed, which views need checking, and which version should be handed off?</a:t>
            </a:r>
          </a:p>
          <a:p xmlns:a="http://schemas.openxmlformats.org/drawingml/2006/main">
            <a:r>
              <a:t>- Invite a short continuous explanation while students point to the visible evidence; the slide is a prompt, not a script to read aloud.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https://cad.onshape.com/help/Content/Drawing/drawing_basics.htm</a:t>
            </a:r>
          </a:p>
          <a:p xmlns:a="http://schemas.openxmlformats.org/drawingml/2006/main">
            <a:r>
              <a:t>- https://cad.onshape.com/help/Content/Drawing/views.htm</a:t>
            </a:r>
          </a:p>
          <a:p xmlns:a="http://schemas.openxmlformats.org/drawingml/2006/main">
            <a:r>
              <a:t>- https://cad.onshape.com/help/Content/Drawing/drawing_dimensions.htm</a:t>
            </a:r>
          </a:p>
          <a:p xmlns:a="http://schemas.openxmlformats.org/drawingml/2006/main">
            <a:r>
              <a:t>- https://cad.onshape.com/help/Content/File/exporting_files.htm</a:t>
            </a:r>
          </a:p>
          <a:p xmlns:a="http://schemas.openxmlformats.org/drawingml/2006/main">
            <a:r>
              <a:t>- https://cad.onshape.com/help/Content/Document/versions_and_history.htm</a:t>
            </a:r>
          </a:p>
          <a:p xmlns:a="http://schemas.openxmlformats.org/drawingml/2006/main">
            <a:r>
              <a:t>- Course visual: assets/images/m02s03-model-drawing-version-export-flow.jpg — AI-generated teaching visual; provenance recorded in the module visual manifest.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talking points — Onshape Product Drawing, slide 6</a:t>
            </a:r>
          </a:p>
          <a:p xmlns:a="http://schemas.openxmlformats.org/drawingml/2006/main">
            <a:r>
              <a:t>- Run no-notes retrieval, then require students to locate the supporting slide evidence.</a:t>
            </a:r>
          </a:p>
          <a:p xmlns:a="http://schemas.openxmlformats.org/drawingml/2006/main">
            <a:r>
              <a:t>- Ask for one Onshape-specific example in each explanation.</a:t>
            </a:r>
          </a:p>
          <a:p xmlns:a="http://schemas.openxmlformats.org/drawingml/2006/main">
            <a:r>
              <a:t>- Ask students to support each response with evidence from the teaching slides.</a:t>
            </a:r>
          </a:p>
          <a:p xmlns:a="http://schemas.openxmlformats.org/drawingml/2006/main">
            <a:r>
              <a:t>- Invite a short continuous explanation while students point to the visible evidence; the slide is a prompt, not a script to read aloud.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https://cad.onshape.com/help/Content/Sketch/working_with_constraints.htm</a:t>
            </a:r>
          </a:p>
          <a:p xmlns:a="http://schemas.openxmlformats.org/drawingml/2006/main">
            <a:r>
              <a:t>- https://cad.onshape.com/help/Content/PartStudio/feature_tools.htm</a:t>
            </a:r>
          </a:p>
          <a:p xmlns:a="http://schemas.openxmlformats.org/drawingml/2006/main">
            <a:r>
              <a:t>- https://cad.onshape.com/help/Content/Drawing/drawing_basics.htm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talking points — Onshape Product Drawing, slide 7</a:t>
            </a:r>
          </a:p>
          <a:p xmlns:a="http://schemas.openxmlformats.org/drawingml/2006/main">
            <a:r>
              <a:t>- Students test one relationship, record the expected change and compare it with the result.</a:t>
            </a:r>
          </a:p>
          <a:p xmlns:a="http://schemas.openxmlformats.org/drawingml/2006/main">
            <a:r>
              <a:t>- A successful update is evidence about that relationship, not proof of the whole product.</a:t>
            </a:r>
          </a:p>
          <a:p xmlns:a="http://schemas.openxmlformats.org/drawingml/2006/main">
            <a:r>
              <a:t>- Ask students to read their completed sentence and identify the exact evidence behind it.</a:t>
            </a:r>
          </a:p>
          <a:p xmlns:a="http://schemas.openxmlformats.org/drawingml/2006/main">
            <a:r>
              <a:t>- Invite a short continuous explanation while students point to the visible evidence; the slide is a prompt, not a script to read aloud.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https://cad.onshape.com/help/Content/Document/documents.htm</a:t>
            </a:r>
          </a:p>
          <a:p xmlns:a="http://schemas.openxmlformats.org/drawingml/2006/main">
            <a:r>
              <a:t>- https://cad.onshape.com/help/Content/Document/versions_and_history.htm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talking points — Onshape Product Drawing, slide 8</a:t>
            </a:r>
          </a:p>
          <a:p xmlns:a="http://schemas.openxmlformats.org/drawingml/2006/main">
            <a:r>
              <a:t>- Students identify the strongest Onshape evidence worth saving.</a:t>
            </a:r>
          </a:p>
          <a:p xmlns:a="http://schemas.openxmlformats.org/drawingml/2006/main">
            <a:r>
              <a:t>- No local file name, export type or submission process is prescribed.</a:t>
            </a:r>
          </a:p>
          <a:p xmlns:a="http://schemas.openxmlformats.org/drawingml/2006/main">
            <a:r>
              <a:t>- Ask students which single evidence item is worth saving and why.</a:t>
            </a:r>
          </a:p>
          <a:p xmlns:a="http://schemas.openxmlformats.org/drawingml/2006/main">
            <a:r>
              <a:t>- Invite a short continuous explanation while students point to the visible evidence; the slide is a prompt, not a script to read aloud.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https://cad.onshape.com/help/Content/Drawing/drawing_basics.htm</a:t>
            </a:r>
          </a:p>
          <a:p xmlns:a="http://schemas.openxmlformats.org/drawingml/2006/main">
            <a:r>
              <a:t>- https://cad.onshape.com/help/Content/Document/versions_and_history.htm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63d83e15794d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5e8446a2aa4722" /><Relationship Type="http://schemas.openxmlformats.org/officeDocument/2006/relationships/slideLayout" Target="/ppt/slideLayouts/slideLayout1.xml" Id="R2599007c02374d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99007c02374d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110b8176f4b4d" /><Relationship Type="http://schemas.openxmlformats.org/officeDocument/2006/relationships/image" Target="/ppt/media/image.jpeg" Id="Raeff9752b1ec45c8" /><Relationship Type="http://schemas.openxmlformats.org/officeDocument/2006/relationships/notesSlide" Target="/ppt/notesSlides/notesSlide1.xml" Id="Re0ac9a048ce34d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e4b22072f4fda" /><Relationship Type="http://schemas.openxmlformats.org/officeDocument/2006/relationships/notesSlide" Target="/ppt/notesSlides/notesSlide2.xml" Id="R4a608d80472d48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8a60a4fc14873" /><Relationship Type="http://schemas.openxmlformats.org/officeDocument/2006/relationships/image" Target="/ppt/media/image2.jpeg" Id="Rd2f1c4a97fe74952" /><Relationship Type="http://schemas.openxmlformats.org/officeDocument/2006/relationships/notesSlide" Target="/ppt/notesSlides/notesSlide3.xml" Id="Rf395136c16c84d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f293acfad4a03" /><Relationship Type="http://schemas.openxmlformats.org/officeDocument/2006/relationships/image" Target="/ppt/media/image3.jpeg" Id="R9204c88e04b24868" /><Relationship Type="http://schemas.openxmlformats.org/officeDocument/2006/relationships/notesSlide" Target="/ppt/notesSlides/notesSlide4.xml" Id="R310db9c255be4b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a910c076546dd" /><Relationship Type="http://schemas.openxmlformats.org/officeDocument/2006/relationships/image" Target="/ppt/media/image4.jpeg" Id="Re3ba04ff87ad4557" /><Relationship Type="http://schemas.openxmlformats.org/officeDocument/2006/relationships/notesSlide" Target="/ppt/notesSlides/notesSlide5.xml" Id="R61a5a5124c0345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e4d9d7da94e85" /><Relationship Type="http://schemas.openxmlformats.org/officeDocument/2006/relationships/notesSlide" Target="/ppt/notesSlides/notesSlide6.xml" Id="Rb7ff12b4aa124e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d939eece74ac0" /><Relationship Type="http://schemas.openxmlformats.org/officeDocument/2006/relationships/notesSlide" Target="/ppt/notesSlides/notesSlide7.xml" Id="R37cb0cef04cf42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49330c51d4139" /><Relationship Type="http://schemas.openxmlformats.org/officeDocument/2006/relationships/notesSlide" Target="/ppt/notesSlides/notesSlide8.xml" Id="Rbd3dc1210a484c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f9752b1ec45c8"/>
          <a:srcRect xmlns:a="http://schemas.openxmlformats.org/drawingml/2006/main" l="0" t="5040" r="0" b="50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0"/>
            <a:ext cx="53911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2D1D3-5131-4098-AE3D-58BC3235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8BD87-5A16-4910-B535-F89A8BD9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8B2433"/>
                </a:solidFill>
              </a:defRPr>
            </a:pPr>
            <a:r>
              <a:rPr sz="1350" b="1">
                <a:solidFill>
                  <a:srgbClr val="8B2433"/>
                </a:solidFill>
              </a:rPr>
              <a:t>MODULE 2</a:t>
            </a:r>
          </a:p>
        </p:txBody>
      </p:sp>
      <p:sp>
        <p:nvSpPr>
          <p:cNvPr id="4" name="m2-title">
            <a:extLst xmlns:a="http://schemas.openxmlformats.org/drawingml/2006/main">
              <a:ext uri="{FF2B5EF4-FFF2-40B4-BE49-F238E27FC236}">
                <a16:creationId xmlns:a16="http://schemas.microsoft.com/office/drawing/2014/main" id="{44826D32-CFE0-45EB-B220-5C2A6493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5429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3B1118"/>
                </a:solidFill>
              </a:defRPr>
            </a:pPr>
            <a:r>
              <a:rPr sz="4050" b="1">
                <a:solidFill>
                  <a:srgbClr val="3B1118"/>
                </a:solidFill>
              </a:rPr>
              <a:t>Onshape Product Drawing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90589-8CBF-4FF1-9B1C-7AA8B63A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61351-782F-4896-BA96-49B5CD03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533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25171A"/>
                </a:solidFill>
              </a:defRPr>
            </a:pPr>
            <a:r>
              <a:rPr sz="1800">
                <a:solidFill>
                  <a:srgbClr val="25171A"/>
                </a:solidFill>
              </a:rPr>
              <a:t>Build reliable Onshape documents, sketches and features, then produce coordinated drawings, purposeful dimensions, versions and exports.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2A79C-F2E7-4AA7-9479-84989E41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66585B"/>
                </a:solidFill>
              </a:defRPr>
            </a:pPr>
            <a:r>
              <a:rPr sz="1275" b="1">
                <a:solidFill>
                  <a:srgbClr val="66585B"/>
                </a:solidFill>
              </a:rPr>
              <a:t>Read the visuals. Explain the decision. Save the evidence.</a:t>
            </a:r>
          </a:p>
        </p:txBody>
      </p:sp>
    </p:spTree>
    <p:extLst>
      <p:ext uri="{BB962C8B-B14F-4D97-AF65-F5344CB8AC3E}">
        <p14:creationId xmlns:p14="http://schemas.microsoft.com/office/powerpoint/2010/main" val="4848243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7D27C0-E9BE-4E2E-8FEB-E3712BA1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3B1118"/>
                </a:solidFill>
              </a:defRPr>
            </a:pPr>
            <a:r>
              <a:rPr sz="2850" b="1">
                <a:solidFill>
                  <a:srgbClr val="3B1118"/>
                </a:solidFill>
              </a:rPr>
              <a:t>Three ideas build one communication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EE3B7-7BC4-4666-89D8-2AD33963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66585B"/>
                </a:solidFill>
              </a:defRPr>
            </a:pPr>
            <a:r>
              <a:rPr sz="1500">
                <a:solidFill>
                  <a:srgbClr val="66585B"/>
                </a:solidFill>
              </a:rPr>
              <a:t>Keep this sequence in mind: understand the context, make a controlled representation, then justify what the evidence means.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7A84C-B175-4376-9D22-CDEE2B5E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28950"/>
            <a:ext cx="9772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9A5AA-334D-491A-96DC-E9742D76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19375"/>
            <a:ext cx="8001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11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71100-7975-44D0-B262-89AD0ED0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0035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37AED-7410-4D82-ACB4-E8C7A7C3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85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5171A"/>
                </a:solidFill>
              </a:defRPr>
            </a:pPr>
            <a:r>
              <a:rPr sz="1725" b="1">
                <a:solidFill>
                  <a:srgbClr val="25171A"/>
                </a:solidFill>
              </a:rPr>
              <a:t>Documents, sketch planes and constraints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74A2D6-5CF6-4C58-9CA5-AB5DB900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19375"/>
            <a:ext cx="8001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44A83-2BC8-46AD-AFD1-E688ED57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0035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1EF94-2F14-497E-8589-5AAD3FEE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14750"/>
            <a:ext cx="285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5171A"/>
                </a:solidFill>
              </a:defRPr>
            </a:pPr>
            <a:r>
              <a:rPr sz="1725" b="1">
                <a:solidFill>
                  <a:srgbClr val="25171A"/>
                </a:solidFill>
              </a:rPr>
              <a:t>Features, accuracy and design intent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CCAE9-BF6F-4D13-A49E-EC868E1F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19375"/>
            <a:ext cx="8001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11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92EE4-42DC-4D25-BEC1-AE5EF360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0035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2802F-83B8-4365-8891-E858DAE5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285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5171A"/>
                </a:solidFill>
              </a:defRPr>
            </a:pPr>
            <a:r>
              <a:rPr sz="1725" b="1">
                <a:solidFill>
                  <a:srgbClr val="25171A"/>
                </a:solidFill>
              </a:rPr>
              <a:t>Drawings, dimensions, exports and versions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4736F-B77B-409C-91D6-4BC480A5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6735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8B2433"/>
                </a:solidFill>
              </a:defRPr>
            </a:pPr>
            <a:r>
              <a:rPr sz="1500" b="1">
                <a:solidFill>
                  <a:srgbClr val="8B2433"/>
                </a:solidFill>
              </a:rPr>
              <a:t>Retrieval prompt  •  Which idea depends most on the one before it?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0B771E-D1C4-4D9A-83B9-1091BF2F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2D98F-16AF-4DCF-A0D6-60947BD6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585B"/>
                </a:solidFill>
              </a:defRPr>
            </a:pPr>
            <a:r>
              <a:rPr sz="900" b="1">
                <a:solidFill>
                  <a:srgbClr val="66585B"/>
                </a:solidFill>
              </a:rPr>
              <a:t>YEAR 9 GRAPHICS  •  MODULE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FC31C-B407-4E49-81D8-21B7B3D2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B2433"/>
                </a:solidFill>
              </a:defRPr>
            </a:pPr>
            <a:r>
              <a:rPr sz="900" b="1">
                <a:solidFill>
                  <a:srgbClr val="8B243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83573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1c4a97fe74952"/>
          <a:stretch xmlns:a="http://schemas.openxmlformats.org/drawingml/2006/main"/>
        </p:blipFill>
        <p:spPr>
          <a:xfrm xmlns:a="http://schemas.openxmlformats.org/drawingml/2006/main">
            <a:off x="685800" y="1878160"/>
            <a:ext cx="4953000" cy="2834980"/>
          </a:xfrm>
          <a:prstGeom xmlns:a="http://schemas.openxmlformats.org/drawingml/2006/main" prst="round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5C805-322B-4F5F-BF31-0C318BE7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953000" cy="4038600"/>
          </a:xfrm>
          <a:prstGeom xmlns:a="http://schemas.openxmlformats.org/drawingml/2006/main" prst="roundRect">
            <a:avLst>
              <a:gd name="adj" fmla="val 283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D8C9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A4F55-DDA5-4EEB-A1E9-787FDBEC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3B1118"/>
                </a:solidFill>
              </a:defRPr>
            </a:pPr>
            <a:r>
              <a:rPr sz="2700" b="1">
                <a:solidFill>
                  <a:srgbClr val="3B1118"/>
                </a:solidFill>
              </a:rPr>
              <a:t>Good Onshape sketches capture intent, not just shape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A057F-98E4-45A9-ACDF-DF6A33F9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5410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5171A"/>
                </a:solidFill>
              </a:defRPr>
            </a:pPr>
            <a:r>
              <a:rPr sz="1500">
                <a:solidFill>
                  <a:srgbClr val="25171A"/>
                </a:solidFill>
              </a:rPr>
              <a:t>An Onshape document can contain Part Studios, Assemblies and Drawings; tabs are not separate mystery files. Choose a sketch plane because it supports the model's intended orientation and later features. Dimensions control size; geometric constraints control relationships. Read the sketch status and diagnose conflicts instead of memorising screen colours.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F2CD9-A3C7-4089-BB7F-AF0DB963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766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AAF21-E004-42A0-A642-3EFBAC1E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5410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8B2433"/>
                </a:solidFill>
              </a:defRPr>
            </a:pPr>
            <a:r>
              <a:rPr sz="1575" b="1">
                <a:solidFill>
                  <a:srgbClr val="8B2433"/>
                </a:solidFill>
              </a:rPr>
              <a:t>Test → Which relationship should remain true when one authorised dimension changes?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89806-FBD1-4ECE-8CB4-4F45DD28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10150"/>
            <a:ext cx="541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6585B"/>
                </a:solidFill>
              </a:defRPr>
            </a:pPr>
            <a:r>
              <a:rPr sz="1200">
                <a:solidFill>
                  <a:srgbClr val="66585B"/>
                </a:solidFill>
              </a:rPr>
              <a:t>A fully constrained sketch can still express a poor decision; the relationships must serve the design intent.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677BB-BF30-44EC-AAE8-7391A7F4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563154-298F-4C89-B909-F45AE419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585B"/>
                </a:solidFill>
              </a:defRPr>
            </a:pPr>
            <a:r>
              <a:rPr sz="900" b="1">
                <a:solidFill>
                  <a:srgbClr val="66585B"/>
                </a:solidFill>
              </a:rPr>
              <a:t>YEAR 9 GRAPHICS  •  MODULE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35B10-CB3D-41EC-85D2-8A180F2C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B2433"/>
                </a:solidFill>
              </a:defRPr>
            </a:pPr>
            <a:r>
              <a:rPr sz="900" b="1">
                <a:solidFill>
                  <a:srgbClr val="8B243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599498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2CE08-6C63-4607-8A35-BD3BC846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3B1118"/>
                </a:solidFill>
              </a:defRPr>
            </a:pPr>
            <a:r>
              <a:rPr sz="2700" b="1">
                <a:solidFill>
                  <a:srgbClr val="3B1118"/>
                </a:solidFill>
              </a:rPr>
              <a:t>Feature history should tell a robust modelling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23DED-14CA-45FD-850A-35C5371F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200150"/>
            <a:ext cx="9715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C9CC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4c88e04b24868"/>
          <a:srcRect xmlns:a="http://schemas.openxmlformats.org/drawingml/2006/main" l="0" t="37526" r="0" b="375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1238250" y="1200150"/>
            <a:ext cx="9715500" cy="3429000"/>
          </a:xfrm>
          <a:prstGeom xmlns:a="http://schemas.openxmlformats.org/drawingml/2006/main" prst="round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84867-9493-4F2D-8912-60FBE5AA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25171A"/>
                </a:solidFill>
              </a:defRPr>
            </a:pPr>
            <a:r>
              <a:rPr sz="1275">
                <a:solidFill>
                  <a:srgbClr val="25171A"/>
                </a:solidFill>
              </a:rPr>
              <a:t>Each feature depends on earlier geometry. Stable references and deliberate result types help later changes propagate predictably.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FAC19-B7AE-4BB2-9AF6-DF5ED918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00600"/>
            <a:ext cx="3962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8B2433"/>
                </a:solidFill>
              </a:defRPr>
            </a:pPr>
            <a:r>
              <a:rPr sz="1425" b="1">
                <a:solidFill>
                  <a:srgbClr val="8B2433"/>
                </a:solidFill>
              </a:rPr>
              <a:t>Trace → Which feature breaks if an early sketch or reference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AB485-2808-473D-9A92-2385179C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66585B"/>
                </a:solidFill>
              </a:defRPr>
            </a:pPr>
            <a:r>
              <a:rPr sz="1050">
                <a:solidFill>
                  <a:srgbClr val="66585B"/>
                </a:solidFill>
              </a:rPr>
              <a:t>Use the Feature list to read cause and effect: sketch, feature, then revision.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2ACF6-67B1-41F8-81F5-CAB39DFC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01E57-72FF-49EB-8C25-B0FA2A29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585B"/>
                </a:solidFill>
              </a:defRPr>
            </a:pPr>
            <a:r>
              <a:rPr sz="900" b="1">
                <a:solidFill>
                  <a:srgbClr val="66585B"/>
                </a:solidFill>
              </a:rPr>
              <a:t>YEAR 9 GRAPHICS  •  MODULE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C9394-69A6-454C-9A33-7A565C50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B2433"/>
                </a:solidFill>
              </a:defRPr>
            </a:pPr>
            <a:r>
              <a:rPr sz="900" b="1">
                <a:solidFill>
                  <a:srgbClr val="8B243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735890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B17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a04ff87ad4557"/>
          <a:srcRect xmlns:a="http://schemas.openxmlformats.org/drawingml/2006/main" l="0" t="30078" r="0" b="300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3238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3EF01-04FE-47A6-8727-642716F9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28950"/>
            <a:ext cx="121920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7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EDAB9-DF12-42DD-BFE2-BEDC2C1F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 model becomes evidence when the drawing and handoff are controlled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71B85-B174-4BE1-BDC2-5CE9BF60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68389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F7EDEF"/>
                </a:solidFill>
              </a:defRPr>
            </a:pPr>
            <a:r>
              <a:rPr sz="1425">
                <a:solidFill>
                  <a:srgbClr val="F7EDEF"/>
                </a:solidFill>
              </a:rPr>
              <a:t>Create drawing views from the intended model state, then add only dimensions that help the reader identify size, location or relationships. Cross-check views after model changes. A workspace is live work; a named version records a milestone. Export a suitable copy for the destination without replacing the editable Onshape source.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E9D98-D0AB-4FF4-8E6B-CE1C8B69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14800"/>
            <a:ext cx="3543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D8DF"/>
                </a:solidFill>
              </a:defRPr>
            </a:pPr>
            <a:r>
              <a:rPr sz="1575" b="1">
                <a:solidFill>
                  <a:srgbClr val="FFD8DF"/>
                </a:solidFill>
              </a:rPr>
              <a:t>Release-check → What changed, which views need checking, and which version should be handed off?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1B9E3-F723-4AA3-9C0E-337600ED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467350"/>
            <a:ext cx="3543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D7C9CC"/>
                </a:solidFill>
              </a:defRPr>
            </a:pPr>
            <a:r>
              <a:rPr sz="1200">
                <a:solidFill>
                  <a:srgbClr val="D7C9CC"/>
                </a:solidFill>
              </a:rPr>
              <a:t>Onshape remains the source of truth. An export is a purpose-built snapshot.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22C0B-0D7A-4E19-B26D-AAA35AE7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0CB11-6888-4506-B280-12E9E41F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585B"/>
                </a:solidFill>
              </a:defRPr>
            </a:pPr>
            <a:r>
              <a:rPr sz="900" b="1">
                <a:solidFill>
                  <a:srgbClr val="66585B"/>
                </a:solidFill>
              </a:rPr>
              <a:t>YEAR 9 GRAPHICS  •  MODULE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427DE-CF37-42E6-A2CA-06FF64E0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B2433"/>
                </a:solidFill>
              </a:defRPr>
            </a:pPr>
            <a:r>
              <a:rPr sz="900" b="1">
                <a:solidFill>
                  <a:srgbClr val="8B243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502884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3B11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94345-76F1-47B2-B4A4-966C43BD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Retrieve before you look 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F1823-D8BF-4BAA-9626-1905A7FE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F1D8DE"/>
                </a:solidFill>
              </a:defRPr>
            </a:pPr>
            <a:r>
              <a:rPr sz="1500">
                <a:solidFill>
                  <a:srgbClr val="F1D8DE"/>
                </a:solidFill>
              </a:rPr>
              <a:t>Answer in a phrase first. Then add the because.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89A7F-1F5D-43AE-B692-5918EE7A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4A9B8"/>
                </a:solidFill>
              </a:defRPr>
            </a:pPr>
            <a:r>
              <a:rPr sz="1800" b="1">
                <a:solidFill>
                  <a:srgbClr val="F4A9B8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E30B3-1B07-444D-A0BA-6C3A70A8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81200"/>
            <a:ext cx="902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FFFFFF"/>
                </a:solidFill>
              </a:defRPr>
            </a:pPr>
            <a:r>
              <a:rPr sz="1725">
                <a:solidFill>
                  <a:srgbClr val="FFFFFF"/>
                </a:solidFill>
              </a:rPr>
              <a:t>Why choose a sketch plane before drawing geometry?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AF104-994F-4204-B2B5-06F97189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4A9B8"/>
                </a:solidFill>
              </a:defRPr>
            </a:pPr>
            <a:r>
              <a:rPr sz="1800" b="1">
                <a:solidFill>
                  <a:srgbClr val="F4A9B8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2B55E-4C7D-47D3-8986-2EBEB4CE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57500"/>
            <a:ext cx="902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FFFFFF"/>
                </a:solidFill>
              </a:defRPr>
            </a:pPr>
            <a:r>
              <a:rPr sz="1725">
                <a:solidFill>
                  <a:srgbClr val="FFFFFF"/>
                </a:solidFill>
              </a:rPr>
              <a:t>How do constraints differ from dimensions?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E365B-3A0C-4623-97AE-BBF7A9A0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4A9B8"/>
                </a:solidFill>
              </a:defRPr>
            </a:pPr>
            <a:r>
              <a:rPr sz="1800" b="1">
                <a:solidFill>
                  <a:srgbClr val="F4A9B8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91D6A-A94E-4B54-BC9A-467BDB39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33800"/>
            <a:ext cx="902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FFFFFF"/>
                </a:solidFill>
              </a:defRPr>
            </a:pPr>
            <a:r>
              <a:rPr sz="1725">
                <a:solidFill>
                  <a:srgbClr val="FFFFFF"/>
                </a:solidFill>
              </a:rPr>
              <a:t>Why can a fragile reference cause later features to fail?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3B130-C2A4-44B8-9347-CD7E4DA5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4A9B8"/>
                </a:solidFill>
              </a:defRPr>
            </a:pPr>
            <a:r>
              <a:rPr sz="1800" b="1">
                <a:solidFill>
                  <a:srgbClr val="F4A9B8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8C952-B25D-4789-A68E-DEE0A6A4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10100"/>
            <a:ext cx="902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FFFFFF"/>
                </a:solidFill>
              </a:defRPr>
            </a:pPr>
            <a:r>
              <a:rPr sz="1725">
                <a:solidFill>
                  <a:srgbClr val="FFFFFF"/>
                </a:solidFill>
              </a:rPr>
              <a:t>What must be checked before exporting an Onshape drawing?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C7A05-95D8-4CD6-93A6-CD34BA79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676900"/>
            <a:ext cx="902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4A9B8"/>
                </a:solidFill>
              </a:defRPr>
            </a:pPr>
            <a:r>
              <a:rPr sz="1350" b="1">
                <a:solidFill>
                  <a:srgbClr val="F4A9B8"/>
                </a:solidFill>
              </a:rPr>
              <a:t>Check: can your partner point to the slide evidence that supports the answer?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2EAAE-A1BA-4A50-912B-59C1AF4E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DAF4A-549B-45FC-9AB2-9C878B52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585B"/>
                </a:solidFill>
              </a:defRPr>
            </a:pPr>
            <a:r>
              <a:rPr sz="900" b="1">
                <a:solidFill>
                  <a:srgbClr val="66585B"/>
                </a:solidFill>
              </a:rPr>
              <a:t>YEAR 9 GRAPHICS  •  MODULE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14E99-ED01-4075-88D5-D30D2E0C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B2433"/>
                </a:solidFill>
              </a:defRPr>
            </a:pPr>
            <a:r>
              <a:rPr sz="900" b="1">
                <a:solidFill>
                  <a:srgbClr val="8B243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835193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FB7B38-EFB2-4E85-9114-DECBDDB5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3B1118"/>
                </a:solidFill>
              </a:defRPr>
            </a:pPr>
            <a:r>
              <a:rPr sz="2850" b="1">
                <a:solidFill>
                  <a:srgbClr val="3B1118"/>
                </a:solidFill>
              </a:rPr>
              <a:t>Build evidence: Read → Select → Explain →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A53B5-AB43-4A63-8411-73454640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3241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CFAF8"/>
          </a:solidFill>
          <a:ln xmlns:a="http://schemas.openxmlformats.org/drawingml/2006/main" w="19050">
            <a:solidFill>
              <a:srgbClr val="D8C9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0744E-EFE5-40B8-A7E8-DEDC66C4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8B2433"/>
                </a:solidFill>
              </a:defRPr>
            </a:pPr>
            <a:r>
              <a:rPr sz="1350" b="1">
                <a:solidFill>
                  <a:srgbClr val="8B2433"/>
                </a:solidFill>
              </a:rPr>
              <a:t>READ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F471D-67C8-4FE4-A34D-425688EF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5171A"/>
                </a:solidFill>
              </a:defRPr>
            </a:pPr>
            <a:r>
              <a:rPr sz="1425">
                <a:solidFill>
                  <a:srgbClr val="25171A"/>
                </a:solidFill>
              </a:rPr>
              <a:t>Name the intended relationship or handoff.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2EDB5-E00F-4087-B3D3-2F8E82FE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362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8B2433"/>
                </a:solidFill>
              </a:defRPr>
            </a:pPr>
            <a:r>
              <a:rPr sz="2250" b="1">
                <a:solidFill>
                  <a:srgbClr val="8B2433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26945-D736-48F2-B39E-733402EE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52600"/>
            <a:ext cx="23241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CFAF8"/>
          </a:solidFill>
          <a:ln xmlns:a="http://schemas.openxmlformats.org/drawingml/2006/main" w="19050">
            <a:solidFill>
              <a:srgbClr val="D8C9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09B6D8-E0D1-4F5A-85AD-AC07AC5F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00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8B2433"/>
                </a:solidFill>
              </a:defRPr>
            </a:pPr>
            <a:r>
              <a:rPr sz="1350" b="1">
                <a:solidFill>
                  <a:srgbClr val="8B2433"/>
                </a:solidFill>
              </a:rPr>
              <a:t>SELECT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9F120-BB7B-4663-87B5-AB8ABE9C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5745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5171A"/>
                </a:solidFill>
              </a:defRPr>
            </a:pPr>
            <a:r>
              <a:rPr sz="1425">
                <a:solidFill>
                  <a:srgbClr val="25171A"/>
                </a:solidFill>
              </a:rPr>
              <a:t>Choose one sketch, feature or 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D421C-1836-4F29-A52B-DF2BE6F5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362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8B2433"/>
                </a:solidFill>
              </a:defRPr>
            </a:pPr>
            <a:r>
              <a:rPr sz="2250" b="1">
                <a:solidFill>
                  <a:srgbClr val="8B2433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277FC-1F9C-43EB-B987-8BF62601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52600"/>
            <a:ext cx="23241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BEAEC"/>
          </a:solidFill>
          <a:ln xmlns:a="http://schemas.openxmlformats.org/drawingml/2006/main" w="19050">
            <a:solidFill>
              <a:srgbClr val="8B24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6C5158-6563-4785-9AB8-6F83B764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0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8B2433"/>
                </a:solidFill>
              </a:defRPr>
            </a:pPr>
            <a:r>
              <a:rPr sz="1350" b="1">
                <a:solidFill>
                  <a:srgbClr val="8B2433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7ADEF-90C1-4BF3-B06C-8DE92242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5745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5171A"/>
                </a:solidFill>
              </a:defRPr>
            </a:pPr>
            <a:r>
              <a:rPr sz="1425">
                <a:solidFill>
                  <a:srgbClr val="25171A"/>
                </a:solidFill>
              </a:rPr>
              <a:t>State how it preserves design intent.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05246-9A9E-4D2F-817E-0E59BD52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362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8B2433"/>
                </a:solidFill>
              </a:defRPr>
            </a:pPr>
            <a:r>
              <a:rPr sz="2250" b="1">
                <a:solidFill>
                  <a:srgbClr val="8B2433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A642BE-A821-4364-BE86-34882E04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52600"/>
            <a:ext cx="23241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CFAF8"/>
          </a:solidFill>
          <a:ln xmlns:a="http://schemas.openxmlformats.org/drawingml/2006/main" w="19050">
            <a:solidFill>
              <a:srgbClr val="D8C9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D5553-54B3-4429-9474-49FB0AA9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8B2433"/>
                </a:solidFill>
              </a:defRPr>
            </a:pPr>
            <a:r>
              <a:rPr sz="1350" b="1">
                <a:solidFill>
                  <a:srgbClr val="8B2433"/>
                </a:solidFill>
              </a:rPr>
              <a:t>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340C1-B7FD-4C8E-B631-6A5A99EF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5745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5171A"/>
                </a:solidFill>
              </a:defRPr>
            </a:pPr>
            <a:r>
              <a:rPr sz="1425">
                <a:solidFill>
                  <a:srgbClr val="25171A"/>
                </a:solidFill>
              </a:rPr>
              <a:t>Change one authorised value and recheck.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41119-2EF4-4547-97BD-EDA80452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14800"/>
            <a:ext cx="96774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3B11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DB1911-D082-4B49-B237-1BCC2586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43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4A9B8"/>
                </a:solidFill>
              </a:defRPr>
            </a:pPr>
            <a:r>
              <a:rPr sz="1350" b="1">
                <a:solidFill>
                  <a:srgbClr val="F4A9B8"/>
                </a:solidFill>
              </a:rPr>
              <a:t>Sentence support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A536FD-B912-41E6-A3E4-8AC01653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244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The Onshape relationship I tested was ___. When ___ changed, ___ should update because ___. The drawing or version evidence shows ___.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0F4CC6-081B-4106-846F-17D6BA51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E2FA12-04DD-45D9-80CE-3E6AEE77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585B"/>
                </a:solidFill>
              </a:defRPr>
            </a:pPr>
            <a:r>
              <a:rPr sz="900" b="1">
                <a:solidFill>
                  <a:srgbClr val="66585B"/>
                </a:solidFill>
              </a:rPr>
              <a:t>YEAR 9 GRAPHICS  •  MODULE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F42FEA-41B5-43E5-BD5F-67CFE574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B2433"/>
                </a:solidFill>
              </a:defRPr>
            </a:pPr>
            <a:r>
              <a:rPr sz="900" b="1">
                <a:solidFill>
                  <a:srgbClr val="8B243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732891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EA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BA005-E0A2-483B-9C26-F50D269E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781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F3719-42A8-4163-B7C4-7F15BABF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D8DF"/>
                </a:solidFill>
              </a:defRPr>
            </a:pPr>
            <a:r>
              <a:rPr sz="1275" b="1">
                <a:solidFill>
                  <a:srgbClr val="FFD8DF"/>
                </a:solidFill>
              </a:rPr>
              <a:t>MODULE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5495B-C333-44DE-B935-95B1DF82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885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1080E-46F6-4DD4-8034-3E3E7909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0030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05142-8BFE-4AA7-BDB2-B80C0AD8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971550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B1118"/>
                </a:solidFill>
              </a:defRPr>
            </a:pPr>
            <a:r>
              <a:rPr sz="1950" b="1">
                <a:solidFill>
                  <a:srgbClr val="3B1118"/>
                </a:solidFill>
              </a:rPr>
              <a:t>1  One Onshape relationship I can now 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D5B50-AA24-421C-83A7-8E508589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478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B1118"/>
                </a:solidFill>
              </a:defRPr>
            </a:pPr>
            <a:r>
              <a:rPr sz="1950" b="1">
                <a:solidFill>
                  <a:srgbClr val="3B1118"/>
                </a:solidFill>
              </a:rPr>
              <a:t>2  One model-to-drawing check I can demonstrate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3FFB5-13EA-4FB9-A443-663B4056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7655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B1118"/>
                </a:solidFill>
              </a:defRPr>
            </a:pPr>
            <a:r>
              <a:rPr sz="1950" b="1">
                <a:solidFill>
                  <a:srgbClr val="3B1118"/>
                </a:solidFill>
              </a:rPr>
              <a:t>3  One handoff claim I must keep within the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A26C4-A5A8-431D-9728-F60A1C70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00500"/>
            <a:ext cx="75057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C9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BEFCE-2F0B-4C4F-9954-6E9ED564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48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8B2433"/>
                </a:solidFill>
              </a:defRPr>
            </a:pPr>
            <a:r>
              <a:rPr sz="1350" b="1">
                <a:solidFill>
                  <a:srgbClr val="8B2433"/>
                </a:solidFill>
              </a:rPr>
              <a:t>SAVE TO MY FOLIO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70B3D-1C09-4C7E-9CA8-E954A41C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667250"/>
            <a:ext cx="680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5171A"/>
                </a:solidFill>
              </a:defRPr>
            </a:pPr>
            <a:r>
              <a:rPr sz="1500">
                <a:solidFill>
                  <a:srgbClr val="25171A"/>
                </a:solidFill>
              </a:rPr>
              <a:t>One dated Onshape screenshot or exported drawing; a caption identifying the relationship or change; and a short version note.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F8002-88FF-47B7-AC83-E0C513C6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791200"/>
            <a:ext cx="7505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6585B"/>
                </a:solidFill>
              </a:defRPr>
            </a:pPr>
            <a:r>
              <a:rPr sz="1350" b="1">
                <a:solidFill>
                  <a:srgbClr val="66585B"/>
                </a:solidFill>
              </a:rPr>
              <a:t>Next: open the matching section package for feedback, then save the stronger response—not every draft.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A281A-399D-426B-A922-627C2A9E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01553-1606-4880-8D96-E3DE1D12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585B"/>
                </a:solidFill>
              </a:defRPr>
            </a:pPr>
            <a:r>
              <a:rPr sz="900" b="1">
                <a:solidFill>
                  <a:srgbClr val="66585B"/>
                </a:solidFill>
              </a:rPr>
              <a:t>YEAR 9 GRAPHICS  •  MODULE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885A6-9897-4CAE-8795-1BE70794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B2433"/>
                </a:solidFill>
              </a:defRPr>
            </a:pPr>
            <a:r>
              <a:rPr sz="900" b="1">
                <a:solidFill>
                  <a:srgbClr val="8B243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693876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2026-08-31T02:46:23.4110000Z</dcterms:created>
  <dcterms:modified xsi:type="dcterms:W3CDTF">2026-08-31T02:46:23.4110000Z</dcterms:modified>
</coreProperties>
</file>