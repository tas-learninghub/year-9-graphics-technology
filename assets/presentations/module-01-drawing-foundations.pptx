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50f0a7ab0d4214" /><Relationship Type="http://schemas.openxmlformats.org/officeDocument/2006/relationships/extended-properties" Target="/docProps/app.xml" Id="R902337c576524b47" /><Relationship Type="http://schemas.openxmlformats.org/officeDocument/2006/relationships/officeDocument" Target="/ppt/presentation.xml" Id="Re037a83aead24c7f" /></Relationships>
</file>

<file path=ppt/presentation.xml><?xml version="1.0" encoding="utf-8"?>
<p:presentation xmlns:p="http://schemas.openxmlformats.org/presentationml/2006/main">
  <p:sldMasterIdLst>
    <p:sldMasterId xmlns:r="http://schemas.openxmlformats.org/officeDocument/2006/relationships" id="2147483648" r:id="R43459a533fe54f39"/>
  </p:sldMasterIdLst>
  <p:notesMasterIdLst>
    <p:notesMasterId xmlns:r="http://schemas.openxmlformats.org/officeDocument/2006/relationships" r:id="Rd56ad892d4114935"/>
  </p:notesMasterIdLst>
  <p:sldIdLst>
    <p:sldId xmlns:r="http://schemas.openxmlformats.org/officeDocument/2006/relationships" id="256" r:id="R04c3ac381bd14163"/>
    <p:sldId xmlns:r="http://schemas.openxmlformats.org/officeDocument/2006/relationships" id="257" r:id="R3c399f21610b4ba7"/>
    <p:sldId xmlns:r="http://schemas.openxmlformats.org/officeDocument/2006/relationships" id="258" r:id="Rd70b6f7ca85d4204"/>
    <p:sldId xmlns:r="http://schemas.openxmlformats.org/officeDocument/2006/relationships" id="259" r:id="R046cab195f0543ac"/>
    <p:sldId xmlns:r="http://schemas.openxmlformats.org/officeDocument/2006/relationships" id="260" r:id="R866d7f64f59548f8"/>
    <p:sldId xmlns:r="http://schemas.openxmlformats.org/officeDocument/2006/relationships" id="261" r:id="R24fe94307c514c6e"/>
    <p:sldId xmlns:r="http://schemas.openxmlformats.org/officeDocument/2006/relationships" id="262" r:id="R7c2f775d40654f96"/>
    <p:sldId xmlns:r="http://schemas.openxmlformats.org/officeDocument/2006/relationships" id="263" r:id="R38e0674cd45045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8f756b9db747dd" /><Relationship Type="http://schemas.openxmlformats.org/officeDocument/2006/relationships/slideMaster" Target="/ppt/slideMasters/slideMaster1.xml" Id="R43459a533fe54f39" /><Relationship Type="http://schemas.openxmlformats.org/officeDocument/2006/relationships/notesMaster" Target="/ppt/notesMasters/notesMaster1.xml" Id="Rd56ad892d4114935" /><Relationship Type="http://schemas.openxmlformats.org/officeDocument/2006/relationships/presProps" Target="/ppt/presProps.xml" Id="Rcf8e57c77a41475e" /><Relationship Type="http://schemas.openxmlformats.org/officeDocument/2006/relationships/tableStyles" Target="/ppt/tableStyles.xml" Id="R542be44c3aeb4557" /><Relationship Type="http://schemas.openxmlformats.org/officeDocument/2006/relationships/slide" Target="/ppt/slides/slide1.xml" Id="R04c3ac381bd14163" /><Relationship Type="http://schemas.openxmlformats.org/officeDocument/2006/relationships/slide" Target="/ppt/slides/slide2.xml" Id="R3c399f21610b4ba7" /><Relationship Type="http://schemas.openxmlformats.org/officeDocument/2006/relationships/slide" Target="/ppt/slides/slide3.xml" Id="Rd70b6f7ca85d4204" /><Relationship Type="http://schemas.openxmlformats.org/officeDocument/2006/relationships/slide" Target="/ppt/slides/slide4.xml" Id="R046cab195f0543ac" /><Relationship Type="http://schemas.openxmlformats.org/officeDocument/2006/relationships/slide" Target="/ppt/slides/slide5.xml" Id="R866d7f64f59548f8" /><Relationship Type="http://schemas.openxmlformats.org/officeDocument/2006/relationships/slide" Target="/ppt/slides/slide6.xml" Id="R24fe94307c514c6e" /><Relationship Type="http://schemas.openxmlformats.org/officeDocument/2006/relationships/slide" Target="/ppt/slides/slide7.xml" Id="R7c2f775d40654f96" /><Relationship Type="http://schemas.openxmlformats.org/officeDocument/2006/relationships/slide" Target="/ppt/slides/slide8.xml" Id="R38e0674cd45045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0cca95703b4e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28735ba9b446dd" /><Relationship Type="http://schemas.openxmlformats.org/officeDocument/2006/relationships/notesMaster" Target="/ppt/notesMasters/notesMaster1.xml" Id="Reae5c9e28ec342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b361a6c71c4258" /><Relationship Type="http://schemas.openxmlformats.org/officeDocument/2006/relationships/notesMaster" Target="/ppt/notesMasters/notesMaster1.xml" Id="Ra369adcc94fc44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a01404008e46c8" /><Relationship Type="http://schemas.openxmlformats.org/officeDocument/2006/relationships/notesMaster" Target="/ppt/notesMasters/notesMaster1.xml" Id="R315ad7d638954a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4d739ea7c24f81" /><Relationship Type="http://schemas.openxmlformats.org/officeDocument/2006/relationships/notesMaster" Target="/ppt/notesMasters/notesMaster1.xml" Id="R6035c01ca8fa4d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e8e077c4794b34" /><Relationship Type="http://schemas.openxmlformats.org/officeDocument/2006/relationships/notesMaster" Target="/ppt/notesMasters/notesMaster1.xml" Id="R2fba9dce66ea42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8f5c5f90204034" /><Relationship Type="http://schemas.openxmlformats.org/officeDocument/2006/relationships/notesMaster" Target="/ppt/notesMasters/notesMaster1.xml" Id="R1f47a418f8b249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b63a253ce241f2" /><Relationship Type="http://schemas.openxmlformats.org/officeDocument/2006/relationships/notesMaster" Target="/ppt/notesMasters/notesMaster1.xml" Id="Ra174fcaafd0047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b058a801f94b8c" /><Relationship Type="http://schemas.openxmlformats.org/officeDocument/2006/relationships/notesMaster" Target="/ppt/notesMasters/notesMaster1.xml" Id="Ref17507584a145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Drawing Foundations and Visual Communication, slide 1</a:t>
            </a:r>
          </a:p>
          <a:p xmlns:a="http://schemas.openxmlformats.org/drawingml/2006/main">
            <a:r>
              <a:t>- Frame the module as communication, not drawing decoration.</a:t>
            </a:r>
          </a:p>
          <a:p xmlns:a="http://schemas.openxmlformats.org/drawingml/2006/main">
            <a:r>
              <a:t>- Keep all local WHS procedures with the teacher's current authorised instruction.</a:t>
            </a:r>
          </a:p>
          <a:p xmlns:a="http://schemas.openxmlformats.org/drawingml/2006/main">
            <a:r>
              <a:t>- Ask: What communication job will Drawing Foundations and Visual Communication help us complete?</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https://curriculum.nsw.edu.au/learning-areas/tas/communication-technology-7-10-2025/content/stage-5/faedaf189a</a:t>
            </a:r>
          </a:p>
          <a:p xmlns:a="http://schemas.openxmlformats.org/drawingml/2006/main">
            <a:r>
              <a:t>- https://curriculum.nsw.edu.au/learning-areas/tas/communication-technology-7-10-2025/content/stage-5/fa63ae38e0</a:t>
            </a:r>
          </a:p>
          <a:p xmlns:a="http://schemas.openxmlformats.org/drawingml/2006/main">
            <a:r>
              <a:t>- Course visual: assets/images/m01s01-safe-workspace.jpg — AI-generated teaching visual; provenance recorded in the module visual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Drawing Foundations and Visual Communication, slide 2</a:t>
            </a:r>
          </a:p>
          <a:p xmlns:a="http://schemas.openxmlformats.org/drawingml/2006/main">
            <a:r>
              <a:t>- Preview the three section packages and ask students which idea depends on the previous one.</a:t>
            </a:r>
          </a:p>
          <a:p xmlns:a="http://schemas.openxmlformats.org/drawingml/2006/main">
            <a:r>
              <a:t>- Make the progression explicit: risk-aware practice, controlled representation, then coordinated views.</a:t>
            </a:r>
          </a:p>
          <a:p xmlns:a="http://schemas.openxmlformats.org/drawingml/2006/main">
            <a:r>
              <a:t>- Ask: Which idea depends most on the one before it?</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https://curriculum.nsw.edu.au/learning-areas/tas/communication-technology-7-10-2025/content/stage-5/faedaf189a</a:t>
            </a:r>
          </a:p>
          <a:p xmlns:a="http://schemas.openxmlformats.org/drawingml/2006/main">
            <a:r>
              <a:t>- https://curriculum.nsw.edu.au/learning-areas/tas/communication-technology-7-10-2025/content/stage-5/fa63ae38e0</a:t>
            </a:r>
          </a:p>
          <a:p xmlns:a="http://schemas.openxmlformats.org/drawingml/2006/main">
            <a:r>
              <a:t>- https://curriculum.nsw.edu.au/learning-areas/tas/communication-technology-7-10-2025/content/stage-5/fa698bf5c2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Drawing Foundations and Visual Communication, slide 3</a:t>
            </a:r>
          </a:p>
          <a:p xmlns:a="http://schemas.openxmlformats.org/drawingml/2006/main">
            <a:r>
              <a:t>- Ask students to identify the communication job of each line before naming it.</a:t>
            </a:r>
          </a:p>
          <a:p xmlns:a="http://schemas.openxmlformats.org/drawingml/2006/main">
            <a:r>
              <a:t>- Distinguish an observable convention from an unsupported standards-compliance claim.</a:t>
            </a:r>
          </a:p>
          <a:p xmlns:a="http://schemas.openxmlformats.org/drawingml/2006/main">
            <a:r>
              <a:t>- Notice → Which line communicates the object, which line builds it, and what local instruction must still be checked?</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https://curriculum.nsw.edu.au/learning-areas/tas/communication-technology-7-10-2025/content/stage-5/faedaf189a</a:t>
            </a:r>
          </a:p>
          <a:p xmlns:a="http://schemas.openxmlformats.org/drawingml/2006/main">
            <a:r>
              <a:t>- https://curriculum.nsw.edu.au/learning-areas/tas/communication-technology-7-10-2025/content/stage-5/fa63ae38e0</a:t>
            </a:r>
          </a:p>
          <a:p xmlns:a="http://schemas.openxmlformats.org/drawingml/2006/main">
            <a:r>
              <a:t>- Course visual: assets/images/m01s01-line-language.jpg — AI-generated teaching visual; provenance recorded in the module visual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Drawing Foundations and Visual Communication, slide 4</a:t>
            </a:r>
          </a:p>
          <a:p xmlns:a="http://schemas.openxmlformats.org/drawingml/2006/main">
            <a:r>
              <a:t>- Move from divergent thumbnails to one controlled construction and rendered explanation.</a:t>
            </a:r>
          </a:p>
          <a:p xmlns:a="http://schemas.openxmlformats.org/drawingml/2006/main">
            <a:r>
              <a:t>- Ask what the light direction predicts on every surface.</a:t>
            </a:r>
          </a:p>
          <a:p xmlns:a="http://schemas.openxmlformats.org/drawingml/2006/main">
            <a:r>
              <a:t>- Compare → Which stage changes the idea, and which stage makes the chosen form easier to read?</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https://curriculum.nsw.edu.au/learning-areas/tas/communication-technology-7-10-2025/content/stage-5/fa63ae38e0</a:t>
            </a:r>
          </a:p>
          <a:p xmlns:a="http://schemas.openxmlformats.org/drawingml/2006/main">
            <a:r>
              <a:t>- https://curriculum.nsw.edu.au/learning-areas/tas/communication-technology-7-10-2025/content/stage-5/fa698bf5c2</a:t>
            </a:r>
          </a:p>
          <a:p xmlns:a="http://schemas.openxmlformats.org/drawingml/2006/main">
            <a:r>
              <a:t>- Course visual: assets/images/m01s02-idea-to-render.jpg — AI-generated teaching visual; provenance recorded in the module visual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Drawing Foundations and Visual Communication, slide 5</a:t>
            </a:r>
          </a:p>
          <a:p xmlns:a="http://schemas.openxmlformats.org/drawingml/2006/main">
            <a:r>
              <a:t>- Use the visual to show that each view reveals some features and hides others.</a:t>
            </a:r>
          </a:p>
          <a:p xmlns:a="http://schemas.openxmlformats.org/drawingml/2006/main">
            <a:r>
              <a:t>- Do not infer missing dimensions from the image; use only the authorised source.</a:t>
            </a:r>
          </a:p>
          <a:p xmlns:a="http://schemas.openxmlformats.org/drawingml/2006/main">
            <a:r>
              <a:t>- Cross-check → Which additional view removes ambiguity, and which dimensions are purposeful?</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https://curriculum.nsw.edu.au/learning-areas/tas/communication-technology-7-10-2025/content/stage-5/fa63ae38e0</a:t>
            </a:r>
          </a:p>
          <a:p xmlns:a="http://schemas.openxmlformats.org/drawingml/2006/main">
            <a:r>
              <a:t>- https://curriculum.nsw.edu.au/learning-areas/tas/communication-technology-7-10-2025/content/stage-5/fa698bf5c2</a:t>
            </a:r>
          </a:p>
          <a:p xmlns:a="http://schemas.openxmlformats.org/drawingml/2006/main">
            <a:r>
              <a:t>- https://cad.onshape.com/help/Content/Drawing/views.htm</a:t>
            </a:r>
          </a:p>
          <a:p xmlns:a="http://schemas.openxmlformats.org/drawingml/2006/main">
            <a:r>
              <a:t>- https://cad.onshape.com/help/Content/Drawing/drawing_dimensions.htm</a:t>
            </a:r>
          </a:p>
          <a:p xmlns:a="http://schemas.openxmlformats.org/drawingml/2006/main">
            <a:r>
              <a:t>- Course visual: assets/images/m01s03-one-object-many-views.jpg — AI-generated teaching visual; provenance recorded in the module visual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Drawing Foundations and Visual Communication, slide 6</a:t>
            </a:r>
          </a:p>
          <a:p xmlns:a="http://schemas.openxmlformats.org/drawingml/2006/main">
            <a:r>
              <a:t>- Run 60–90 seconds of no-notes retrieval, then pair-check against slides 3–5.</a:t>
            </a:r>
          </a:p>
          <a:p xmlns:a="http://schemas.openxmlformats.org/drawingml/2006/main">
            <a:r>
              <a:t>- Require a because statement, not a one-word answer.</a:t>
            </a:r>
          </a:p>
          <a:p xmlns:a="http://schemas.openxmlformats.org/drawingml/2006/main">
            <a:r>
              <a:t>- Ask students to support each response with evidence from the teaching slides.</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https://curriculum.nsw.edu.au/learning-areas/tas/communication-technology-7-10-2025/content/stage-5/faedaf189a</a:t>
            </a:r>
          </a:p>
          <a:p xmlns:a="http://schemas.openxmlformats.org/drawingml/2006/main">
            <a:r>
              <a:t>- https://curriculum.nsw.edu.au/learning-areas/tas/communication-technology-7-10-2025/content/stage-5/fa63ae38e0</a:t>
            </a:r>
          </a:p>
          <a:p xmlns:a="http://schemas.openxmlformats.org/drawingml/2006/main">
            <a:r>
              <a:t>- https://curriculum.nsw.edu.au/learning-areas/tas/communication-technology-7-10-2025/content/stage-5/fa698bf5c2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Drawing Foundations and Visual Communication, slide 7</a:t>
            </a:r>
          </a:p>
          <a:p xmlns:a="http://schemas.openxmlformats.org/drawingml/2006/main">
            <a:r>
              <a:t>- Students select one real drawing decision and build a claim from visible evidence.</a:t>
            </a:r>
          </a:p>
          <a:p xmlns:a="http://schemas.openxmlformats.org/drawingml/2006/main">
            <a:r>
              <a:t>- Challenge any claim that extends beyond the drawing, current instruction or source.</a:t>
            </a:r>
          </a:p>
          <a:p xmlns:a="http://schemas.openxmlformats.org/drawingml/2006/main">
            <a:r>
              <a:t>- Ask students to read their completed sentence and identify the exact evidence behind it.</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https://curriculum.nsw.edu.au/learning-areas/tas/communication-technology-7-10-2025/content/stage-5/faedaf189a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Drawing Foundations and Visual Communication, slide 8</a:t>
            </a:r>
          </a:p>
          <a:p xmlns:a="http://schemas.openxmlformats.org/drawingml/2006/main">
            <a:r>
              <a:t>- Collect one spoken response from each prompt before students save evidence.</a:t>
            </a:r>
          </a:p>
          <a:p xmlns:a="http://schemas.openxmlformats.org/drawingml/2006/main">
            <a:r>
              <a:t>- This is formative evidence; no formal task, date, weight or submission rule is implied.</a:t>
            </a:r>
          </a:p>
          <a:p xmlns:a="http://schemas.openxmlformats.org/drawingml/2006/main">
            <a:r>
              <a:t>- Ask students which single evidence item is worth saving and why.</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https://curriculum.nsw.edu.au/learning-areas/tas/communication-technology-7-10-2025/content/stage-5/faedaf189a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97bc898d7d44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097c5a7bf84a01" /><Relationship Type="http://schemas.openxmlformats.org/officeDocument/2006/relationships/slideLayout" Target="/ppt/slideLayouts/slideLayout1.xml" Id="R08fdf0ff39a148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fdf0ff39a148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dce2941c02447e" /><Relationship Type="http://schemas.openxmlformats.org/officeDocument/2006/relationships/image" Target="/ppt/media/image.jpeg" Id="Ra7c70012d7a24195" /><Relationship Type="http://schemas.openxmlformats.org/officeDocument/2006/relationships/notesSlide" Target="/ppt/notesSlides/notesSlide1.xml" Id="R96dc609fd3dc44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53eb4fc1c545b0" /><Relationship Type="http://schemas.openxmlformats.org/officeDocument/2006/relationships/notesSlide" Target="/ppt/notesSlides/notesSlide2.xml" Id="R7ef65a2e0fd44f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36fd331ad0491d" /><Relationship Type="http://schemas.openxmlformats.org/officeDocument/2006/relationships/image" Target="/ppt/media/image2.jpeg" Id="R2a9b852f737740ea" /><Relationship Type="http://schemas.openxmlformats.org/officeDocument/2006/relationships/notesSlide" Target="/ppt/notesSlides/notesSlide3.xml" Id="R4f063cdd0ca84b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b063af4a6d43de" /><Relationship Type="http://schemas.openxmlformats.org/officeDocument/2006/relationships/image" Target="/ppt/media/image3.jpeg" Id="Rc68370583193477d" /><Relationship Type="http://schemas.openxmlformats.org/officeDocument/2006/relationships/notesSlide" Target="/ppt/notesSlides/notesSlide4.xml" Id="R1d10bacb903242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eb87c85f8974809" /><Relationship Type="http://schemas.openxmlformats.org/officeDocument/2006/relationships/image" Target="/ppt/media/image4.jpeg" Id="R06b636da356644e6" /><Relationship Type="http://schemas.openxmlformats.org/officeDocument/2006/relationships/notesSlide" Target="/ppt/notesSlides/notesSlide5.xml" Id="R9b3123d5d5c241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1732a2d5fa4b1b" /><Relationship Type="http://schemas.openxmlformats.org/officeDocument/2006/relationships/notesSlide" Target="/ppt/notesSlides/notesSlide6.xml" Id="Rdcaa949dcfb14c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94cd63c32584eb7" /><Relationship Type="http://schemas.openxmlformats.org/officeDocument/2006/relationships/notesSlide" Target="/ppt/notesSlides/notesSlide7.xml" Id="R80fd03ef3a5a48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0022da4b104864" /><Relationship Type="http://schemas.openxmlformats.org/officeDocument/2006/relationships/notesSlide" Target="/ppt/notesSlides/notesSlide8.xml" Id="R60e914f061534281" /></Relationships>
</file>

<file path=ppt/slides/slide1.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7c70012d7a24195"/>
          <a:srcRect xmlns:a="http://schemas.openxmlformats.org/drawingml/2006/main" l="23796" t="0" r="23796" b="0"/>
          <a:stretch xmlns:a="http://schemas.openxmlformats.org/drawingml/2006/main">
            <a:fillRect l="0" t="0" r="0" b="0"/>
          </a:stretch>
        </p:blipFill>
        <p:spPr>
          <a:xfrm xmlns:a="http://schemas.openxmlformats.org/drawingml/2006/main">
            <a:off x="6800850" y="0"/>
            <a:ext cx="53911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919E26C-1A54-46BB-9E6D-0CA3877E4B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0CECE5B-9672-4959-B387-FA4FDCBAD9D1}"/>
              </a:ext>
            </a:extLst>
          </p:cNvPr>
          <p:cNvSpPr>
            <a:spLocks xmlns:a="http://schemas.openxmlformats.org/drawingml/2006/main" noGrp="1"/>
          </p:cNvSpPr>
          <p:nvPr/>
        </p:nvSpPr>
        <p:spPr>
          <a:xfrm xmlns:a="http://schemas.openxmlformats.org/drawingml/2006/main">
            <a:off x="742950" y="8763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MODULE 1</a:t>
            </a:r>
          </a:p>
        </p:txBody>
      </p:sp>
      <p:sp>
        <p:nvSpPr>
          <p:cNvPr id="4" name="m1-title">
            <a:extLst xmlns:a="http://schemas.openxmlformats.org/drawingml/2006/main">
              <a:ext uri="{FF2B5EF4-FFF2-40B4-BE49-F238E27FC236}">
                <a16:creationId xmlns:a16="http://schemas.microsoft.com/office/drawing/2014/main" id="{4666A1E8-2E9E-4FB9-AE32-FF64AFDEE96F}"/>
              </a:ext>
            </a:extLst>
          </p:cNvPr>
          <p:cNvSpPr>
            <a:spLocks xmlns:a="http://schemas.openxmlformats.org/drawingml/2006/main" noGrp="1"/>
          </p:cNvSpPr>
          <p:nvPr/>
        </p:nvSpPr>
        <p:spPr>
          <a:xfrm xmlns:a="http://schemas.openxmlformats.org/drawingml/2006/main">
            <a:off x="742950" y="1485900"/>
            <a:ext cx="5429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050" b="1">
                <a:solidFill>
                  <a:srgbClr val="3B1118"/>
                </a:solidFill>
              </a:defRPr>
            </a:pPr>
            <a:r>
              <a:rPr sz="4050" b="1">
                <a:solidFill>
                  <a:srgbClr val="3B1118"/>
                </a:solidFill>
              </a:rPr>
              <a:t>Drawing Foundations &amp;
Visual Communication</a:t>
            </a:r>
          </a:p>
        </p:txBody>
      </p:sp>
      <p:sp>
        <p:nvSpPr>
          <p:cNvPr id="5" name="">
            <a:extLst xmlns:a="http://schemas.openxmlformats.org/drawingml/2006/main">
              <a:ext uri="{FF2B5EF4-FFF2-40B4-BE49-F238E27FC236}">
                <a16:creationId xmlns:a16="http://schemas.microsoft.com/office/drawing/2014/main" id="{20DC0488-F9D3-4CB8-A497-6EB9BCCB18B1}"/>
              </a:ext>
            </a:extLst>
          </p:cNvPr>
          <p:cNvSpPr>
            <a:spLocks xmlns:a="http://schemas.openxmlformats.org/drawingml/2006/main" noGrp="1"/>
          </p:cNvSpPr>
          <p:nvPr/>
        </p:nvSpPr>
        <p:spPr>
          <a:xfrm xmlns:a="http://schemas.openxmlformats.org/drawingml/2006/main">
            <a:off x="742950" y="3295650"/>
            <a:ext cx="10287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9421D8F-DEC3-4AC0-99F1-405410C427F7}"/>
              </a:ext>
            </a:extLst>
          </p:cNvPr>
          <p:cNvSpPr>
            <a:spLocks xmlns:a="http://schemas.openxmlformats.org/drawingml/2006/main" noGrp="1"/>
          </p:cNvSpPr>
          <p:nvPr/>
        </p:nvSpPr>
        <p:spPr>
          <a:xfrm xmlns:a="http://schemas.openxmlformats.org/drawingml/2006/main">
            <a:off x="742950" y="3676650"/>
            <a:ext cx="533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25171A"/>
                </a:solidFill>
              </a:defRPr>
            </a:pPr>
            <a:r>
              <a:rPr sz="1800">
                <a:solidFill>
                  <a:srgbClr val="25171A"/>
                </a:solidFill>
              </a:rPr>
              <a:t>Build risk-aware studio habits, control sketching and instrument techniques, then use views and dimensions to communicate form clearly.</a:t>
            </a:r>
          </a:p>
        </p:txBody>
      </p:sp>
      <p:sp>
        <p:nvSpPr>
          <p:cNvPr id="7" name="">
            <a:extLst xmlns:a="http://schemas.openxmlformats.org/drawingml/2006/main">
              <a:ext uri="{FF2B5EF4-FFF2-40B4-BE49-F238E27FC236}">
                <a16:creationId xmlns:a16="http://schemas.microsoft.com/office/drawing/2014/main" id="{B17F6392-FE0A-40EE-A729-BC602BF5E2A4}"/>
              </a:ext>
            </a:extLst>
          </p:cNvPr>
          <p:cNvSpPr>
            <a:spLocks xmlns:a="http://schemas.openxmlformats.org/drawingml/2006/main" noGrp="1"/>
          </p:cNvSpPr>
          <p:nvPr/>
        </p:nvSpPr>
        <p:spPr>
          <a:xfrm xmlns:a="http://schemas.openxmlformats.org/drawingml/2006/main">
            <a:off x="742950" y="567690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66585B"/>
                </a:solidFill>
              </a:defRPr>
            </a:pPr>
            <a:r>
              <a:rPr sz="1275" b="1">
                <a:solidFill>
                  <a:srgbClr val="66585B"/>
                </a:solidFill>
              </a:rPr>
              <a:t>Read the visuals. Explain the decision. Save the evidence.</a:t>
            </a:r>
          </a:p>
        </p:txBody>
      </p:sp>
    </p:spTree>
    <p:extLst>
      <p:ext uri="{BB962C8B-B14F-4D97-AF65-F5344CB8AC3E}">
        <p14:creationId xmlns:p14="http://schemas.microsoft.com/office/powerpoint/2010/main" val="8042094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522B23F-3878-4C9E-8C23-FF09659DDB0C}"/>
              </a:ext>
            </a:extLst>
          </p:cNvPr>
          <p:cNvSpPr>
            <a:spLocks xmlns:a="http://schemas.openxmlformats.org/drawingml/2006/main" noGrp="1"/>
          </p:cNvSpPr>
          <p:nvPr/>
        </p:nvSpPr>
        <p:spPr>
          <a:xfrm xmlns:a="http://schemas.openxmlformats.org/drawingml/2006/main">
            <a:off x="685800" y="5334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850" b="1">
                <a:solidFill>
                  <a:srgbClr val="3B1118"/>
                </a:solidFill>
              </a:defRPr>
            </a:pPr>
            <a:r>
              <a:rPr sz="2850" b="1">
                <a:solidFill>
                  <a:srgbClr val="3B1118"/>
                </a:solidFill>
              </a:rPr>
              <a:t>Three ideas build one communication workflow</a:t>
            </a:r>
          </a:p>
        </p:txBody>
      </p:sp>
      <p:sp>
        <p:nvSpPr>
          <p:cNvPr id="2" name="">
            <a:extLst xmlns:a="http://schemas.openxmlformats.org/drawingml/2006/main">
              <a:ext uri="{FF2B5EF4-FFF2-40B4-BE49-F238E27FC236}">
                <a16:creationId xmlns:a16="http://schemas.microsoft.com/office/drawing/2014/main" id="{27F065B7-0DE6-4F4C-8474-D638F2D5CBC1}"/>
              </a:ext>
            </a:extLst>
          </p:cNvPr>
          <p:cNvSpPr>
            <a:spLocks xmlns:a="http://schemas.openxmlformats.org/drawingml/2006/main" noGrp="1"/>
          </p:cNvSpPr>
          <p:nvPr/>
        </p:nvSpPr>
        <p:spPr>
          <a:xfrm xmlns:a="http://schemas.openxmlformats.org/drawingml/2006/main">
            <a:off x="685800" y="120015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66585B"/>
                </a:solidFill>
              </a:defRPr>
            </a:pPr>
            <a:r>
              <a:rPr sz="1500">
                <a:solidFill>
                  <a:srgbClr val="66585B"/>
                </a:solidFill>
              </a:rPr>
              <a:t>Keep this sequence in mind: understand the context, make a controlled representation, then justify what the evidence means.</a:t>
            </a:r>
          </a:p>
        </p:txBody>
      </p:sp>
      <p:sp>
        <p:nvSpPr>
          <p:cNvPr id="3" name="">
            <a:extLst xmlns:a="http://schemas.openxmlformats.org/drawingml/2006/main">
              <a:ext uri="{FF2B5EF4-FFF2-40B4-BE49-F238E27FC236}">
                <a16:creationId xmlns:a16="http://schemas.microsoft.com/office/drawing/2014/main" id="{CABCF32A-0228-42A3-B8C3-7D7CF5C1C939}"/>
              </a:ext>
            </a:extLst>
          </p:cNvPr>
          <p:cNvSpPr>
            <a:spLocks xmlns:a="http://schemas.openxmlformats.org/drawingml/2006/main" noGrp="1"/>
          </p:cNvSpPr>
          <p:nvPr/>
        </p:nvSpPr>
        <p:spPr>
          <a:xfrm xmlns:a="http://schemas.openxmlformats.org/drawingml/2006/main">
            <a:off x="1200150" y="3028950"/>
            <a:ext cx="9772650" cy="38100"/>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7532233-01F2-40AC-9FF3-1E08787C184D}"/>
              </a:ext>
            </a:extLst>
          </p:cNvPr>
          <p:cNvSpPr>
            <a:spLocks xmlns:a="http://schemas.openxmlformats.org/drawingml/2006/main" noGrp="1"/>
          </p:cNvSpPr>
          <p:nvPr/>
        </p:nvSpPr>
        <p:spPr>
          <a:xfrm xmlns:a="http://schemas.openxmlformats.org/drawingml/2006/main">
            <a:off x="1371600" y="2619375"/>
            <a:ext cx="800100" cy="800100"/>
          </a:xfrm>
          <a:prstGeom xmlns:a="http://schemas.openxmlformats.org/drawingml/2006/main" prst="roundRect">
            <a:avLst>
              <a:gd name="adj" fmla="val 50000"/>
            </a:avLst>
          </a:prstGeom>
          <a:solidFill xmlns:a="http://schemas.openxmlformats.org/drawingml/2006/main">
            <a:srgbClr val="3B111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915D7E3-13A6-4347-A941-99BD517D15F7}"/>
              </a:ext>
            </a:extLst>
          </p:cNvPr>
          <p:cNvSpPr>
            <a:spLocks xmlns:a="http://schemas.openxmlformats.org/drawingml/2006/main" noGrp="1"/>
          </p:cNvSpPr>
          <p:nvPr/>
        </p:nvSpPr>
        <p:spPr>
          <a:xfrm xmlns:a="http://schemas.openxmlformats.org/drawingml/2006/main">
            <a:off x="13716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FFFFFF"/>
                </a:solidFill>
              </a:defRPr>
            </a:pPr>
            <a:r>
              <a:rPr sz="2100" b="1">
                <a:solidFill>
                  <a:srgbClr val="FFFFFF"/>
                </a:solidFill>
              </a:rPr>
              <a:t>1</a:t>
            </a:r>
          </a:p>
        </p:txBody>
      </p:sp>
      <p:sp>
        <p:nvSpPr>
          <p:cNvPr id="6" name="">
            <a:extLst xmlns:a="http://schemas.openxmlformats.org/drawingml/2006/main">
              <a:ext uri="{FF2B5EF4-FFF2-40B4-BE49-F238E27FC236}">
                <a16:creationId xmlns:a16="http://schemas.microsoft.com/office/drawing/2014/main" id="{FC9DCEFF-EE8C-4BBF-9809-68770CCD66FC}"/>
              </a:ext>
            </a:extLst>
          </p:cNvPr>
          <p:cNvSpPr>
            <a:spLocks xmlns:a="http://schemas.openxmlformats.org/drawingml/2006/main" noGrp="1"/>
          </p:cNvSpPr>
          <p:nvPr/>
        </p:nvSpPr>
        <p:spPr>
          <a:xfrm xmlns:a="http://schemas.openxmlformats.org/drawingml/2006/main">
            <a:off x="8763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171A"/>
                </a:solidFill>
              </a:defRPr>
            </a:pPr>
            <a:r>
              <a:rPr sz="1725" b="1">
                <a:solidFill>
                  <a:srgbClr val="25171A"/>
                </a:solidFill>
              </a:rPr>
              <a:t>Safe studio, instruments and line language</a:t>
            </a:r>
          </a:p>
        </p:txBody>
      </p:sp>
      <p:sp>
        <p:nvSpPr>
          <p:cNvPr id="7" name="">
            <a:extLst xmlns:a="http://schemas.openxmlformats.org/drawingml/2006/main">
              <a:ext uri="{FF2B5EF4-FFF2-40B4-BE49-F238E27FC236}">
                <a16:creationId xmlns:a16="http://schemas.microsoft.com/office/drawing/2014/main" id="{4558C4E3-D360-40B9-9CB4-B87841957C5F}"/>
              </a:ext>
            </a:extLst>
          </p:cNvPr>
          <p:cNvSpPr>
            <a:spLocks xmlns:a="http://schemas.openxmlformats.org/drawingml/2006/main" noGrp="1"/>
          </p:cNvSpPr>
          <p:nvPr/>
        </p:nvSpPr>
        <p:spPr>
          <a:xfrm xmlns:a="http://schemas.openxmlformats.org/drawingml/2006/main">
            <a:off x="5029200" y="2619375"/>
            <a:ext cx="800100" cy="800100"/>
          </a:xfrm>
          <a:prstGeom xmlns:a="http://schemas.openxmlformats.org/drawingml/2006/main" prst="roundRect">
            <a:avLst>
              <a:gd name="adj" fmla="val 50000"/>
            </a:avLst>
          </a:prstGeom>
          <a:solidFill xmlns:a="http://schemas.openxmlformats.org/drawingml/2006/main">
            <a:srgbClr val="8B243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509493-324D-421A-85C3-72B72C64587C}"/>
              </a:ext>
            </a:extLst>
          </p:cNvPr>
          <p:cNvSpPr>
            <a:spLocks xmlns:a="http://schemas.openxmlformats.org/drawingml/2006/main" noGrp="1"/>
          </p:cNvSpPr>
          <p:nvPr/>
        </p:nvSpPr>
        <p:spPr>
          <a:xfrm xmlns:a="http://schemas.openxmlformats.org/drawingml/2006/main">
            <a:off x="50292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FFFFFF"/>
                </a:solidFill>
              </a:defRPr>
            </a:pPr>
            <a:r>
              <a:rPr sz="2100" b="1">
                <a:solidFill>
                  <a:srgbClr val="FFFFFF"/>
                </a:solidFill>
              </a:rPr>
              <a:t>2</a:t>
            </a:r>
          </a:p>
        </p:txBody>
      </p:sp>
      <p:sp>
        <p:nvSpPr>
          <p:cNvPr id="9" name="">
            <a:extLst xmlns:a="http://schemas.openxmlformats.org/drawingml/2006/main">
              <a:ext uri="{FF2B5EF4-FFF2-40B4-BE49-F238E27FC236}">
                <a16:creationId xmlns:a16="http://schemas.microsoft.com/office/drawing/2014/main" id="{79C0FBA1-CDA5-4B81-B4C9-388EF18FD5CB}"/>
              </a:ext>
            </a:extLst>
          </p:cNvPr>
          <p:cNvSpPr>
            <a:spLocks xmlns:a="http://schemas.openxmlformats.org/drawingml/2006/main" noGrp="1"/>
          </p:cNvSpPr>
          <p:nvPr/>
        </p:nvSpPr>
        <p:spPr>
          <a:xfrm xmlns:a="http://schemas.openxmlformats.org/drawingml/2006/main">
            <a:off x="45339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171A"/>
                </a:solidFill>
              </a:defRPr>
            </a:pPr>
            <a:r>
              <a:rPr sz="1725" b="1">
                <a:solidFill>
                  <a:srgbClr val="25171A"/>
                </a:solidFill>
              </a:rPr>
              <a:t>Sketching, rendering and geometric construction</a:t>
            </a:r>
          </a:p>
        </p:txBody>
      </p:sp>
      <p:sp>
        <p:nvSpPr>
          <p:cNvPr id="10" name="">
            <a:extLst xmlns:a="http://schemas.openxmlformats.org/drawingml/2006/main">
              <a:ext uri="{FF2B5EF4-FFF2-40B4-BE49-F238E27FC236}">
                <a16:creationId xmlns:a16="http://schemas.microsoft.com/office/drawing/2014/main" id="{1C567ECB-744D-4F0A-AB8F-E24F764FA059}"/>
              </a:ext>
            </a:extLst>
          </p:cNvPr>
          <p:cNvSpPr>
            <a:spLocks xmlns:a="http://schemas.openxmlformats.org/drawingml/2006/main" noGrp="1"/>
          </p:cNvSpPr>
          <p:nvPr/>
        </p:nvSpPr>
        <p:spPr>
          <a:xfrm xmlns:a="http://schemas.openxmlformats.org/drawingml/2006/main">
            <a:off x="8686800" y="2619375"/>
            <a:ext cx="800100" cy="800100"/>
          </a:xfrm>
          <a:prstGeom xmlns:a="http://schemas.openxmlformats.org/drawingml/2006/main" prst="roundRect">
            <a:avLst>
              <a:gd name="adj" fmla="val 50000"/>
            </a:avLst>
          </a:prstGeom>
          <a:solidFill xmlns:a="http://schemas.openxmlformats.org/drawingml/2006/main">
            <a:srgbClr val="3B111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7B01593-0E26-4635-9AD8-02EDF493279F}"/>
              </a:ext>
            </a:extLst>
          </p:cNvPr>
          <p:cNvSpPr>
            <a:spLocks xmlns:a="http://schemas.openxmlformats.org/drawingml/2006/main" noGrp="1"/>
          </p:cNvSpPr>
          <p:nvPr/>
        </p:nvSpPr>
        <p:spPr>
          <a:xfrm xmlns:a="http://schemas.openxmlformats.org/drawingml/2006/main">
            <a:off x="86868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FFFFFF"/>
                </a:solidFill>
              </a:defRPr>
            </a:pPr>
            <a:r>
              <a:rPr sz="2100" b="1">
                <a:solidFill>
                  <a:srgbClr val="FFFFFF"/>
                </a:solidFill>
              </a:rPr>
              <a:t>3</a:t>
            </a:r>
          </a:p>
        </p:txBody>
      </p:sp>
      <p:sp>
        <p:nvSpPr>
          <p:cNvPr id="12" name="">
            <a:extLst xmlns:a="http://schemas.openxmlformats.org/drawingml/2006/main">
              <a:ext uri="{FF2B5EF4-FFF2-40B4-BE49-F238E27FC236}">
                <a16:creationId xmlns:a16="http://schemas.microsoft.com/office/drawing/2014/main" id="{A3098271-3A28-4B25-AF52-D9AAE8F70B07}"/>
              </a:ext>
            </a:extLst>
          </p:cNvPr>
          <p:cNvSpPr>
            <a:spLocks xmlns:a="http://schemas.openxmlformats.org/drawingml/2006/main" noGrp="1"/>
          </p:cNvSpPr>
          <p:nvPr/>
        </p:nvSpPr>
        <p:spPr>
          <a:xfrm xmlns:a="http://schemas.openxmlformats.org/drawingml/2006/main">
            <a:off x="81915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171A"/>
                </a:solidFill>
              </a:defRPr>
            </a:pPr>
            <a:r>
              <a:rPr sz="1725" b="1">
                <a:solidFill>
                  <a:srgbClr val="25171A"/>
                </a:solidFill>
              </a:rPr>
              <a:t>Views, projection and dimensioning</a:t>
            </a:r>
          </a:p>
        </p:txBody>
      </p:sp>
      <p:sp>
        <p:nvSpPr>
          <p:cNvPr id="13" name="">
            <a:extLst xmlns:a="http://schemas.openxmlformats.org/drawingml/2006/main">
              <a:ext uri="{FF2B5EF4-FFF2-40B4-BE49-F238E27FC236}">
                <a16:creationId xmlns:a16="http://schemas.microsoft.com/office/drawing/2014/main" id="{95C62AF0-3B1A-4399-B863-0B893D6EB3C0}"/>
              </a:ext>
            </a:extLst>
          </p:cNvPr>
          <p:cNvSpPr>
            <a:spLocks xmlns:a="http://schemas.openxmlformats.org/drawingml/2006/main" noGrp="1"/>
          </p:cNvSpPr>
          <p:nvPr/>
        </p:nvSpPr>
        <p:spPr>
          <a:xfrm xmlns:a="http://schemas.openxmlformats.org/drawingml/2006/main">
            <a:off x="2381250" y="5467350"/>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8B2433"/>
                </a:solidFill>
              </a:defRPr>
            </a:pPr>
            <a:r>
              <a:rPr sz="1500" b="1">
                <a:solidFill>
                  <a:srgbClr val="8B2433"/>
                </a:solidFill>
              </a:rPr>
              <a:t>Retrieval prompt  •  Which idea depends most on the one before it?</a:t>
            </a:r>
          </a:p>
        </p:txBody>
      </p:sp>
      <p:sp>
        <p:nvSpPr>
          <p:cNvPr id="14" name="">
            <a:extLst xmlns:a="http://schemas.openxmlformats.org/drawingml/2006/main">
              <a:ext uri="{FF2B5EF4-FFF2-40B4-BE49-F238E27FC236}">
                <a16:creationId xmlns:a16="http://schemas.microsoft.com/office/drawing/2014/main" id="{3B74C1AF-26DB-4593-8A63-5EFA2DB319AA}"/>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63D9ABE-15DC-4611-A17F-341D759A782F}"/>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1</a:t>
            </a:r>
          </a:p>
        </p:txBody>
      </p:sp>
      <p:sp>
        <p:nvSpPr>
          <p:cNvPr id="16" name="">
            <a:extLst xmlns:a="http://schemas.openxmlformats.org/drawingml/2006/main">
              <a:ext uri="{FF2B5EF4-FFF2-40B4-BE49-F238E27FC236}">
                <a16:creationId xmlns:a16="http://schemas.microsoft.com/office/drawing/2014/main" id="{EFB18680-9473-4BFA-9573-94D0E5878DAE}"/>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02</a:t>
            </a:r>
          </a:p>
        </p:txBody>
      </p:sp>
    </p:spTree>
    <p:extLst>
      <p:ext uri="{BB962C8B-B14F-4D97-AF65-F5344CB8AC3E}">
        <p14:creationId xmlns:p14="http://schemas.microsoft.com/office/powerpoint/2010/main" val="735900430"/>
      </p:ext>
    </p:extLst>
  </p:cSld>
</p:sld>
</file>

<file path=ppt/slides/slide3.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a9b852f737740ea"/>
          <a:stretch xmlns:a="http://schemas.openxmlformats.org/drawingml/2006/main"/>
        </p:blipFill>
        <p:spPr>
          <a:xfrm xmlns:a="http://schemas.openxmlformats.org/drawingml/2006/main">
            <a:off x="685800" y="1644650"/>
            <a:ext cx="4953000" cy="3302000"/>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A3936BE1-D350-4479-95A7-93797E2E4DF7}"/>
              </a:ext>
            </a:extLst>
          </p:cNvPr>
          <p:cNvSpPr>
            <a:spLocks xmlns:a="http://schemas.openxmlformats.org/drawingml/2006/main" noGrp="1"/>
          </p:cNvSpPr>
          <p:nvPr/>
        </p:nvSpPr>
        <p:spPr>
          <a:xfrm xmlns:a="http://schemas.openxmlformats.org/drawingml/2006/main">
            <a:off x="685800" y="1276350"/>
            <a:ext cx="4953000" cy="4038600"/>
          </a:xfrm>
          <a:prstGeom xmlns:a="http://schemas.openxmlformats.org/drawingml/2006/main" prst="roundRect">
            <a:avLst>
              <a:gd name="adj" fmla="val 2830"/>
            </a:avLst>
          </a:prstGeom>
          <a:noFill xmlns:a="http://schemas.openxmlformats.org/drawingml/2006/main"/>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67755844-7317-4C5E-87A1-631A880B83D8}"/>
              </a:ext>
            </a:extLst>
          </p:cNvPr>
          <p:cNvSpPr>
            <a:spLocks xmlns:a="http://schemas.openxmlformats.org/drawingml/2006/main" noGrp="1"/>
          </p:cNvSpPr>
          <p:nvPr/>
        </p:nvSpPr>
        <p:spPr>
          <a:xfrm xmlns:a="http://schemas.openxmlformats.org/drawingml/2006/main">
            <a:off x="685800" y="4953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700" b="1">
                <a:solidFill>
                  <a:srgbClr val="3B1118"/>
                </a:solidFill>
              </a:defRPr>
            </a:pPr>
            <a:r>
              <a:rPr sz="2700" b="1">
                <a:solidFill>
                  <a:srgbClr val="3B1118"/>
                </a:solidFill>
              </a:rPr>
              <a:t>Line language makes a drawing readable</a:t>
            </a:r>
          </a:p>
        </p:txBody>
      </p:sp>
      <p:sp>
        <p:nvSpPr>
          <p:cNvPr id="4" name="">
            <a:extLst xmlns:a="http://schemas.openxmlformats.org/drawingml/2006/main">
              <a:ext uri="{FF2B5EF4-FFF2-40B4-BE49-F238E27FC236}">
                <a16:creationId xmlns:a16="http://schemas.microsoft.com/office/drawing/2014/main" id="{59115FF9-F7DB-489A-9C21-320F7FAC2AD6}"/>
              </a:ext>
            </a:extLst>
          </p:cNvPr>
          <p:cNvSpPr>
            <a:spLocks xmlns:a="http://schemas.openxmlformats.org/drawingml/2006/main" noGrp="1"/>
          </p:cNvSpPr>
          <p:nvPr/>
        </p:nvSpPr>
        <p:spPr>
          <a:xfrm xmlns:a="http://schemas.openxmlformats.org/drawingml/2006/main">
            <a:off x="6096000" y="1524000"/>
            <a:ext cx="5410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25171A"/>
                </a:solidFill>
              </a:defRPr>
            </a:pPr>
            <a:r>
              <a:rPr sz="1500">
                <a:solidFill>
                  <a:srgbClr val="25171A"/>
                </a:solidFill>
              </a:rPr>
              <a:t>Safe graphics work starts with noticing hazards or uncertainty, checking the current authorised instruction and continuing to monitor the task. Choose instruments by the job they control. Use construction lines, visible outlines and annotations as different parts of a visual language—not as decoration.</a:t>
            </a:r>
          </a:p>
        </p:txBody>
      </p:sp>
      <p:sp>
        <p:nvSpPr>
          <p:cNvPr id="5" name="">
            <a:extLst xmlns:a="http://schemas.openxmlformats.org/drawingml/2006/main">
              <a:ext uri="{FF2B5EF4-FFF2-40B4-BE49-F238E27FC236}">
                <a16:creationId xmlns:a16="http://schemas.microsoft.com/office/drawing/2014/main" id="{01C39979-2AFE-42D8-A213-36709AAC72C0}"/>
              </a:ext>
            </a:extLst>
          </p:cNvPr>
          <p:cNvSpPr>
            <a:spLocks xmlns:a="http://schemas.openxmlformats.org/drawingml/2006/main" noGrp="1"/>
          </p:cNvSpPr>
          <p:nvPr/>
        </p:nvSpPr>
        <p:spPr>
          <a:xfrm xmlns:a="http://schemas.openxmlformats.org/drawingml/2006/main">
            <a:off x="6096000" y="3676650"/>
            <a:ext cx="8763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CF5376B-A82F-4233-8654-D15EC1FC499B}"/>
              </a:ext>
            </a:extLst>
          </p:cNvPr>
          <p:cNvSpPr>
            <a:spLocks xmlns:a="http://schemas.openxmlformats.org/drawingml/2006/main" noGrp="1"/>
          </p:cNvSpPr>
          <p:nvPr/>
        </p:nvSpPr>
        <p:spPr>
          <a:xfrm xmlns:a="http://schemas.openxmlformats.org/drawingml/2006/main">
            <a:off x="6096000" y="3962400"/>
            <a:ext cx="5410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8B2433"/>
                </a:solidFill>
              </a:defRPr>
            </a:pPr>
            <a:r>
              <a:rPr sz="1575" b="1">
                <a:solidFill>
                  <a:srgbClr val="8B2433"/>
                </a:solidFill>
              </a:rPr>
              <a:t>Notice → Which line communicates the object, which line builds it, and what local instruction must still be checked?</a:t>
            </a:r>
          </a:p>
        </p:txBody>
      </p:sp>
      <p:sp>
        <p:nvSpPr>
          <p:cNvPr id="7" name="">
            <a:extLst xmlns:a="http://schemas.openxmlformats.org/drawingml/2006/main">
              <a:ext uri="{FF2B5EF4-FFF2-40B4-BE49-F238E27FC236}">
                <a16:creationId xmlns:a16="http://schemas.microsoft.com/office/drawing/2014/main" id="{4032D004-D48F-4904-8022-FC5DA23E94FE}"/>
              </a:ext>
            </a:extLst>
          </p:cNvPr>
          <p:cNvSpPr>
            <a:spLocks xmlns:a="http://schemas.openxmlformats.org/drawingml/2006/main" noGrp="1"/>
          </p:cNvSpPr>
          <p:nvPr/>
        </p:nvSpPr>
        <p:spPr>
          <a:xfrm xmlns:a="http://schemas.openxmlformats.org/drawingml/2006/main">
            <a:off x="6096000" y="5010150"/>
            <a:ext cx="5410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6585B"/>
                </a:solidFill>
              </a:defRPr>
            </a:pPr>
            <a:r>
              <a:rPr sz="1200">
                <a:solidFill>
                  <a:srgbClr val="66585B"/>
                </a:solidFill>
              </a:rPr>
              <a:t>Line weight, darkness and pattern should make purpose visible; they do not prove full standards compliance.</a:t>
            </a:r>
          </a:p>
        </p:txBody>
      </p:sp>
      <p:sp>
        <p:nvSpPr>
          <p:cNvPr id="8" name="">
            <a:extLst xmlns:a="http://schemas.openxmlformats.org/drawingml/2006/main">
              <a:ext uri="{FF2B5EF4-FFF2-40B4-BE49-F238E27FC236}">
                <a16:creationId xmlns:a16="http://schemas.microsoft.com/office/drawing/2014/main" id="{A2433063-EFF8-4D5D-96A2-A95F94929F97}"/>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F915B5C-F8C9-4525-AF09-77B342D1CF0B}"/>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1</a:t>
            </a:r>
          </a:p>
        </p:txBody>
      </p:sp>
      <p:sp>
        <p:nvSpPr>
          <p:cNvPr id="10" name="">
            <a:extLst xmlns:a="http://schemas.openxmlformats.org/drawingml/2006/main">
              <a:ext uri="{FF2B5EF4-FFF2-40B4-BE49-F238E27FC236}">
                <a16:creationId xmlns:a16="http://schemas.microsoft.com/office/drawing/2014/main" id="{8CA9F192-D81A-4CF4-B194-B945713993B4}"/>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03</a:t>
            </a:r>
          </a:p>
        </p:txBody>
      </p:sp>
    </p:spTree>
    <p:extLst>
      <p:ext uri="{BB962C8B-B14F-4D97-AF65-F5344CB8AC3E}">
        <p14:creationId xmlns:p14="http://schemas.microsoft.com/office/powerpoint/2010/main" val="2105465841"/>
      </p:ext>
    </p:extLst>
  </p:cSld>
</p:sld>
</file>

<file path=ppt/slides/slide4.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68370583193477d"/>
          <a:stretch xmlns:a="http://schemas.openxmlformats.org/drawingml/2006/main"/>
        </p:blipFill>
        <p:spPr>
          <a:xfrm xmlns:a="http://schemas.openxmlformats.org/drawingml/2006/main">
            <a:off x="6553200" y="1644650"/>
            <a:ext cx="4953000" cy="3302000"/>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746C002F-CF20-42E7-A25B-10C5D6068D3E}"/>
              </a:ext>
            </a:extLst>
          </p:cNvPr>
          <p:cNvSpPr>
            <a:spLocks xmlns:a="http://schemas.openxmlformats.org/drawingml/2006/main" noGrp="1"/>
          </p:cNvSpPr>
          <p:nvPr/>
        </p:nvSpPr>
        <p:spPr>
          <a:xfrm xmlns:a="http://schemas.openxmlformats.org/drawingml/2006/main">
            <a:off x="6553200" y="1276350"/>
            <a:ext cx="4953000" cy="4038600"/>
          </a:xfrm>
          <a:prstGeom xmlns:a="http://schemas.openxmlformats.org/drawingml/2006/main" prst="roundRect">
            <a:avLst>
              <a:gd name="adj" fmla="val 2830"/>
            </a:avLst>
          </a:prstGeom>
          <a:noFill xmlns:a="http://schemas.openxmlformats.org/drawingml/2006/main"/>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FB0B3FB8-29A3-4C1C-91F5-438EF5BE1F24}"/>
              </a:ext>
            </a:extLst>
          </p:cNvPr>
          <p:cNvSpPr>
            <a:spLocks xmlns:a="http://schemas.openxmlformats.org/drawingml/2006/main" noGrp="1"/>
          </p:cNvSpPr>
          <p:nvPr/>
        </p:nvSpPr>
        <p:spPr>
          <a:xfrm xmlns:a="http://schemas.openxmlformats.org/drawingml/2006/main">
            <a:off x="685800" y="4953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700" b="1">
                <a:solidFill>
                  <a:srgbClr val="3B1118"/>
                </a:solidFill>
              </a:defRPr>
            </a:pPr>
            <a:r>
              <a:rPr sz="2700" b="1">
                <a:solidFill>
                  <a:srgbClr val="3B1118"/>
                </a:solidFill>
              </a:rPr>
              <a:t>Sketches explore; construction and rendering explain</a:t>
            </a:r>
          </a:p>
        </p:txBody>
      </p:sp>
      <p:sp>
        <p:nvSpPr>
          <p:cNvPr id="4" name="">
            <a:extLst xmlns:a="http://schemas.openxmlformats.org/drawingml/2006/main">
              <a:ext uri="{FF2B5EF4-FFF2-40B4-BE49-F238E27FC236}">
                <a16:creationId xmlns:a16="http://schemas.microsoft.com/office/drawing/2014/main" id="{84CD99FD-C2D0-4B88-B604-131233FA6EDB}"/>
              </a:ext>
            </a:extLst>
          </p:cNvPr>
          <p:cNvSpPr>
            <a:spLocks xmlns:a="http://schemas.openxmlformats.org/drawingml/2006/main" noGrp="1"/>
          </p:cNvSpPr>
          <p:nvPr/>
        </p:nvSpPr>
        <p:spPr>
          <a:xfrm xmlns:a="http://schemas.openxmlformats.org/drawingml/2006/main">
            <a:off x="685800" y="1524000"/>
            <a:ext cx="5410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25171A"/>
                </a:solidFill>
              </a:defRPr>
            </a:pPr>
            <a:r>
              <a:rPr sz="1500">
                <a:solidFill>
                  <a:srgbClr val="25171A"/>
                </a:solidFill>
              </a:rPr>
              <a:t>Early sketches help compare genuinely different options before a final idea is fixed. Geometric construction creates controlled relationships, while rendering adds evidence of form, surface and light. A strong progression moves from thumbnails to construction, then develops one chosen view with a single, consistent light direction.</a:t>
            </a:r>
          </a:p>
        </p:txBody>
      </p:sp>
      <p:sp>
        <p:nvSpPr>
          <p:cNvPr id="5" name="">
            <a:extLst xmlns:a="http://schemas.openxmlformats.org/drawingml/2006/main">
              <a:ext uri="{FF2B5EF4-FFF2-40B4-BE49-F238E27FC236}">
                <a16:creationId xmlns:a16="http://schemas.microsoft.com/office/drawing/2014/main" id="{3227D40A-E67D-40D0-B67A-914020964970}"/>
              </a:ext>
            </a:extLst>
          </p:cNvPr>
          <p:cNvSpPr>
            <a:spLocks xmlns:a="http://schemas.openxmlformats.org/drawingml/2006/main" noGrp="1"/>
          </p:cNvSpPr>
          <p:nvPr/>
        </p:nvSpPr>
        <p:spPr>
          <a:xfrm xmlns:a="http://schemas.openxmlformats.org/drawingml/2006/main">
            <a:off x="685800" y="3676650"/>
            <a:ext cx="8763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2F09510-6033-4F89-BE93-3E742820C537}"/>
              </a:ext>
            </a:extLst>
          </p:cNvPr>
          <p:cNvSpPr>
            <a:spLocks xmlns:a="http://schemas.openxmlformats.org/drawingml/2006/main" noGrp="1"/>
          </p:cNvSpPr>
          <p:nvPr/>
        </p:nvSpPr>
        <p:spPr>
          <a:xfrm xmlns:a="http://schemas.openxmlformats.org/drawingml/2006/main">
            <a:off x="685800" y="3962400"/>
            <a:ext cx="5410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8B2433"/>
                </a:solidFill>
              </a:defRPr>
            </a:pPr>
            <a:r>
              <a:rPr sz="1575" b="1">
                <a:solidFill>
                  <a:srgbClr val="8B2433"/>
                </a:solidFill>
              </a:rPr>
              <a:t>Compare → Which stage changes the idea, and which stage makes the chosen form easier to read?</a:t>
            </a:r>
          </a:p>
        </p:txBody>
      </p:sp>
      <p:sp>
        <p:nvSpPr>
          <p:cNvPr id="7" name="">
            <a:extLst xmlns:a="http://schemas.openxmlformats.org/drawingml/2006/main">
              <a:ext uri="{FF2B5EF4-FFF2-40B4-BE49-F238E27FC236}">
                <a16:creationId xmlns:a16="http://schemas.microsoft.com/office/drawing/2014/main" id="{1C29CF56-0E1B-4E39-BD9C-DA3B365FE5EB}"/>
              </a:ext>
            </a:extLst>
          </p:cNvPr>
          <p:cNvSpPr>
            <a:spLocks xmlns:a="http://schemas.openxmlformats.org/drawingml/2006/main" noGrp="1"/>
          </p:cNvSpPr>
          <p:nvPr/>
        </p:nvSpPr>
        <p:spPr>
          <a:xfrm xmlns:a="http://schemas.openxmlformats.org/drawingml/2006/main">
            <a:off x="685800" y="5010150"/>
            <a:ext cx="5410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6585B"/>
                </a:solidFill>
              </a:defRPr>
            </a:pPr>
            <a:r>
              <a:rPr sz="1200">
                <a:solidFill>
                  <a:srgbClr val="66585B"/>
                </a:solidFill>
              </a:rPr>
              <a:t>Neatness is not the same as design thinking: preserve the options, construction logic and visual decisions.</a:t>
            </a:r>
          </a:p>
        </p:txBody>
      </p:sp>
      <p:sp>
        <p:nvSpPr>
          <p:cNvPr id="8" name="">
            <a:extLst xmlns:a="http://schemas.openxmlformats.org/drawingml/2006/main">
              <a:ext uri="{FF2B5EF4-FFF2-40B4-BE49-F238E27FC236}">
                <a16:creationId xmlns:a16="http://schemas.microsoft.com/office/drawing/2014/main" id="{A0324BB4-0C2E-4A7A-B383-8AC9AC16D7B1}"/>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9754A98-C92C-4146-BB14-FB4490DDC9E4}"/>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1</a:t>
            </a:r>
          </a:p>
        </p:txBody>
      </p:sp>
      <p:sp>
        <p:nvSpPr>
          <p:cNvPr id="10" name="">
            <a:extLst xmlns:a="http://schemas.openxmlformats.org/drawingml/2006/main">
              <a:ext uri="{FF2B5EF4-FFF2-40B4-BE49-F238E27FC236}">
                <a16:creationId xmlns:a16="http://schemas.microsoft.com/office/drawing/2014/main" id="{8970657B-E61F-45E8-9DED-3B6F7AF9AC08}"/>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04</a:t>
            </a:r>
          </a:p>
        </p:txBody>
      </p:sp>
    </p:spTree>
    <p:extLst>
      <p:ext uri="{BB962C8B-B14F-4D97-AF65-F5344CB8AC3E}">
        <p14:creationId xmlns:p14="http://schemas.microsoft.com/office/powerpoint/2010/main" val="1343704588"/>
      </p:ext>
    </p:extLst>
  </p:cSld>
</p:sld>
</file>

<file path=ppt/slides/slide5.xml><?xml version="1.0" encoding="utf-8"?>
<p:sld xmlns:p="http://schemas.openxmlformats.org/presentationml/2006/main">
  <p:cSld>
    <p:bg>
      <p:bgPr>
        <a:solidFill xmlns:a="http://schemas.openxmlformats.org/drawingml/2006/main">
          <a:srgbClr val="1B171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6b636da356644e6"/>
          <a:srcRect xmlns:a="http://schemas.openxmlformats.org/drawingml/2006/main" l="0" t="30078" r="0" b="30078"/>
          <a:stretch xmlns:a="http://schemas.openxmlformats.org/drawingml/2006/main">
            <a:fillRect l="0" t="0" r="0" b="0"/>
          </a:stretch>
        </p:blipFill>
        <p:spPr>
          <a:xfrm xmlns:a="http://schemas.openxmlformats.org/drawingml/2006/main">
            <a:off x="0" y="0"/>
            <a:ext cx="12192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2326E7-3596-4A5D-820F-8F9642C62FF1}"/>
              </a:ext>
            </a:extLst>
          </p:cNvPr>
          <p:cNvSpPr>
            <a:spLocks xmlns:a="http://schemas.openxmlformats.org/drawingml/2006/main" noGrp="1"/>
          </p:cNvSpPr>
          <p:nvPr/>
        </p:nvSpPr>
        <p:spPr>
          <a:xfrm xmlns:a="http://schemas.openxmlformats.org/drawingml/2006/main">
            <a:off x="0" y="3028950"/>
            <a:ext cx="12192000" cy="3829050"/>
          </a:xfrm>
          <a:prstGeom xmlns:a="http://schemas.openxmlformats.org/drawingml/2006/main" prst="rect">
            <a:avLst/>
          </a:prstGeom>
          <a:solidFill xmlns:a="http://schemas.openxmlformats.org/drawingml/2006/main">
            <a:srgbClr val="1B171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5CCB27-7E3C-486E-BED3-84858A63777D}"/>
              </a:ext>
            </a:extLst>
          </p:cNvPr>
          <p:cNvSpPr>
            <a:spLocks xmlns:a="http://schemas.openxmlformats.org/drawingml/2006/main" noGrp="1"/>
          </p:cNvSpPr>
          <p:nvPr/>
        </p:nvSpPr>
        <p:spPr>
          <a:xfrm xmlns:a="http://schemas.openxmlformats.org/drawingml/2006/main">
            <a:off x="685800" y="33528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700" b="1">
                <a:solidFill>
                  <a:srgbClr val="FFFFFF"/>
                </a:solidFill>
              </a:defRPr>
            </a:pPr>
            <a:r>
              <a:rPr sz="2700" b="1">
                <a:solidFill>
                  <a:srgbClr val="FFFFFF"/>
                </a:solidFill>
              </a:rPr>
              <a:t>Different views answer different questions about one object</a:t>
            </a:r>
          </a:p>
        </p:txBody>
      </p:sp>
      <p:sp>
        <p:nvSpPr>
          <p:cNvPr id="4" name="">
            <a:extLst xmlns:a="http://schemas.openxmlformats.org/drawingml/2006/main">
              <a:ext uri="{FF2B5EF4-FFF2-40B4-BE49-F238E27FC236}">
                <a16:creationId xmlns:a16="http://schemas.microsoft.com/office/drawing/2014/main" id="{A92E6C05-67EE-491B-88EE-2D38A6F8155F}"/>
              </a:ext>
            </a:extLst>
          </p:cNvPr>
          <p:cNvSpPr>
            <a:spLocks xmlns:a="http://schemas.openxmlformats.org/drawingml/2006/main" noGrp="1"/>
          </p:cNvSpPr>
          <p:nvPr/>
        </p:nvSpPr>
        <p:spPr>
          <a:xfrm xmlns:a="http://schemas.openxmlformats.org/drawingml/2006/main">
            <a:off x="685800" y="4114800"/>
            <a:ext cx="6838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F7EDEF"/>
                </a:solidFill>
              </a:defRPr>
            </a:pPr>
            <a:r>
              <a:rPr sz="1425">
                <a:solidFill>
                  <a:srgbClr val="F7EDEF"/>
                </a:solidFill>
              </a:rPr>
              <a:t>Front, top and side views separate width, height and depth so features can be located accurately. Projection keeps those views aligned. Pictorial views help a reader visualise form; working views and dimensions communicate controlled size and relationships. Use only authorised dimensions—never estimate a missing value from a picture.</a:t>
            </a:r>
          </a:p>
        </p:txBody>
      </p:sp>
      <p:sp>
        <p:nvSpPr>
          <p:cNvPr id="5" name="">
            <a:extLst xmlns:a="http://schemas.openxmlformats.org/drawingml/2006/main">
              <a:ext uri="{FF2B5EF4-FFF2-40B4-BE49-F238E27FC236}">
                <a16:creationId xmlns:a16="http://schemas.microsoft.com/office/drawing/2014/main" id="{F11984AC-BA38-4E19-99BC-6C6BB3B24594}"/>
              </a:ext>
            </a:extLst>
          </p:cNvPr>
          <p:cNvSpPr>
            <a:spLocks xmlns:a="http://schemas.openxmlformats.org/drawingml/2006/main" noGrp="1"/>
          </p:cNvSpPr>
          <p:nvPr/>
        </p:nvSpPr>
        <p:spPr>
          <a:xfrm xmlns:a="http://schemas.openxmlformats.org/drawingml/2006/main">
            <a:off x="7962900" y="4114800"/>
            <a:ext cx="3543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D8DF"/>
                </a:solidFill>
              </a:defRPr>
            </a:pPr>
            <a:r>
              <a:rPr sz="1575" b="1">
                <a:solidFill>
                  <a:srgbClr val="FFD8DF"/>
                </a:solidFill>
              </a:rPr>
              <a:t>Cross-check → Which additional view removes ambiguity, and which dimensions are purposeful?</a:t>
            </a:r>
          </a:p>
        </p:txBody>
      </p:sp>
      <p:sp>
        <p:nvSpPr>
          <p:cNvPr id="6" name="">
            <a:extLst xmlns:a="http://schemas.openxmlformats.org/drawingml/2006/main">
              <a:ext uri="{FF2B5EF4-FFF2-40B4-BE49-F238E27FC236}">
                <a16:creationId xmlns:a16="http://schemas.microsoft.com/office/drawing/2014/main" id="{3566FA61-3C07-46E9-9972-CFD98E9BE508}"/>
              </a:ext>
            </a:extLst>
          </p:cNvPr>
          <p:cNvSpPr>
            <a:spLocks xmlns:a="http://schemas.openxmlformats.org/drawingml/2006/main" noGrp="1"/>
          </p:cNvSpPr>
          <p:nvPr/>
        </p:nvSpPr>
        <p:spPr>
          <a:xfrm xmlns:a="http://schemas.openxmlformats.org/drawingml/2006/main">
            <a:off x="7962900" y="5467350"/>
            <a:ext cx="3543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D7C9CC"/>
                </a:solidFill>
              </a:defRPr>
            </a:pPr>
            <a:r>
              <a:rPr sz="1200">
                <a:solidFill>
                  <a:srgbClr val="D7C9CC"/>
                </a:solidFill>
              </a:rPr>
              <a:t>A view reveals only part of the object. Coordinate views before making a size or shape claim.</a:t>
            </a:r>
          </a:p>
        </p:txBody>
      </p:sp>
      <p:sp>
        <p:nvSpPr>
          <p:cNvPr id="7" name="">
            <a:extLst xmlns:a="http://schemas.openxmlformats.org/drawingml/2006/main">
              <a:ext uri="{FF2B5EF4-FFF2-40B4-BE49-F238E27FC236}">
                <a16:creationId xmlns:a16="http://schemas.microsoft.com/office/drawing/2014/main" id="{7D9079B3-8854-4508-8630-08D6DD54A5FE}"/>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5F57B0-AF87-4546-8A39-52DCC1D2AF72}"/>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1</a:t>
            </a:r>
          </a:p>
        </p:txBody>
      </p:sp>
      <p:sp>
        <p:nvSpPr>
          <p:cNvPr id="9" name="">
            <a:extLst xmlns:a="http://schemas.openxmlformats.org/drawingml/2006/main">
              <a:ext uri="{FF2B5EF4-FFF2-40B4-BE49-F238E27FC236}">
                <a16:creationId xmlns:a16="http://schemas.microsoft.com/office/drawing/2014/main" id="{CBD30983-9DDC-4539-8BC9-48F13DDD729F}"/>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05</a:t>
            </a:r>
          </a:p>
        </p:txBody>
      </p:sp>
    </p:spTree>
    <p:extLst>
      <p:ext uri="{BB962C8B-B14F-4D97-AF65-F5344CB8AC3E}">
        <p14:creationId xmlns:p14="http://schemas.microsoft.com/office/powerpoint/2010/main" val="592320796"/>
      </p:ext>
    </p:extLst>
  </p:cSld>
</p:sld>
</file>

<file path=ppt/slides/slide6.xml><?xml version="1.0" encoding="utf-8"?>
<p:sld xmlns:p="http://schemas.openxmlformats.org/presentationml/2006/main">
  <p:cSld>
    <p:bg>
      <p:bgPr>
        <a:solidFill xmlns:a="http://schemas.openxmlformats.org/drawingml/2006/main">
          <a:srgbClr val="3B111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EA8E7A1-783A-4799-8D73-14ED932AC95D}"/>
              </a:ext>
            </a:extLst>
          </p:cNvPr>
          <p:cNvSpPr>
            <a:spLocks xmlns:a="http://schemas.openxmlformats.org/drawingml/2006/main" noGrp="1"/>
          </p:cNvSpPr>
          <p:nvPr/>
        </p:nvSpPr>
        <p:spPr>
          <a:xfrm xmlns:a="http://schemas.openxmlformats.org/drawingml/2006/main">
            <a:off x="685800" y="552450"/>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000" b="1">
                <a:solidFill>
                  <a:srgbClr val="FFFFFF"/>
                </a:solidFill>
              </a:defRPr>
            </a:pPr>
            <a:r>
              <a:rPr sz="3000" b="1">
                <a:solidFill>
                  <a:srgbClr val="FFFFFF"/>
                </a:solidFill>
              </a:rPr>
              <a:t>Retrieve before you look back</a:t>
            </a:r>
          </a:p>
        </p:txBody>
      </p:sp>
      <p:sp>
        <p:nvSpPr>
          <p:cNvPr id="2" name="">
            <a:extLst xmlns:a="http://schemas.openxmlformats.org/drawingml/2006/main">
              <a:ext uri="{FF2B5EF4-FFF2-40B4-BE49-F238E27FC236}">
                <a16:creationId xmlns:a16="http://schemas.microsoft.com/office/drawing/2014/main" id="{C8342762-04FA-4C6A-89B0-004D2DD90ACB}"/>
              </a:ext>
            </a:extLst>
          </p:cNvPr>
          <p:cNvSpPr>
            <a:spLocks xmlns:a="http://schemas.openxmlformats.org/drawingml/2006/main" noGrp="1"/>
          </p:cNvSpPr>
          <p:nvPr/>
        </p:nvSpPr>
        <p:spPr>
          <a:xfrm xmlns:a="http://schemas.openxmlformats.org/drawingml/2006/main">
            <a:off x="685800" y="1200150"/>
            <a:ext cx="742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F1D8DE"/>
                </a:solidFill>
              </a:defRPr>
            </a:pPr>
            <a:r>
              <a:rPr sz="1500">
                <a:solidFill>
                  <a:srgbClr val="F1D8DE"/>
                </a:solidFill>
              </a:rPr>
              <a:t>Answer in a phrase first. Then add the because.</a:t>
            </a:r>
          </a:p>
        </p:txBody>
      </p:sp>
      <p:sp>
        <p:nvSpPr>
          <p:cNvPr id="3" name="">
            <a:extLst xmlns:a="http://schemas.openxmlformats.org/drawingml/2006/main">
              <a:ext uri="{FF2B5EF4-FFF2-40B4-BE49-F238E27FC236}">
                <a16:creationId xmlns:a16="http://schemas.microsoft.com/office/drawing/2014/main" id="{7C692E84-BEBB-4CF1-91BD-346F46813442}"/>
              </a:ext>
            </a:extLst>
          </p:cNvPr>
          <p:cNvSpPr>
            <a:spLocks xmlns:a="http://schemas.openxmlformats.org/drawingml/2006/main" noGrp="1"/>
          </p:cNvSpPr>
          <p:nvPr/>
        </p:nvSpPr>
        <p:spPr>
          <a:xfrm xmlns:a="http://schemas.openxmlformats.org/drawingml/2006/main">
            <a:off x="876300" y="19812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F4A9B8"/>
                </a:solidFill>
              </a:defRPr>
            </a:pPr>
            <a:r>
              <a:rPr sz="1800" b="1">
                <a:solidFill>
                  <a:srgbClr val="F4A9B8"/>
                </a:solidFill>
              </a:rPr>
              <a:t>01</a:t>
            </a:r>
          </a:p>
        </p:txBody>
      </p:sp>
      <p:sp>
        <p:nvSpPr>
          <p:cNvPr id="4" name="">
            <a:extLst xmlns:a="http://schemas.openxmlformats.org/drawingml/2006/main">
              <a:ext uri="{FF2B5EF4-FFF2-40B4-BE49-F238E27FC236}">
                <a16:creationId xmlns:a16="http://schemas.microsoft.com/office/drawing/2014/main" id="{7BF1807E-13C3-4C2E-93C6-CFDDE67ACFDF}"/>
              </a:ext>
            </a:extLst>
          </p:cNvPr>
          <p:cNvSpPr>
            <a:spLocks xmlns:a="http://schemas.openxmlformats.org/drawingml/2006/main" noGrp="1"/>
          </p:cNvSpPr>
          <p:nvPr/>
        </p:nvSpPr>
        <p:spPr>
          <a:xfrm xmlns:a="http://schemas.openxmlformats.org/drawingml/2006/main">
            <a:off x="1638300" y="19812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a:solidFill>
                  <a:srgbClr val="FFFFFF"/>
                </a:solidFill>
              </a:defRPr>
            </a:pPr>
            <a:r>
              <a:rPr sz="1725">
                <a:solidFill>
                  <a:srgbClr val="FFFFFF"/>
                </a:solidFill>
              </a:rPr>
              <a:t>Why are construction lines and visible outlines intentionally different?</a:t>
            </a:r>
          </a:p>
        </p:txBody>
      </p:sp>
      <p:sp>
        <p:nvSpPr>
          <p:cNvPr id="5" name="">
            <a:extLst xmlns:a="http://schemas.openxmlformats.org/drawingml/2006/main">
              <a:ext uri="{FF2B5EF4-FFF2-40B4-BE49-F238E27FC236}">
                <a16:creationId xmlns:a16="http://schemas.microsoft.com/office/drawing/2014/main" id="{16A9A806-3B53-4043-A2C3-ED95228BA997}"/>
              </a:ext>
            </a:extLst>
          </p:cNvPr>
          <p:cNvSpPr>
            <a:spLocks xmlns:a="http://schemas.openxmlformats.org/drawingml/2006/main" noGrp="1"/>
          </p:cNvSpPr>
          <p:nvPr/>
        </p:nvSpPr>
        <p:spPr>
          <a:xfrm xmlns:a="http://schemas.openxmlformats.org/drawingml/2006/main">
            <a:off x="876300" y="28575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F4A9B8"/>
                </a:solidFill>
              </a:defRPr>
            </a:pPr>
            <a:r>
              <a:rPr sz="1800" b="1">
                <a:solidFill>
                  <a:srgbClr val="F4A9B8"/>
                </a:solidFill>
              </a:rPr>
              <a:t>02</a:t>
            </a:r>
          </a:p>
        </p:txBody>
      </p:sp>
      <p:sp>
        <p:nvSpPr>
          <p:cNvPr id="6" name="">
            <a:extLst xmlns:a="http://schemas.openxmlformats.org/drawingml/2006/main">
              <a:ext uri="{FF2B5EF4-FFF2-40B4-BE49-F238E27FC236}">
                <a16:creationId xmlns:a16="http://schemas.microsoft.com/office/drawing/2014/main" id="{43747A70-3E9B-4FF2-9633-0B7F200161FE}"/>
              </a:ext>
            </a:extLst>
          </p:cNvPr>
          <p:cNvSpPr>
            <a:spLocks xmlns:a="http://schemas.openxmlformats.org/drawingml/2006/main" noGrp="1"/>
          </p:cNvSpPr>
          <p:nvPr/>
        </p:nvSpPr>
        <p:spPr>
          <a:xfrm xmlns:a="http://schemas.openxmlformats.org/drawingml/2006/main">
            <a:off x="1638300" y="28575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a:solidFill>
                  <a:srgbClr val="FFFFFF"/>
                </a:solidFill>
              </a:defRPr>
            </a:pPr>
            <a:r>
              <a:rPr sz="1725">
                <a:solidFill>
                  <a:srgbClr val="FFFFFF"/>
                </a:solidFill>
              </a:rPr>
              <a:t>How does a thumbnail sketch support design choice?</a:t>
            </a:r>
          </a:p>
        </p:txBody>
      </p:sp>
      <p:sp>
        <p:nvSpPr>
          <p:cNvPr id="7" name="">
            <a:extLst xmlns:a="http://schemas.openxmlformats.org/drawingml/2006/main">
              <a:ext uri="{FF2B5EF4-FFF2-40B4-BE49-F238E27FC236}">
                <a16:creationId xmlns:a16="http://schemas.microsoft.com/office/drawing/2014/main" id="{741B5521-2C78-40C9-8D98-C55BD941FEA2}"/>
              </a:ext>
            </a:extLst>
          </p:cNvPr>
          <p:cNvSpPr>
            <a:spLocks xmlns:a="http://schemas.openxmlformats.org/drawingml/2006/main" noGrp="1"/>
          </p:cNvSpPr>
          <p:nvPr/>
        </p:nvSpPr>
        <p:spPr>
          <a:xfrm xmlns:a="http://schemas.openxmlformats.org/drawingml/2006/main">
            <a:off x="876300" y="37338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F4A9B8"/>
                </a:solidFill>
              </a:defRPr>
            </a:pPr>
            <a:r>
              <a:rPr sz="1800" b="1">
                <a:solidFill>
                  <a:srgbClr val="F4A9B8"/>
                </a:solidFill>
              </a:rPr>
              <a:t>03</a:t>
            </a:r>
          </a:p>
        </p:txBody>
      </p:sp>
      <p:sp>
        <p:nvSpPr>
          <p:cNvPr id="8" name="">
            <a:extLst xmlns:a="http://schemas.openxmlformats.org/drawingml/2006/main">
              <a:ext uri="{FF2B5EF4-FFF2-40B4-BE49-F238E27FC236}">
                <a16:creationId xmlns:a16="http://schemas.microsoft.com/office/drawing/2014/main" id="{017BBC72-1D4B-4AE4-AD79-CE3A48703266}"/>
              </a:ext>
            </a:extLst>
          </p:cNvPr>
          <p:cNvSpPr>
            <a:spLocks xmlns:a="http://schemas.openxmlformats.org/drawingml/2006/main" noGrp="1"/>
          </p:cNvSpPr>
          <p:nvPr/>
        </p:nvSpPr>
        <p:spPr>
          <a:xfrm xmlns:a="http://schemas.openxmlformats.org/drawingml/2006/main">
            <a:off x="1638300" y="37338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a:solidFill>
                  <a:srgbClr val="FFFFFF"/>
                </a:solidFill>
              </a:defRPr>
            </a:pPr>
            <a:r>
              <a:rPr sz="1725">
                <a:solidFill>
                  <a:srgbClr val="FFFFFF"/>
                </a:solidFill>
              </a:rPr>
              <a:t>What makes rendered light look consistent across a form?</a:t>
            </a:r>
          </a:p>
        </p:txBody>
      </p:sp>
      <p:sp>
        <p:nvSpPr>
          <p:cNvPr id="9" name="">
            <a:extLst xmlns:a="http://schemas.openxmlformats.org/drawingml/2006/main">
              <a:ext uri="{FF2B5EF4-FFF2-40B4-BE49-F238E27FC236}">
                <a16:creationId xmlns:a16="http://schemas.microsoft.com/office/drawing/2014/main" id="{466AD10E-5DE4-4D56-9624-1D29E3237E2A}"/>
              </a:ext>
            </a:extLst>
          </p:cNvPr>
          <p:cNvSpPr>
            <a:spLocks xmlns:a="http://schemas.openxmlformats.org/drawingml/2006/main" noGrp="1"/>
          </p:cNvSpPr>
          <p:nvPr/>
        </p:nvSpPr>
        <p:spPr>
          <a:xfrm xmlns:a="http://schemas.openxmlformats.org/drawingml/2006/main">
            <a:off x="876300" y="46101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F4A9B8"/>
                </a:solidFill>
              </a:defRPr>
            </a:pPr>
            <a:r>
              <a:rPr sz="1800" b="1">
                <a:solidFill>
                  <a:srgbClr val="F4A9B8"/>
                </a:solidFill>
              </a:rPr>
              <a:t>04</a:t>
            </a:r>
          </a:p>
        </p:txBody>
      </p:sp>
      <p:sp>
        <p:nvSpPr>
          <p:cNvPr id="10" name="">
            <a:extLst xmlns:a="http://schemas.openxmlformats.org/drawingml/2006/main">
              <a:ext uri="{FF2B5EF4-FFF2-40B4-BE49-F238E27FC236}">
                <a16:creationId xmlns:a16="http://schemas.microsoft.com/office/drawing/2014/main" id="{DF40B510-2FC2-4457-86B7-ABB6CF5BF00D}"/>
              </a:ext>
            </a:extLst>
          </p:cNvPr>
          <p:cNvSpPr>
            <a:spLocks xmlns:a="http://schemas.openxmlformats.org/drawingml/2006/main" noGrp="1"/>
          </p:cNvSpPr>
          <p:nvPr/>
        </p:nvSpPr>
        <p:spPr>
          <a:xfrm xmlns:a="http://schemas.openxmlformats.org/drawingml/2006/main">
            <a:off x="1638300" y="46101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a:solidFill>
                  <a:srgbClr val="FFFFFF"/>
                </a:solidFill>
              </a:defRPr>
            </a:pPr>
            <a:r>
              <a:rPr sz="1725">
                <a:solidFill>
                  <a:srgbClr val="FFFFFF"/>
                </a:solidFill>
              </a:rPr>
              <a:t>Why can one view or one dimension be insufficient?</a:t>
            </a:r>
          </a:p>
        </p:txBody>
      </p:sp>
      <p:sp>
        <p:nvSpPr>
          <p:cNvPr id="11" name="">
            <a:extLst xmlns:a="http://schemas.openxmlformats.org/drawingml/2006/main">
              <a:ext uri="{FF2B5EF4-FFF2-40B4-BE49-F238E27FC236}">
                <a16:creationId xmlns:a16="http://schemas.microsoft.com/office/drawing/2014/main" id="{A3418E66-F0C4-4C2E-88FF-573AEB422A4F}"/>
              </a:ext>
            </a:extLst>
          </p:cNvPr>
          <p:cNvSpPr>
            <a:spLocks xmlns:a="http://schemas.openxmlformats.org/drawingml/2006/main" noGrp="1"/>
          </p:cNvSpPr>
          <p:nvPr/>
        </p:nvSpPr>
        <p:spPr>
          <a:xfrm xmlns:a="http://schemas.openxmlformats.org/drawingml/2006/main">
            <a:off x="1638300" y="5676900"/>
            <a:ext cx="902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4A9B8"/>
                </a:solidFill>
              </a:defRPr>
            </a:pPr>
            <a:r>
              <a:rPr sz="1350" b="1">
                <a:solidFill>
                  <a:srgbClr val="F4A9B8"/>
                </a:solidFill>
              </a:rPr>
              <a:t>Check: can your partner point to the slide evidence that supports the answer?</a:t>
            </a:r>
          </a:p>
        </p:txBody>
      </p:sp>
      <p:sp>
        <p:nvSpPr>
          <p:cNvPr id="12" name="">
            <a:extLst xmlns:a="http://schemas.openxmlformats.org/drawingml/2006/main">
              <a:ext uri="{FF2B5EF4-FFF2-40B4-BE49-F238E27FC236}">
                <a16:creationId xmlns:a16="http://schemas.microsoft.com/office/drawing/2014/main" id="{255AA224-92AA-4491-ACFF-2A94C1D7F0C5}"/>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FA4497B-49CC-4DC0-95A3-F39EDE3A4346}"/>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1</a:t>
            </a:r>
          </a:p>
        </p:txBody>
      </p:sp>
      <p:sp>
        <p:nvSpPr>
          <p:cNvPr id="14" name="">
            <a:extLst xmlns:a="http://schemas.openxmlformats.org/drawingml/2006/main">
              <a:ext uri="{FF2B5EF4-FFF2-40B4-BE49-F238E27FC236}">
                <a16:creationId xmlns:a16="http://schemas.microsoft.com/office/drawing/2014/main" id="{C7CEE990-CC61-4087-BE6B-D1ACD06603DC}"/>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06</a:t>
            </a:r>
          </a:p>
        </p:txBody>
      </p:sp>
    </p:spTree>
    <p:extLst>
      <p:ext uri="{BB962C8B-B14F-4D97-AF65-F5344CB8AC3E}">
        <p14:creationId xmlns:p14="http://schemas.microsoft.com/office/powerpoint/2010/main" val="18603599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79ABA12-56AC-487B-9862-A5DAEA2204EE}"/>
              </a:ext>
            </a:extLst>
          </p:cNvPr>
          <p:cNvSpPr>
            <a:spLocks xmlns:a="http://schemas.openxmlformats.org/drawingml/2006/main" noGrp="1"/>
          </p:cNvSpPr>
          <p:nvPr/>
        </p:nvSpPr>
        <p:spPr>
          <a:xfrm xmlns:a="http://schemas.openxmlformats.org/drawingml/2006/main">
            <a:off x="685800" y="5334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850" b="1">
                <a:solidFill>
                  <a:srgbClr val="3B1118"/>
                </a:solidFill>
              </a:defRPr>
            </a:pPr>
            <a:r>
              <a:rPr sz="2850" b="1">
                <a:solidFill>
                  <a:srgbClr val="3B1118"/>
                </a:solidFill>
              </a:rPr>
              <a:t>Build evidence: Read → Select → Explain → Check</a:t>
            </a:r>
          </a:p>
        </p:txBody>
      </p:sp>
      <p:sp>
        <p:nvSpPr>
          <p:cNvPr id="2" name="">
            <a:extLst xmlns:a="http://schemas.openxmlformats.org/drawingml/2006/main">
              <a:ext uri="{FF2B5EF4-FFF2-40B4-BE49-F238E27FC236}">
                <a16:creationId xmlns:a16="http://schemas.microsoft.com/office/drawing/2014/main" id="{4C0FA5E0-3B88-42D3-92E9-456B15CA9B63}"/>
              </a:ext>
            </a:extLst>
          </p:cNvPr>
          <p:cNvSpPr>
            <a:spLocks xmlns:a="http://schemas.openxmlformats.org/drawingml/2006/main" noGrp="1"/>
          </p:cNvSpPr>
          <p:nvPr/>
        </p:nvSpPr>
        <p:spPr>
          <a:xfrm xmlns:a="http://schemas.openxmlformats.org/drawingml/2006/main">
            <a:off x="6858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C998AA85-519C-4F19-BF96-5C7C035B94D9}"/>
              </a:ext>
            </a:extLst>
          </p:cNvPr>
          <p:cNvSpPr>
            <a:spLocks xmlns:a="http://schemas.openxmlformats.org/drawingml/2006/main" noGrp="1"/>
          </p:cNvSpPr>
          <p:nvPr/>
        </p:nvSpPr>
        <p:spPr>
          <a:xfrm xmlns:a="http://schemas.openxmlformats.org/drawingml/2006/main">
            <a:off x="8953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READ</a:t>
            </a:r>
          </a:p>
        </p:txBody>
      </p:sp>
      <p:sp>
        <p:nvSpPr>
          <p:cNvPr id="4" name="">
            <a:extLst xmlns:a="http://schemas.openxmlformats.org/drawingml/2006/main">
              <a:ext uri="{FF2B5EF4-FFF2-40B4-BE49-F238E27FC236}">
                <a16:creationId xmlns:a16="http://schemas.microsoft.com/office/drawing/2014/main" id="{136B4490-F198-487E-9098-13238AC2D9CE}"/>
              </a:ext>
            </a:extLst>
          </p:cNvPr>
          <p:cNvSpPr>
            <a:spLocks xmlns:a="http://schemas.openxmlformats.org/drawingml/2006/main" noGrp="1"/>
          </p:cNvSpPr>
          <p:nvPr/>
        </p:nvSpPr>
        <p:spPr>
          <a:xfrm xmlns:a="http://schemas.openxmlformats.org/drawingml/2006/main">
            <a:off x="8953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25171A"/>
                </a:solidFill>
              </a:defRPr>
            </a:pPr>
            <a:r>
              <a:rPr sz="1425">
                <a:solidFill>
                  <a:srgbClr val="25171A"/>
                </a:solidFill>
              </a:rPr>
              <a:t>Name the task, source or view.</a:t>
            </a:r>
          </a:p>
        </p:txBody>
      </p:sp>
      <p:sp>
        <p:nvSpPr>
          <p:cNvPr id="5" name="">
            <a:extLst xmlns:a="http://schemas.openxmlformats.org/drawingml/2006/main">
              <a:ext uri="{FF2B5EF4-FFF2-40B4-BE49-F238E27FC236}">
                <a16:creationId xmlns:a16="http://schemas.microsoft.com/office/drawing/2014/main" id="{B0666DD8-D171-4B29-9C84-20D2F4B9C7D9}"/>
              </a:ext>
            </a:extLst>
          </p:cNvPr>
          <p:cNvSpPr>
            <a:spLocks xmlns:a="http://schemas.openxmlformats.org/drawingml/2006/main" noGrp="1"/>
          </p:cNvSpPr>
          <p:nvPr/>
        </p:nvSpPr>
        <p:spPr>
          <a:xfrm xmlns:a="http://schemas.openxmlformats.org/drawingml/2006/main">
            <a:off x="30384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8B2433"/>
                </a:solidFill>
              </a:defRPr>
            </a:pPr>
            <a:r>
              <a:rPr sz="2250" b="1">
                <a:solidFill>
                  <a:srgbClr val="8B2433"/>
                </a:solidFill>
              </a:rPr>
              <a:t>→</a:t>
            </a:r>
          </a:p>
        </p:txBody>
      </p:sp>
      <p:sp>
        <p:nvSpPr>
          <p:cNvPr id="6" name="">
            <a:extLst xmlns:a="http://schemas.openxmlformats.org/drawingml/2006/main">
              <a:ext uri="{FF2B5EF4-FFF2-40B4-BE49-F238E27FC236}">
                <a16:creationId xmlns:a16="http://schemas.microsoft.com/office/drawing/2014/main" id="{F67DCA10-573D-429B-9080-C5E4D22062BF}"/>
              </a:ext>
            </a:extLst>
          </p:cNvPr>
          <p:cNvSpPr>
            <a:spLocks xmlns:a="http://schemas.openxmlformats.org/drawingml/2006/main" noGrp="1"/>
          </p:cNvSpPr>
          <p:nvPr/>
        </p:nvSpPr>
        <p:spPr>
          <a:xfrm xmlns:a="http://schemas.openxmlformats.org/drawingml/2006/main">
            <a:off x="34671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7" name="">
            <a:extLst xmlns:a="http://schemas.openxmlformats.org/drawingml/2006/main">
              <a:ext uri="{FF2B5EF4-FFF2-40B4-BE49-F238E27FC236}">
                <a16:creationId xmlns:a16="http://schemas.microsoft.com/office/drawing/2014/main" id="{356073AC-BBF3-4BAE-B17E-342A9E3A2A8D}"/>
              </a:ext>
            </a:extLst>
          </p:cNvPr>
          <p:cNvSpPr>
            <a:spLocks xmlns:a="http://schemas.openxmlformats.org/drawingml/2006/main" noGrp="1"/>
          </p:cNvSpPr>
          <p:nvPr/>
        </p:nvSpPr>
        <p:spPr>
          <a:xfrm xmlns:a="http://schemas.openxmlformats.org/drawingml/2006/main">
            <a:off x="36766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SELECT</a:t>
            </a:r>
          </a:p>
        </p:txBody>
      </p:sp>
      <p:sp>
        <p:nvSpPr>
          <p:cNvPr id="8" name="">
            <a:extLst xmlns:a="http://schemas.openxmlformats.org/drawingml/2006/main">
              <a:ext uri="{FF2B5EF4-FFF2-40B4-BE49-F238E27FC236}">
                <a16:creationId xmlns:a16="http://schemas.microsoft.com/office/drawing/2014/main" id="{0A7F525A-7FF5-4E66-BB32-AA3C9AE27FFB}"/>
              </a:ext>
            </a:extLst>
          </p:cNvPr>
          <p:cNvSpPr>
            <a:spLocks xmlns:a="http://schemas.openxmlformats.org/drawingml/2006/main" noGrp="1"/>
          </p:cNvSpPr>
          <p:nvPr/>
        </p:nvSpPr>
        <p:spPr>
          <a:xfrm xmlns:a="http://schemas.openxmlformats.org/drawingml/2006/main">
            <a:off x="36766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25171A"/>
                </a:solidFill>
              </a:defRPr>
            </a:pPr>
            <a:r>
              <a:rPr sz="1425">
                <a:solidFill>
                  <a:srgbClr val="25171A"/>
                </a:solidFill>
              </a:rPr>
              <a:t>Choose one drawing or relationship.</a:t>
            </a:r>
          </a:p>
        </p:txBody>
      </p:sp>
      <p:sp>
        <p:nvSpPr>
          <p:cNvPr id="9" name="">
            <a:extLst xmlns:a="http://schemas.openxmlformats.org/drawingml/2006/main">
              <a:ext uri="{FF2B5EF4-FFF2-40B4-BE49-F238E27FC236}">
                <a16:creationId xmlns:a16="http://schemas.microsoft.com/office/drawing/2014/main" id="{707603C8-6841-4FBC-B16F-AFB68CAB1743}"/>
              </a:ext>
            </a:extLst>
          </p:cNvPr>
          <p:cNvSpPr>
            <a:spLocks xmlns:a="http://schemas.openxmlformats.org/drawingml/2006/main" noGrp="1"/>
          </p:cNvSpPr>
          <p:nvPr/>
        </p:nvSpPr>
        <p:spPr>
          <a:xfrm xmlns:a="http://schemas.openxmlformats.org/drawingml/2006/main">
            <a:off x="58197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8B2433"/>
                </a:solidFill>
              </a:defRPr>
            </a:pPr>
            <a:r>
              <a:rPr sz="2250" b="1">
                <a:solidFill>
                  <a:srgbClr val="8B2433"/>
                </a:solidFill>
              </a:rPr>
              <a:t>→</a:t>
            </a:r>
          </a:p>
        </p:txBody>
      </p:sp>
      <p:sp>
        <p:nvSpPr>
          <p:cNvPr id="10" name="">
            <a:extLst xmlns:a="http://schemas.openxmlformats.org/drawingml/2006/main">
              <a:ext uri="{FF2B5EF4-FFF2-40B4-BE49-F238E27FC236}">
                <a16:creationId xmlns:a16="http://schemas.microsoft.com/office/drawing/2014/main" id="{C95326E2-84E4-4921-B082-A426A124ABA0}"/>
              </a:ext>
            </a:extLst>
          </p:cNvPr>
          <p:cNvSpPr>
            <a:spLocks xmlns:a="http://schemas.openxmlformats.org/drawingml/2006/main" noGrp="1"/>
          </p:cNvSpPr>
          <p:nvPr/>
        </p:nvSpPr>
        <p:spPr>
          <a:xfrm xmlns:a="http://schemas.openxmlformats.org/drawingml/2006/main">
            <a:off x="6248400" y="1752600"/>
            <a:ext cx="2324100" cy="1676400"/>
          </a:xfrm>
          <a:prstGeom xmlns:a="http://schemas.openxmlformats.org/drawingml/2006/main" prst="roundRect">
            <a:avLst>
              <a:gd name="adj" fmla="val 9091"/>
            </a:avLst>
          </a:prstGeom>
          <a:solidFill xmlns:a="http://schemas.openxmlformats.org/drawingml/2006/main">
            <a:srgbClr val="FBEAEC"/>
          </a:solidFill>
          <a:ln xmlns:a="http://schemas.openxmlformats.org/drawingml/2006/main" w="19050">
            <a:solidFill>
              <a:srgbClr val="8B2433"/>
            </a:solidFill>
            <a:prstDash val="solid"/>
          </a:ln>
        </p:spPr>
      </p:sp>
      <p:sp>
        <p:nvSpPr>
          <p:cNvPr id="11" name="">
            <a:extLst xmlns:a="http://schemas.openxmlformats.org/drawingml/2006/main">
              <a:ext uri="{FF2B5EF4-FFF2-40B4-BE49-F238E27FC236}">
                <a16:creationId xmlns:a16="http://schemas.microsoft.com/office/drawing/2014/main" id="{E526AA70-389F-47EF-86AA-41D12B7C519D}"/>
              </a:ext>
            </a:extLst>
          </p:cNvPr>
          <p:cNvSpPr>
            <a:spLocks xmlns:a="http://schemas.openxmlformats.org/drawingml/2006/main" noGrp="1"/>
          </p:cNvSpPr>
          <p:nvPr/>
        </p:nvSpPr>
        <p:spPr>
          <a:xfrm xmlns:a="http://schemas.openxmlformats.org/drawingml/2006/main">
            <a:off x="64579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EXPLAIN</a:t>
            </a:r>
          </a:p>
        </p:txBody>
      </p:sp>
      <p:sp>
        <p:nvSpPr>
          <p:cNvPr id="12" name="">
            <a:extLst xmlns:a="http://schemas.openxmlformats.org/drawingml/2006/main">
              <a:ext uri="{FF2B5EF4-FFF2-40B4-BE49-F238E27FC236}">
                <a16:creationId xmlns:a16="http://schemas.microsoft.com/office/drawing/2014/main" id="{3D22941B-5FD5-44C6-B836-CB94A1504D95}"/>
              </a:ext>
            </a:extLst>
          </p:cNvPr>
          <p:cNvSpPr>
            <a:spLocks xmlns:a="http://schemas.openxmlformats.org/drawingml/2006/main" noGrp="1"/>
          </p:cNvSpPr>
          <p:nvPr/>
        </p:nvSpPr>
        <p:spPr>
          <a:xfrm xmlns:a="http://schemas.openxmlformats.org/drawingml/2006/main">
            <a:off x="64579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25171A"/>
                </a:solidFill>
              </a:defRPr>
            </a:pPr>
            <a:r>
              <a:rPr sz="1425">
                <a:solidFill>
                  <a:srgbClr val="25171A"/>
                </a:solidFill>
              </a:rPr>
              <a:t>State what it communicates and why.</a:t>
            </a:r>
          </a:p>
        </p:txBody>
      </p:sp>
      <p:sp>
        <p:nvSpPr>
          <p:cNvPr id="13" name="">
            <a:extLst xmlns:a="http://schemas.openxmlformats.org/drawingml/2006/main">
              <a:ext uri="{FF2B5EF4-FFF2-40B4-BE49-F238E27FC236}">
                <a16:creationId xmlns:a16="http://schemas.microsoft.com/office/drawing/2014/main" id="{51563BBC-C2CB-469E-AD25-915DA724C90A}"/>
              </a:ext>
            </a:extLst>
          </p:cNvPr>
          <p:cNvSpPr>
            <a:spLocks xmlns:a="http://schemas.openxmlformats.org/drawingml/2006/main" noGrp="1"/>
          </p:cNvSpPr>
          <p:nvPr/>
        </p:nvSpPr>
        <p:spPr>
          <a:xfrm xmlns:a="http://schemas.openxmlformats.org/drawingml/2006/main">
            <a:off x="86010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8B2433"/>
                </a:solidFill>
              </a:defRPr>
            </a:pPr>
            <a:r>
              <a:rPr sz="2250" b="1">
                <a:solidFill>
                  <a:srgbClr val="8B2433"/>
                </a:solidFill>
              </a:rPr>
              <a:t>→</a:t>
            </a:r>
          </a:p>
        </p:txBody>
      </p:sp>
      <p:sp>
        <p:nvSpPr>
          <p:cNvPr id="14" name="">
            <a:extLst xmlns:a="http://schemas.openxmlformats.org/drawingml/2006/main">
              <a:ext uri="{FF2B5EF4-FFF2-40B4-BE49-F238E27FC236}">
                <a16:creationId xmlns:a16="http://schemas.microsoft.com/office/drawing/2014/main" id="{854F460E-A298-4C24-BC85-28F7B9AA6628}"/>
              </a:ext>
            </a:extLst>
          </p:cNvPr>
          <p:cNvSpPr>
            <a:spLocks xmlns:a="http://schemas.openxmlformats.org/drawingml/2006/main" noGrp="1"/>
          </p:cNvSpPr>
          <p:nvPr/>
        </p:nvSpPr>
        <p:spPr>
          <a:xfrm xmlns:a="http://schemas.openxmlformats.org/drawingml/2006/main">
            <a:off x="90297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15" name="">
            <a:extLst xmlns:a="http://schemas.openxmlformats.org/drawingml/2006/main">
              <a:ext uri="{FF2B5EF4-FFF2-40B4-BE49-F238E27FC236}">
                <a16:creationId xmlns:a16="http://schemas.microsoft.com/office/drawing/2014/main" id="{7AFFCBB6-1220-4927-81B8-BFAA485FE83A}"/>
              </a:ext>
            </a:extLst>
          </p:cNvPr>
          <p:cNvSpPr>
            <a:spLocks xmlns:a="http://schemas.openxmlformats.org/drawingml/2006/main" noGrp="1"/>
          </p:cNvSpPr>
          <p:nvPr/>
        </p:nvSpPr>
        <p:spPr>
          <a:xfrm xmlns:a="http://schemas.openxmlformats.org/drawingml/2006/main">
            <a:off x="92392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CHECK</a:t>
            </a:r>
          </a:p>
        </p:txBody>
      </p:sp>
      <p:sp>
        <p:nvSpPr>
          <p:cNvPr id="16" name="">
            <a:extLst xmlns:a="http://schemas.openxmlformats.org/drawingml/2006/main">
              <a:ext uri="{FF2B5EF4-FFF2-40B4-BE49-F238E27FC236}">
                <a16:creationId xmlns:a16="http://schemas.microsoft.com/office/drawing/2014/main" id="{26D731B5-E9B3-411D-87CB-F06A246684C8}"/>
              </a:ext>
            </a:extLst>
          </p:cNvPr>
          <p:cNvSpPr>
            <a:spLocks xmlns:a="http://schemas.openxmlformats.org/drawingml/2006/main" noGrp="1"/>
          </p:cNvSpPr>
          <p:nvPr/>
        </p:nvSpPr>
        <p:spPr>
          <a:xfrm xmlns:a="http://schemas.openxmlformats.org/drawingml/2006/main">
            <a:off x="92392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25171A"/>
                </a:solidFill>
              </a:defRPr>
            </a:pPr>
            <a:r>
              <a:rPr sz="1425">
                <a:solidFill>
                  <a:srgbClr val="25171A"/>
                </a:solidFill>
              </a:rPr>
              <a:t>Limit the claim to the available evidence.</a:t>
            </a:r>
          </a:p>
        </p:txBody>
      </p:sp>
      <p:sp>
        <p:nvSpPr>
          <p:cNvPr id="17" name="">
            <a:extLst xmlns:a="http://schemas.openxmlformats.org/drawingml/2006/main">
              <a:ext uri="{FF2B5EF4-FFF2-40B4-BE49-F238E27FC236}">
                <a16:creationId xmlns:a16="http://schemas.microsoft.com/office/drawing/2014/main" id="{C27E17E8-DC14-4389-B99D-BE6BDB6D3868}"/>
              </a:ext>
            </a:extLst>
          </p:cNvPr>
          <p:cNvSpPr>
            <a:spLocks xmlns:a="http://schemas.openxmlformats.org/drawingml/2006/main" noGrp="1"/>
          </p:cNvSpPr>
          <p:nvPr/>
        </p:nvSpPr>
        <p:spPr>
          <a:xfrm xmlns:a="http://schemas.openxmlformats.org/drawingml/2006/main">
            <a:off x="1257300" y="4114800"/>
            <a:ext cx="9677400" cy="1295400"/>
          </a:xfrm>
          <a:prstGeom xmlns:a="http://schemas.openxmlformats.org/drawingml/2006/main" prst="roundRect">
            <a:avLst>
              <a:gd name="adj" fmla="val 11765"/>
            </a:avLst>
          </a:prstGeom>
          <a:solidFill xmlns:a="http://schemas.openxmlformats.org/drawingml/2006/main">
            <a:srgbClr val="3B111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0A02BB-6686-45A6-B788-2A5AC906A54C}"/>
              </a:ext>
            </a:extLst>
          </p:cNvPr>
          <p:cNvSpPr>
            <a:spLocks xmlns:a="http://schemas.openxmlformats.org/drawingml/2006/main" noGrp="1"/>
          </p:cNvSpPr>
          <p:nvPr/>
        </p:nvSpPr>
        <p:spPr>
          <a:xfrm xmlns:a="http://schemas.openxmlformats.org/drawingml/2006/main">
            <a:off x="1562100" y="43434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4A9B8"/>
                </a:solidFill>
              </a:defRPr>
            </a:pPr>
            <a:r>
              <a:rPr sz="1350" b="1">
                <a:solidFill>
                  <a:srgbClr val="F4A9B8"/>
                </a:solidFill>
              </a:rPr>
              <a:t>Sentence support</a:t>
            </a:r>
          </a:p>
        </p:txBody>
      </p:sp>
      <p:sp>
        <p:nvSpPr>
          <p:cNvPr id="19" name="">
            <a:extLst xmlns:a="http://schemas.openxmlformats.org/drawingml/2006/main">
              <a:ext uri="{FF2B5EF4-FFF2-40B4-BE49-F238E27FC236}">
                <a16:creationId xmlns:a16="http://schemas.microsoft.com/office/drawing/2014/main" id="{FA088DAE-22C4-407E-9563-BA5DA0C1C312}"/>
              </a:ext>
            </a:extLst>
          </p:cNvPr>
          <p:cNvSpPr>
            <a:spLocks xmlns:a="http://schemas.openxmlformats.org/drawingml/2006/main" noGrp="1"/>
          </p:cNvSpPr>
          <p:nvPr/>
        </p:nvSpPr>
        <p:spPr>
          <a:xfrm xmlns:a="http://schemas.openxmlformats.org/drawingml/2006/main">
            <a:off x="1562100" y="47244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The drawing communicates ___ because ___. The view or line evidence is ___. I still need to check ___ before claiming ___.</a:t>
            </a:r>
          </a:p>
        </p:txBody>
      </p:sp>
      <p:sp>
        <p:nvSpPr>
          <p:cNvPr id="20" name="">
            <a:extLst xmlns:a="http://schemas.openxmlformats.org/drawingml/2006/main">
              <a:ext uri="{FF2B5EF4-FFF2-40B4-BE49-F238E27FC236}">
                <a16:creationId xmlns:a16="http://schemas.microsoft.com/office/drawing/2014/main" id="{486E3BDC-CA52-40BD-B5F1-0FD3110D5A60}"/>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D66E9F7-0288-4DB9-8835-0FD82FDC3463}"/>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1</a:t>
            </a:r>
          </a:p>
        </p:txBody>
      </p:sp>
      <p:sp>
        <p:nvSpPr>
          <p:cNvPr id="22" name="">
            <a:extLst xmlns:a="http://schemas.openxmlformats.org/drawingml/2006/main">
              <a:ext uri="{FF2B5EF4-FFF2-40B4-BE49-F238E27FC236}">
                <a16:creationId xmlns:a16="http://schemas.microsoft.com/office/drawing/2014/main" id="{1F241ACA-3906-4AF4-B440-B8D552858319}"/>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07</a:t>
            </a:r>
          </a:p>
        </p:txBody>
      </p:sp>
    </p:spTree>
    <p:extLst>
      <p:ext uri="{BB962C8B-B14F-4D97-AF65-F5344CB8AC3E}">
        <p14:creationId xmlns:p14="http://schemas.microsoft.com/office/powerpoint/2010/main" val="1935125373"/>
      </p:ext>
    </p:extLst>
  </p:cSld>
</p:sld>
</file>

<file path=ppt/slides/slide8.xml><?xml version="1.0" encoding="utf-8"?>
<p:sld xmlns:p="http://schemas.openxmlformats.org/presentationml/2006/main">
  <p:cSld>
    <p:bg>
      <p:bgPr>
        <a:solidFill xmlns:a="http://schemas.openxmlformats.org/drawingml/2006/main">
          <a:srgbClr val="FBEA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B22ED00-11EA-43F3-A1D6-0E3669443558}"/>
              </a:ext>
            </a:extLst>
          </p:cNvPr>
          <p:cNvSpPr>
            <a:spLocks xmlns:a="http://schemas.openxmlformats.org/drawingml/2006/main" noGrp="1"/>
          </p:cNvSpPr>
          <p:nvPr/>
        </p:nvSpPr>
        <p:spPr>
          <a:xfrm xmlns:a="http://schemas.openxmlformats.org/drawingml/2006/main">
            <a:off x="0" y="0"/>
            <a:ext cx="2781300" cy="6858000"/>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8209BF-9D1C-45D0-A1A2-38AFE98532A1}"/>
              </a:ext>
            </a:extLst>
          </p:cNvPr>
          <p:cNvSpPr>
            <a:spLocks xmlns:a="http://schemas.openxmlformats.org/drawingml/2006/main" noGrp="1"/>
          </p:cNvSpPr>
          <p:nvPr/>
        </p:nvSpPr>
        <p:spPr>
          <a:xfrm xmlns:a="http://schemas.openxmlformats.org/drawingml/2006/main">
            <a:off x="552450" y="8572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D8DF"/>
                </a:solidFill>
              </a:defRPr>
            </a:pPr>
            <a:r>
              <a:rPr sz="1275" b="1">
                <a:solidFill>
                  <a:srgbClr val="FFD8DF"/>
                </a:solidFill>
              </a:rPr>
              <a:t>MODULE 1</a:t>
            </a:r>
          </a:p>
        </p:txBody>
      </p:sp>
      <p:sp>
        <p:nvSpPr>
          <p:cNvPr id="3" name="">
            <a:extLst xmlns:a="http://schemas.openxmlformats.org/drawingml/2006/main">
              <a:ext uri="{FF2B5EF4-FFF2-40B4-BE49-F238E27FC236}">
                <a16:creationId xmlns:a16="http://schemas.microsoft.com/office/drawing/2014/main" id="{450DD0A6-99F4-467E-8697-61AFBD2B0FA7}"/>
              </a:ext>
            </a:extLst>
          </p:cNvPr>
          <p:cNvSpPr>
            <a:spLocks xmlns:a="http://schemas.openxmlformats.org/drawingml/2006/main" noGrp="1"/>
          </p:cNvSpPr>
          <p:nvPr/>
        </p:nvSpPr>
        <p:spPr>
          <a:xfrm xmlns:a="http://schemas.openxmlformats.org/drawingml/2006/main">
            <a:off x="457200" y="1676400"/>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4350" b="1">
                <a:solidFill>
                  <a:srgbClr val="FFFFFF"/>
                </a:solidFill>
              </a:defRPr>
            </a:pPr>
            <a:r>
              <a:rPr sz="4350" b="1">
                <a:solidFill>
                  <a:srgbClr val="FFFFFF"/>
                </a:solidFill>
              </a:rPr>
              <a:t>EXIT</a:t>
            </a:r>
          </a:p>
        </p:txBody>
      </p:sp>
      <p:sp>
        <p:nvSpPr>
          <p:cNvPr id="4" name="">
            <a:extLst xmlns:a="http://schemas.openxmlformats.org/drawingml/2006/main">
              <a:ext uri="{FF2B5EF4-FFF2-40B4-BE49-F238E27FC236}">
                <a16:creationId xmlns:a16="http://schemas.microsoft.com/office/drawing/2014/main" id="{A5896075-AFBC-4694-944D-0FE1CB2AE995}"/>
              </a:ext>
            </a:extLst>
          </p:cNvPr>
          <p:cNvSpPr>
            <a:spLocks xmlns:a="http://schemas.openxmlformats.org/drawingml/2006/main" noGrp="1"/>
          </p:cNvSpPr>
          <p:nvPr/>
        </p:nvSpPr>
        <p:spPr>
          <a:xfrm xmlns:a="http://schemas.openxmlformats.org/drawingml/2006/main">
            <a:off x="361950" y="24003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FFFFF"/>
                </a:solidFill>
              </a:defRPr>
            </a:pPr>
            <a:r>
              <a:rPr sz="1950" b="1">
                <a:solidFill>
                  <a:srgbClr val="FFFFFF"/>
                </a:solidFill>
              </a:rPr>
              <a:t>EVIDENCE</a:t>
            </a:r>
          </a:p>
        </p:txBody>
      </p:sp>
      <p:sp>
        <p:nvSpPr>
          <p:cNvPr id="5" name="">
            <a:extLst xmlns:a="http://schemas.openxmlformats.org/drawingml/2006/main">
              <a:ext uri="{FF2B5EF4-FFF2-40B4-BE49-F238E27FC236}">
                <a16:creationId xmlns:a16="http://schemas.microsoft.com/office/drawing/2014/main" id="{56303855-CA31-450B-B6FD-0E0B8CAE0C66}"/>
              </a:ext>
            </a:extLst>
          </p:cNvPr>
          <p:cNvSpPr>
            <a:spLocks xmlns:a="http://schemas.openxmlformats.org/drawingml/2006/main" noGrp="1"/>
          </p:cNvSpPr>
          <p:nvPr/>
        </p:nvSpPr>
        <p:spPr>
          <a:xfrm xmlns:a="http://schemas.openxmlformats.org/drawingml/2006/main">
            <a:off x="3390900" y="97155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3B1118"/>
                </a:solidFill>
              </a:defRPr>
            </a:pPr>
            <a:r>
              <a:rPr sz="1950" b="1">
                <a:solidFill>
                  <a:srgbClr val="3B1118"/>
                </a:solidFill>
              </a:rPr>
              <a:t>1  One foundation I can now explain</a:t>
            </a:r>
          </a:p>
        </p:txBody>
      </p:sp>
      <p:sp>
        <p:nvSpPr>
          <p:cNvPr id="6" name="">
            <a:extLst xmlns:a="http://schemas.openxmlformats.org/drawingml/2006/main">
              <a:ext uri="{FF2B5EF4-FFF2-40B4-BE49-F238E27FC236}">
                <a16:creationId xmlns:a16="http://schemas.microsoft.com/office/drawing/2014/main" id="{41DFF8F4-12C0-46A6-9A46-0A0BE07F7129}"/>
              </a:ext>
            </a:extLst>
          </p:cNvPr>
          <p:cNvSpPr>
            <a:spLocks xmlns:a="http://schemas.openxmlformats.org/drawingml/2006/main" noGrp="1"/>
          </p:cNvSpPr>
          <p:nvPr/>
        </p:nvSpPr>
        <p:spPr>
          <a:xfrm xmlns:a="http://schemas.openxmlformats.org/drawingml/2006/main">
            <a:off x="3390900" y="1847850"/>
            <a:ext cx="7620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3B1118"/>
                </a:solidFill>
              </a:defRPr>
            </a:pPr>
            <a:r>
              <a:rPr sz="1950" b="1">
                <a:solidFill>
                  <a:srgbClr val="3B1118"/>
                </a:solidFill>
              </a:rPr>
              <a:t>2  One visual relationship I can point to</a:t>
            </a:r>
          </a:p>
        </p:txBody>
      </p:sp>
      <p:sp>
        <p:nvSpPr>
          <p:cNvPr id="7" name="">
            <a:extLst xmlns:a="http://schemas.openxmlformats.org/drawingml/2006/main">
              <a:ext uri="{FF2B5EF4-FFF2-40B4-BE49-F238E27FC236}">
                <a16:creationId xmlns:a16="http://schemas.microsoft.com/office/drawing/2014/main" id="{EA0B0F9D-CDC2-4EEF-8BFC-E6B0062053CB}"/>
              </a:ext>
            </a:extLst>
          </p:cNvPr>
          <p:cNvSpPr>
            <a:spLocks xmlns:a="http://schemas.openxmlformats.org/drawingml/2006/main" noGrp="1"/>
          </p:cNvSpPr>
          <p:nvPr/>
        </p:nvSpPr>
        <p:spPr>
          <a:xfrm xmlns:a="http://schemas.openxmlformats.org/drawingml/2006/main">
            <a:off x="3390900" y="28765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3B1118"/>
                </a:solidFill>
              </a:defRPr>
            </a:pPr>
            <a:r>
              <a:rPr sz="1950" b="1">
                <a:solidFill>
                  <a:srgbClr val="3B1118"/>
                </a:solidFill>
              </a:rPr>
              <a:t>3  One local or standards claim I must still verify</a:t>
            </a:r>
          </a:p>
        </p:txBody>
      </p:sp>
      <p:sp>
        <p:nvSpPr>
          <p:cNvPr id="8" name="">
            <a:extLst xmlns:a="http://schemas.openxmlformats.org/drawingml/2006/main">
              <a:ext uri="{FF2B5EF4-FFF2-40B4-BE49-F238E27FC236}">
                <a16:creationId xmlns:a16="http://schemas.microsoft.com/office/drawing/2014/main" id="{CA6D710B-B42F-4C24-9157-1862C75E3383}"/>
              </a:ext>
            </a:extLst>
          </p:cNvPr>
          <p:cNvSpPr>
            <a:spLocks xmlns:a="http://schemas.openxmlformats.org/drawingml/2006/main" noGrp="1"/>
          </p:cNvSpPr>
          <p:nvPr/>
        </p:nvSpPr>
        <p:spPr>
          <a:xfrm xmlns:a="http://schemas.openxmlformats.org/drawingml/2006/main">
            <a:off x="3390900" y="4000500"/>
            <a:ext cx="7505700" cy="13716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D8C9CC"/>
            </a:solidFill>
            <a:prstDash val="solid"/>
          </a:ln>
        </p:spPr>
      </p:sp>
      <p:sp>
        <p:nvSpPr>
          <p:cNvPr id="9" name="">
            <a:extLst xmlns:a="http://schemas.openxmlformats.org/drawingml/2006/main">
              <a:ext uri="{FF2B5EF4-FFF2-40B4-BE49-F238E27FC236}">
                <a16:creationId xmlns:a16="http://schemas.microsoft.com/office/drawing/2014/main" id="{F588D59E-8B3F-4821-B763-DF34AE9743BB}"/>
              </a:ext>
            </a:extLst>
          </p:cNvPr>
          <p:cNvSpPr>
            <a:spLocks xmlns:a="http://schemas.openxmlformats.org/drawingml/2006/main" noGrp="1"/>
          </p:cNvSpPr>
          <p:nvPr/>
        </p:nvSpPr>
        <p:spPr>
          <a:xfrm xmlns:a="http://schemas.openxmlformats.org/drawingml/2006/main">
            <a:off x="3676650" y="4248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SAVE TO MY FOLIO</a:t>
            </a:r>
          </a:p>
        </p:txBody>
      </p:sp>
      <p:sp>
        <p:nvSpPr>
          <p:cNvPr id="10" name="">
            <a:extLst xmlns:a="http://schemas.openxmlformats.org/drawingml/2006/main">
              <a:ext uri="{FF2B5EF4-FFF2-40B4-BE49-F238E27FC236}">
                <a16:creationId xmlns:a16="http://schemas.microsoft.com/office/drawing/2014/main" id="{74D3FF78-C352-47B6-80CB-4863D482FA97}"/>
              </a:ext>
            </a:extLst>
          </p:cNvPr>
          <p:cNvSpPr>
            <a:spLocks xmlns:a="http://schemas.openxmlformats.org/drawingml/2006/main" noGrp="1"/>
          </p:cNvSpPr>
          <p:nvPr/>
        </p:nvSpPr>
        <p:spPr>
          <a:xfrm xmlns:a="http://schemas.openxmlformats.org/drawingml/2006/main">
            <a:off x="3676650" y="4667250"/>
            <a:ext cx="6800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25171A"/>
                </a:solidFill>
              </a:defRPr>
            </a:pPr>
            <a:r>
              <a:rPr sz="1500">
                <a:solidFill>
                  <a:srgbClr val="25171A"/>
                </a:solidFill>
              </a:rPr>
              <a:t>One dated drawing or process image; a caption naming the line, view or rendering decision; and a short reflection explaining what the evidence shows.</a:t>
            </a:r>
          </a:p>
        </p:txBody>
      </p:sp>
      <p:sp>
        <p:nvSpPr>
          <p:cNvPr id="11" name="">
            <a:extLst xmlns:a="http://schemas.openxmlformats.org/drawingml/2006/main">
              <a:ext uri="{FF2B5EF4-FFF2-40B4-BE49-F238E27FC236}">
                <a16:creationId xmlns:a16="http://schemas.microsoft.com/office/drawing/2014/main" id="{CD3A3781-C55E-46F4-8747-731CE9D42FD2}"/>
              </a:ext>
            </a:extLst>
          </p:cNvPr>
          <p:cNvSpPr>
            <a:spLocks xmlns:a="http://schemas.openxmlformats.org/drawingml/2006/main" noGrp="1"/>
          </p:cNvSpPr>
          <p:nvPr/>
        </p:nvSpPr>
        <p:spPr>
          <a:xfrm xmlns:a="http://schemas.openxmlformats.org/drawingml/2006/main">
            <a:off x="3390900" y="5791200"/>
            <a:ext cx="750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66585B"/>
                </a:solidFill>
              </a:defRPr>
            </a:pPr>
            <a:r>
              <a:rPr sz="1350" b="1">
                <a:solidFill>
                  <a:srgbClr val="66585B"/>
                </a:solidFill>
              </a:rPr>
              <a:t>Next: open the matching section package for feedback, then save the stronger response—not every draft.</a:t>
            </a:r>
          </a:p>
        </p:txBody>
      </p:sp>
      <p:sp>
        <p:nvSpPr>
          <p:cNvPr id="12" name="">
            <a:extLst xmlns:a="http://schemas.openxmlformats.org/drawingml/2006/main">
              <a:ext uri="{FF2B5EF4-FFF2-40B4-BE49-F238E27FC236}">
                <a16:creationId xmlns:a16="http://schemas.microsoft.com/office/drawing/2014/main" id="{7EA16D39-717E-450F-8E18-E62A0734B10C}"/>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E2683A2-F252-4E57-B735-EAEF5C3CB0F2}"/>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1</a:t>
            </a:r>
          </a:p>
        </p:txBody>
      </p:sp>
      <p:sp>
        <p:nvSpPr>
          <p:cNvPr id="14" name="">
            <a:extLst xmlns:a="http://schemas.openxmlformats.org/drawingml/2006/main">
              <a:ext uri="{FF2B5EF4-FFF2-40B4-BE49-F238E27FC236}">
                <a16:creationId xmlns:a16="http://schemas.microsoft.com/office/drawing/2014/main" id="{00541E56-E366-4644-9154-C4645198B01F}"/>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08</a:t>
            </a:r>
          </a:p>
        </p:txBody>
      </p:sp>
    </p:spTree>
    <p:extLst>
      <p:ext uri="{BB962C8B-B14F-4D97-AF65-F5344CB8AC3E}">
        <p14:creationId xmlns:p14="http://schemas.microsoft.com/office/powerpoint/2010/main" val="20665788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2026-08-31T02:46:22.9290000Z</dcterms:created>
  <dcterms:modified xsi:type="dcterms:W3CDTF">2026-08-31T02:46:22.9300000Z</dcterms:modified>
</coreProperties>
</file>