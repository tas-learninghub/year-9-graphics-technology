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f44d5e5ec374fd1" /><Relationship Type="http://schemas.openxmlformats.org/officeDocument/2006/relationships/extended-properties" Target="/docProps/app.xml" Id="Ra81635d3ec8c4221" /><Relationship Type="http://schemas.openxmlformats.org/officeDocument/2006/relationships/officeDocument" Target="/ppt/presentation.xml" Id="R10faa52d85f5426e" /></Relationships>
</file>

<file path=ppt/presentation.xml><?xml version="1.0" encoding="utf-8"?>
<p:presentation xmlns:p="http://schemas.openxmlformats.org/presentationml/2006/main">
  <p:sldMasterIdLst>
    <p:sldMasterId xmlns:r="http://schemas.openxmlformats.org/officeDocument/2006/relationships" id="2147483648" r:id="Rfcdc9f3fa6ee4b37"/>
  </p:sldMasterIdLst>
  <p:notesMasterIdLst>
    <p:notesMasterId xmlns:r="http://schemas.openxmlformats.org/officeDocument/2006/relationships" r:id="R2a473d7339a64a08"/>
  </p:notesMasterIdLst>
  <p:sldIdLst>
    <p:sldId xmlns:r="http://schemas.openxmlformats.org/officeDocument/2006/relationships" id="256" r:id="R63c445e11f5e4109"/>
    <p:sldId xmlns:r="http://schemas.openxmlformats.org/officeDocument/2006/relationships" id="257" r:id="Rde6820e5c7904882"/>
    <p:sldId xmlns:r="http://schemas.openxmlformats.org/officeDocument/2006/relationships" id="258" r:id="Radec42ff4c914d50"/>
    <p:sldId xmlns:r="http://schemas.openxmlformats.org/officeDocument/2006/relationships" id="259" r:id="R337715603c374d5f"/>
    <p:sldId xmlns:r="http://schemas.openxmlformats.org/officeDocument/2006/relationships" id="260" r:id="R7d1882348a8f486e"/>
    <p:sldId xmlns:r="http://schemas.openxmlformats.org/officeDocument/2006/relationships" id="261" r:id="R126efe725b974b0f"/>
    <p:sldId xmlns:r="http://schemas.openxmlformats.org/officeDocument/2006/relationships" id="262" r:id="R6765752c27754efc"/>
    <p:sldId xmlns:r="http://schemas.openxmlformats.org/officeDocument/2006/relationships" id="263" r:id="R9ca3729b316142e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fb392e2bf0f4304" /><Relationship Type="http://schemas.openxmlformats.org/officeDocument/2006/relationships/slideMaster" Target="/ppt/slideMasters/slideMaster1.xml" Id="Rfcdc9f3fa6ee4b37" /><Relationship Type="http://schemas.openxmlformats.org/officeDocument/2006/relationships/notesMaster" Target="/ppt/notesMasters/notesMaster1.xml" Id="R2a473d7339a64a08" /><Relationship Type="http://schemas.openxmlformats.org/officeDocument/2006/relationships/presProps" Target="/ppt/presProps.xml" Id="R88191800939d4c33" /><Relationship Type="http://schemas.openxmlformats.org/officeDocument/2006/relationships/tableStyles" Target="/ppt/tableStyles.xml" Id="R96a423f7db1144b2" /><Relationship Type="http://schemas.openxmlformats.org/officeDocument/2006/relationships/slide" Target="/ppt/slides/slide1.xml" Id="R63c445e11f5e4109" /><Relationship Type="http://schemas.openxmlformats.org/officeDocument/2006/relationships/slide" Target="/ppt/slides/slide2.xml" Id="Rde6820e5c7904882" /><Relationship Type="http://schemas.openxmlformats.org/officeDocument/2006/relationships/slide" Target="/ppt/slides/slide3.xml" Id="Radec42ff4c914d50" /><Relationship Type="http://schemas.openxmlformats.org/officeDocument/2006/relationships/slide" Target="/ppt/slides/slide4.xml" Id="R337715603c374d5f" /><Relationship Type="http://schemas.openxmlformats.org/officeDocument/2006/relationships/slide" Target="/ppt/slides/slide5.xml" Id="R7d1882348a8f486e" /><Relationship Type="http://schemas.openxmlformats.org/officeDocument/2006/relationships/slide" Target="/ppt/slides/slide6.xml" Id="R126efe725b974b0f" /><Relationship Type="http://schemas.openxmlformats.org/officeDocument/2006/relationships/slide" Target="/ppt/slides/slide7.xml" Id="R6765752c27754efc" /><Relationship Type="http://schemas.openxmlformats.org/officeDocument/2006/relationships/slide" Target="/ppt/slides/slide8.xml" Id="R9ca3729b316142e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19d38ab94e3420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b85633356054d55" /><Relationship Type="http://schemas.openxmlformats.org/officeDocument/2006/relationships/notesMaster" Target="/ppt/notesMasters/notesMaster1.xml" Id="R80f7bb3a801c4d9f" /></Relationships>
</file>

<file path=ppt/notesSlides/_rels/notesSlide2.xml.rels>&#65279;<?xml version="1.0" encoding="utf-8"?><Relationships xmlns="http://schemas.openxmlformats.org/package/2006/relationships"><Relationship Type="http://schemas.openxmlformats.org/officeDocument/2006/relationships/slide" Target="/ppt/slides/slide2.xml" Id="Rc61cc4b4324f4f6e" /><Relationship Type="http://schemas.openxmlformats.org/officeDocument/2006/relationships/notesMaster" Target="/ppt/notesMasters/notesMaster1.xml" Id="R9a3dd2cd630c4b81" /></Relationships>
</file>

<file path=ppt/notesSlides/_rels/notesSlide3.xml.rels>&#65279;<?xml version="1.0" encoding="utf-8"?><Relationships xmlns="http://schemas.openxmlformats.org/package/2006/relationships"><Relationship Type="http://schemas.openxmlformats.org/officeDocument/2006/relationships/slide" Target="/ppt/slides/slide3.xml" Id="R9f6cc58770d74610" /><Relationship Type="http://schemas.openxmlformats.org/officeDocument/2006/relationships/notesMaster" Target="/ppt/notesMasters/notesMaster1.xml" Id="Re8288e3638b54cef" /></Relationships>
</file>

<file path=ppt/notesSlides/_rels/notesSlide4.xml.rels>&#65279;<?xml version="1.0" encoding="utf-8"?><Relationships xmlns="http://schemas.openxmlformats.org/package/2006/relationships"><Relationship Type="http://schemas.openxmlformats.org/officeDocument/2006/relationships/slide" Target="/ppt/slides/slide4.xml" Id="R8c9d3ac572164631" /><Relationship Type="http://schemas.openxmlformats.org/officeDocument/2006/relationships/notesMaster" Target="/ppt/notesMasters/notesMaster1.xml" Id="R46e2beb3e8c946a4" /></Relationships>
</file>

<file path=ppt/notesSlides/_rels/notesSlide5.xml.rels>&#65279;<?xml version="1.0" encoding="utf-8"?><Relationships xmlns="http://schemas.openxmlformats.org/package/2006/relationships"><Relationship Type="http://schemas.openxmlformats.org/officeDocument/2006/relationships/slide" Target="/ppt/slides/slide5.xml" Id="R52f02ec24e06471f" /><Relationship Type="http://schemas.openxmlformats.org/officeDocument/2006/relationships/notesMaster" Target="/ppt/notesMasters/notesMaster1.xml" Id="R12e3a9c516284618" /></Relationships>
</file>

<file path=ppt/notesSlides/_rels/notesSlide6.xml.rels>&#65279;<?xml version="1.0" encoding="utf-8"?><Relationships xmlns="http://schemas.openxmlformats.org/package/2006/relationships"><Relationship Type="http://schemas.openxmlformats.org/officeDocument/2006/relationships/slide" Target="/ppt/slides/slide6.xml" Id="R29df0f92db2c4587" /><Relationship Type="http://schemas.openxmlformats.org/officeDocument/2006/relationships/notesMaster" Target="/ppt/notesMasters/notesMaster1.xml" Id="R03cbde2c91b64821" /></Relationships>
</file>

<file path=ppt/notesSlides/_rels/notesSlide7.xml.rels>&#65279;<?xml version="1.0" encoding="utf-8"?><Relationships xmlns="http://schemas.openxmlformats.org/package/2006/relationships"><Relationship Type="http://schemas.openxmlformats.org/officeDocument/2006/relationships/slide" Target="/ppt/slides/slide7.xml" Id="R30a2163416c5412d" /><Relationship Type="http://schemas.openxmlformats.org/officeDocument/2006/relationships/notesMaster" Target="/ppt/notesMasters/notesMaster1.xml" Id="R282dd1fc64944dd0" /></Relationships>
</file>

<file path=ppt/notesSlides/_rels/notesSlide8.xml.rels>&#65279;<?xml version="1.0" encoding="utf-8"?><Relationships xmlns="http://schemas.openxmlformats.org/package/2006/relationships"><Relationship Type="http://schemas.openxmlformats.org/officeDocument/2006/relationships/slide" Target="/ppt/slides/slide8.xml" Id="R67c845c167d144e3" /><Relationship Type="http://schemas.openxmlformats.org/officeDocument/2006/relationships/notesMaster" Target="/ppt/notesMasters/notesMaster1.xml" Id="Ra0110adc1a8a498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talking points — Graphic Design and Communication, slide 1</a:t>
            </a:r>
          </a:p>
          <a:p xmlns:a="http://schemas.openxmlformats.org/drawingml/2006/main">
            <a:r>
              <a:t>- Frame design as a sequence of audience, source and output decisions.</a:t>
            </a:r>
          </a:p>
          <a:p xmlns:a="http://schemas.openxmlformats.org/drawingml/2006/main">
            <a:r>
              <a:t>- Keep companion image, layout and motion software tool-neutral; Onshape is the only CAD pathway.</a:t>
            </a:r>
          </a:p>
          <a:p xmlns:a="http://schemas.openxmlformats.org/drawingml/2006/main">
            <a:r>
              <a:t>- Ask: What communication job will Graphic Design and Communication help us complete?</a:t>
            </a:r>
          </a:p>
          <a:p xmlns:a="http://schemas.openxmlformats.org/drawingml/2006/main">
            <a:r>
              <a:t>- Invite a short continuous explanation while students point to the visible evidence; the slide is a prompt, not a script to read aloud.</a:t>
            </a:r>
          </a:p>
          <a:p xmlns:a="http://schemas.openxmlformats.org/drawingml/2006/main">
            <a:r>
              <a:t/>
            </a:r>
          </a:p>
          <a:p xmlns:a="http://schemas.openxmlformats.org/drawingml/2006/main">
            <a:r>
              <a:t>[Sources]</a:t>
            </a:r>
          </a:p>
          <a:p xmlns:a="http://schemas.openxmlformats.org/drawingml/2006/main">
            <a:r>
              <a:t>- https://curriculum.nsw.edu.au/learning-areas/tas/communication-technology-7-10-2025/content/stage-5/ol635da461/faoecc76bd4</a:t>
            </a:r>
          </a:p>
          <a:p xmlns:a="http://schemas.openxmlformats.org/drawingml/2006/main">
            <a:r>
              <a:t>- https://curriculum.nsw.edu.au/learning-areas/tas/communication-technology-7-10-2025/content/stage-5/faedaf189a</a:t>
            </a:r>
          </a:p>
          <a:p xmlns:a="http://schemas.openxmlformats.org/drawingml/2006/main">
            <a:r>
              <a:t>- Course visual: assets/images/m04s01-02-before-after-poster.jpg — AI-generated teaching visual; provenance recorded in the module visual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talking points — Graphic Design and Communication, slide 2</a:t>
            </a:r>
          </a:p>
          <a:p xmlns:a="http://schemas.openxmlformats.org/drawingml/2006/main">
            <a:r>
              <a:t>- Preview the move from audience and ethics to asset structure and then presentation evidence.</a:t>
            </a:r>
          </a:p>
          <a:p xmlns:a="http://schemas.openxmlformats.org/drawingml/2006/main">
            <a:r>
              <a:t>- Ask which later decision depends most on a clear audience purpose.</a:t>
            </a:r>
          </a:p>
          <a:p xmlns:a="http://schemas.openxmlformats.org/drawingml/2006/main">
            <a:r>
              <a:t>- Ask: Which idea depends most on the one before it?</a:t>
            </a:r>
          </a:p>
          <a:p xmlns:a="http://schemas.openxmlformats.org/drawingml/2006/main">
            <a:r>
              <a:t>- Invite a short continuous explanation while students point to the visible evidence; the slide is a prompt, not a script to read aloud.</a:t>
            </a:r>
          </a:p>
          <a:p xmlns:a="http://schemas.openxmlformats.org/drawingml/2006/main">
            <a:r>
              <a:t/>
            </a:r>
          </a:p>
          <a:p xmlns:a="http://schemas.openxmlformats.org/drawingml/2006/main">
            <a:r>
              <a:t>[Sources]</a:t>
            </a:r>
          </a:p>
          <a:p xmlns:a="http://schemas.openxmlformats.org/drawingml/2006/main">
            <a:r>
              <a:t>- https://curriculum.nsw.edu.au/learning-areas/tas/communication-technology-7-10-2025/content/stage-5/ol635da461/faoecc76bd4</a:t>
            </a:r>
          </a:p>
          <a:p xmlns:a="http://schemas.openxmlformats.org/drawingml/2006/main">
            <a:r>
              <a:t>- https://curriculum.nsw.edu.au/learning-areas/tas/communication-technology-7-10-2025/content/stage-5/faedaf189a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talking points — Graphic Design and Communication, slide 3</a:t>
            </a:r>
          </a:p>
          <a:p xmlns:a="http://schemas.openxmlformats.org/drawingml/2006/main">
            <a:r>
              <a:t>- Use the source pathway to show that attribution does not replace permission.</a:t>
            </a:r>
          </a:p>
          <a:p xmlns:a="http://schemas.openxmlformats.org/drawingml/2006/main">
            <a:r>
              <a:t>- Pause unresolved cultural, privacy or AI-assisted material for accountable human review.</a:t>
            </a:r>
          </a:p>
          <a:p xmlns:a="http://schemas.openxmlformats.org/drawingml/2006/main">
            <a:r>
              <a:t>- Decide → Which visual choice serves the audience, and which source check must happen before release?</a:t>
            </a:r>
          </a:p>
          <a:p xmlns:a="http://schemas.openxmlformats.org/drawingml/2006/main">
            <a:r>
              <a:t>- Invite a short continuous explanation while students point to the visible evidence; the slide is a prompt, not a script to read aloud.</a:t>
            </a:r>
          </a:p>
          <a:p xmlns:a="http://schemas.openxmlformats.org/drawingml/2006/main">
            <a:r>
              <a:t/>
            </a:r>
          </a:p>
          <a:p xmlns:a="http://schemas.openxmlformats.org/drawingml/2006/main">
            <a:r>
              <a:t>[Sources]</a:t>
            </a:r>
          </a:p>
          <a:p xmlns:a="http://schemas.openxmlformats.org/drawingml/2006/main">
            <a:r>
              <a:t>- https://curriculum.nsw.edu.au/learning-areas/tas/communication-technology-7-10-2025/content/stage-5/ol635da461/faoecc76bd4</a:t>
            </a:r>
          </a:p>
          <a:p xmlns:a="http://schemas.openxmlformats.org/drawingml/2006/main">
            <a:r>
              <a:t>- https://curriculum.nsw.edu.au/learning-areas/tas/communication-technology-7-10-2025/content/stage-5/faedaf189a</a:t>
            </a:r>
          </a:p>
          <a:p xmlns:a="http://schemas.openxmlformats.org/drawingml/2006/main">
            <a:r>
              <a:t>- Course visual: assets/images/m04s01-03-ethical-source-pathway.jpg — AI-generated teaching visual; provenance recorded in the module visual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talking points — Graphic Design and Communication, slide 4</a:t>
            </a:r>
          </a:p>
          <a:p xmlns:a="http://schemas.openxmlformats.org/drawingml/2006/main">
            <a:r>
              <a:t>- Compare vector paths and raster pixels by job, not by a simplistic good-versus-bad ranking.</a:t>
            </a:r>
          </a:p>
          <a:p xmlns:a="http://schemas.openxmlformats.org/drawingml/2006/main">
            <a:r>
              <a:t>- Connect colour and file choices to the destination rather than a universal setting.</a:t>
            </a:r>
          </a:p>
          <a:p xmlns:a="http://schemas.openxmlformats.org/drawingml/2006/main">
            <a:r>
              <a:t>- Choose → Which structure and colour pathway suit the content and destination?</a:t>
            </a:r>
          </a:p>
          <a:p xmlns:a="http://schemas.openxmlformats.org/drawingml/2006/main">
            <a:r>
              <a:t>- Invite a short continuous explanation while students point to the visible evidence; the slide is a prompt, not a script to read aloud.</a:t>
            </a:r>
          </a:p>
          <a:p xmlns:a="http://schemas.openxmlformats.org/drawingml/2006/main">
            <a:r>
              <a:t/>
            </a:r>
          </a:p>
          <a:p xmlns:a="http://schemas.openxmlformats.org/drawingml/2006/main">
            <a:r>
              <a:t>[Sources]</a:t>
            </a:r>
          </a:p>
          <a:p xmlns:a="http://schemas.openxmlformats.org/drawingml/2006/main">
            <a:r>
              <a:t>- https://curriculum.nsw.edu.au/learning-areas/tas/communication-technology-7-10-2025/content/stage-5/ol635da461/faoecc76bd4</a:t>
            </a:r>
          </a:p>
          <a:p xmlns:a="http://schemas.openxmlformats.org/drawingml/2006/main">
            <a:r>
              <a:t>- https://curriculum.nsw.edu.au/learning-areas/tas/communication-technology-7-10-2025/content/stage-5/faedaf189a</a:t>
            </a:r>
          </a:p>
          <a:p xmlns:a="http://schemas.openxmlformats.org/drawingml/2006/main">
            <a:r>
              <a:t>- Course visual: assets/images/m04s02-01-vector-raster-zoom.jpg — AI-generated teaching visual; provenance recorded in the module visual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talking points — Graphic Design and Communication, slide 5</a:t>
            </a:r>
          </a:p>
          <a:p xmlns:a="http://schemas.openxmlformats.org/drawingml/2006/main">
            <a:r>
              <a:t>- Give motion a named communication job before planning it.</a:t>
            </a:r>
          </a:p>
          <a:p xmlns:a="http://schemas.openxmlformats.org/drawingml/2006/main">
            <a:r>
              <a:t>- Show how a static or text pathway keeps the meaning available without motion or audio.</a:t>
            </a:r>
          </a:p>
          <a:p xmlns:a="http://schemas.openxmlformats.org/drawingml/2006/main">
            <a:r>
              <a:t>- Edit → Which evidence makes the decision visible, and what next improvement can you defend?</a:t>
            </a:r>
          </a:p>
          <a:p xmlns:a="http://schemas.openxmlformats.org/drawingml/2006/main">
            <a:r>
              <a:t>- Invite a short continuous explanation while students point to the visible evidence; the slide is a prompt, not a script to read aloud.</a:t>
            </a:r>
          </a:p>
          <a:p xmlns:a="http://schemas.openxmlformats.org/drawingml/2006/main">
            <a:r>
              <a:t/>
            </a:r>
          </a:p>
          <a:p xmlns:a="http://schemas.openxmlformats.org/drawingml/2006/main">
            <a:r>
              <a:t>[Sources]</a:t>
            </a:r>
          </a:p>
          <a:p xmlns:a="http://schemas.openxmlformats.org/drawingml/2006/main">
            <a:r>
              <a:t>- https://curriculum.nsw.edu.au/learning-areas/tas/communication-technology-7-10-2025/content/stage-5/ol635da461/faod1879211</a:t>
            </a:r>
          </a:p>
          <a:p xmlns:a="http://schemas.openxmlformats.org/drawingml/2006/main">
            <a:r>
              <a:t>- https://curriculum.nsw.edu.au/learning-areas/tas/communication-technology-7-10-2025/content/stage-5/ol635da461/faoecc76bd4</a:t>
            </a:r>
          </a:p>
          <a:p xmlns:a="http://schemas.openxmlformats.org/drawingml/2006/main">
            <a:r>
              <a:t>- https://curriculum.nsw.edu.au/learning-areas/tas/communication-technology-7-10-2025/content/stage-5/faedaf189a</a:t>
            </a:r>
          </a:p>
          <a:p xmlns:a="http://schemas.openxmlformats.org/drawingml/2006/main">
            <a:r>
              <a:t>- https://cad.onshape.com/help/Content/Assembly/exploded_views.htm</a:t>
            </a:r>
          </a:p>
          <a:p xmlns:a="http://schemas.openxmlformats.org/drawingml/2006/main">
            <a:r>
              <a:t>- https://www.w3.org/WAI/WCAG22/Understanding/animation-from-interactions.html</a:t>
            </a:r>
          </a:p>
          <a:p xmlns:a="http://schemas.openxmlformats.org/drawingml/2006/main">
            <a:r>
              <a:t>- Course visual: assets/images/m04s03-01-storyboard.jpg — AI-generated teaching visual; provenance recorded in the module visual manifest.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talking points — Graphic Design and Communication, slide 6</a:t>
            </a:r>
          </a:p>
          <a:p xmlns:a="http://schemas.openxmlformats.org/drawingml/2006/main">
            <a:r>
              <a:t>- Run no-notes retrieval and ask students to point to the exact visual evidence.</a:t>
            </a:r>
          </a:p>
          <a:p xmlns:a="http://schemas.openxmlformats.org/drawingml/2006/main">
            <a:r>
              <a:t>- Follow every answer with why it matters for the audience or source decision.</a:t>
            </a:r>
          </a:p>
          <a:p xmlns:a="http://schemas.openxmlformats.org/drawingml/2006/main">
            <a:r>
              <a:t>- Ask students to support each response with evidence from the teaching slides.</a:t>
            </a:r>
          </a:p>
          <a:p xmlns:a="http://schemas.openxmlformats.org/drawingml/2006/main">
            <a:r>
              <a:t>- Invite a short continuous explanation while students point to the visible evidence; the slide is a prompt, not a script to read aloud.</a:t>
            </a:r>
          </a:p>
          <a:p xmlns:a="http://schemas.openxmlformats.org/drawingml/2006/main">
            <a:r>
              <a:t/>
            </a:r>
          </a:p>
          <a:p xmlns:a="http://schemas.openxmlformats.org/drawingml/2006/main">
            <a:r>
              <a:t>[Sources]</a:t>
            </a:r>
          </a:p>
          <a:p xmlns:a="http://schemas.openxmlformats.org/drawingml/2006/main">
            <a:r>
              <a:t>- https://curriculum.nsw.edu.au/learning-areas/tas/communication-technology-7-10-2025/content/stage-5/ol635da461/faoecc76bd4</a:t>
            </a:r>
          </a:p>
          <a:p xmlns:a="http://schemas.openxmlformats.org/drawingml/2006/main">
            <a:r>
              <a:t>- https://curriculum.nsw.edu.au/learning-areas/tas/communication-technology-7-10-2025/content/stage-5/faedaf189a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talking points — Graphic Design and Communication, slide 7</a:t>
            </a:r>
          </a:p>
          <a:p xmlns:a="http://schemas.openxmlformats.org/drawingml/2006/main">
            <a:r>
              <a:t>- Students connect one audience need to one design change and one source check.</a:t>
            </a:r>
          </a:p>
          <a:p xmlns:a="http://schemas.openxmlformats.org/drawingml/2006/main">
            <a:r>
              <a:t>- A polished outcome does not remove the need to state limitations.</a:t>
            </a:r>
          </a:p>
          <a:p xmlns:a="http://schemas.openxmlformats.org/drawingml/2006/main">
            <a:r>
              <a:t>- Ask students to read their completed sentence and identify the exact evidence behind it.</a:t>
            </a:r>
          </a:p>
          <a:p xmlns:a="http://schemas.openxmlformats.org/drawingml/2006/main">
            <a:r>
              <a:t>- Invite a short continuous explanation while students point to the visible evidence; the slide is a prompt, not a script to read aloud.</a:t>
            </a:r>
          </a:p>
          <a:p xmlns:a="http://schemas.openxmlformats.org/drawingml/2006/main">
            <a:r>
              <a:t/>
            </a:r>
          </a:p>
          <a:p xmlns:a="http://schemas.openxmlformats.org/drawingml/2006/main">
            <a:r>
              <a:t>[Sources]</a:t>
            </a:r>
          </a:p>
          <a:p xmlns:a="http://schemas.openxmlformats.org/drawingml/2006/main">
            <a:r>
              <a:t>- https://curriculum.nsw.edu.au/learning-areas/tas/communication-technology-7-10-2025/content/stage-5/faedaf189a</a:t>
            </a:r>
          </a:p>
          <a:p xmlns:a="http://schemas.openxmlformats.org/drawingml/2006/main">
            <a:r>
              <a:t>- https://curriculum.nsw.edu.au/learning-areas/tas/communication-technology-7-10-2025/content/stage-5/ol635da461/faoecc76bd4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talking points — Graphic Design and Communication, slide 8</a:t>
            </a:r>
          </a:p>
          <a:p xmlns:a="http://schemas.openxmlformats.org/drawingml/2006/main">
            <a:r>
              <a:t>- Students save only evidence that explains a significant decision or revision.</a:t>
            </a:r>
          </a:p>
          <a:p xmlns:a="http://schemas.openxmlformats.org/drawingml/2006/main">
            <a:r>
              <a:t>- No local folio length, presentation duration, export format or assessment rule is implied.</a:t>
            </a:r>
          </a:p>
          <a:p xmlns:a="http://schemas.openxmlformats.org/drawingml/2006/main">
            <a:r>
              <a:t>- Ask students which single evidence item is worth saving and why.</a:t>
            </a:r>
          </a:p>
          <a:p xmlns:a="http://schemas.openxmlformats.org/drawingml/2006/main">
            <a:r>
              <a:t>- Invite a short continuous explanation while students point to the visible evidence; the slide is a prompt, not a script to read aloud.</a:t>
            </a:r>
          </a:p>
          <a:p xmlns:a="http://schemas.openxmlformats.org/drawingml/2006/main">
            <a:r>
              <a:t/>
            </a:r>
          </a:p>
          <a:p xmlns:a="http://schemas.openxmlformats.org/drawingml/2006/main">
            <a:r>
              <a:t>[Sources]</a:t>
            </a:r>
          </a:p>
          <a:p xmlns:a="http://schemas.openxmlformats.org/drawingml/2006/main">
            <a:r>
              <a:t>- https://curriculum.nsw.edu.au/learning-areas/tas/communication-technology-7-10-2025/content/stage-5/faedaf189a</a:t>
            </a:r>
          </a:p>
          <a:p xmlns:a="http://schemas.openxmlformats.org/drawingml/2006/main">
            <a:r>
              <a:t>- https://curriculum.nsw.edu.au/learning-areas/tas/communication-technology-7-10-2025/content/stage-5/ol635da461/faoecc76bd4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ecfc0320b8d49c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1871606b8b1429e" /><Relationship Type="http://schemas.openxmlformats.org/officeDocument/2006/relationships/slideLayout" Target="/ppt/slideLayouts/slideLayout1.xml" Id="Rd07b9f4d46d94f8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07b9f4d46d94f8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e7dc23810bd4658" /><Relationship Type="http://schemas.openxmlformats.org/officeDocument/2006/relationships/image" Target="/ppt/media/image.jpeg" Id="Rd2f37c392e3f4077" /><Relationship Type="http://schemas.openxmlformats.org/officeDocument/2006/relationships/notesSlide" Target="/ppt/notesSlides/notesSlide1.xml" Id="R08caf7a1658644c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7e0e2be3c9348e8" /><Relationship Type="http://schemas.openxmlformats.org/officeDocument/2006/relationships/notesSlide" Target="/ppt/notesSlides/notesSlide2.xml" Id="Ra43585e0ed1a4a8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f05aada6ac14fcb" /><Relationship Type="http://schemas.openxmlformats.org/officeDocument/2006/relationships/image" Target="/ppt/media/image2.jpeg" Id="Rb5fe265303fd41ef" /><Relationship Type="http://schemas.openxmlformats.org/officeDocument/2006/relationships/notesSlide" Target="/ppt/notesSlides/notesSlide3.xml" Id="R3946020897f342d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f17487f55cd4a89" /><Relationship Type="http://schemas.openxmlformats.org/officeDocument/2006/relationships/image" Target="/ppt/media/image3.jpeg" Id="Rd3ca5cd31eb348f3" /><Relationship Type="http://schemas.openxmlformats.org/officeDocument/2006/relationships/notesSlide" Target="/ppt/notesSlides/notesSlide4.xml" Id="Rcf32019269e9432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dbcd371ed064fc9" /><Relationship Type="http://schemas.openxmlformats.org/officeDocument/2006/relationships/image" Target="/ppt/media/image4.jpeg" Id="Rcb1922aae7d843d4" /><Relationship Type="http://schemas.openxmlformats.org/officeDocument/2006/relationships/notesSlide" Target="/ppt/notesSlides/notesSlide5.xml" Id="Re76bc9e72712434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38d30e079974338" /><Relationship Type="http://schemas.openxmlformats.org/officeDocument/2006/relationships/notesSlide" Target="/ppt/notesSlides/notesSlide6.xml" Id="Rbb55c25eec104bc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f12ac159e5341e0" /><Relationship Type="http://schemas.openxmlformats.org/officeDocument/2006/relationships/notesSlide" Target="/ppt/notesSlides/notesSlide7.xml" Id="R82e288578e544c8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2fedc65e578450f" /><Relationship Type="http://schemas.openxmlformats.org/officeDocument/2006/relationships/notesSlide" Target="/ppt/notesSlides/notesSlide8.xml" Id="R6cb0fe075d2749ca" /></Relationships>
</file>

<file path=ppt/slides/slide1.xml><?xml version="1.0" encoding="utf-8"?>
<p:sld xmlns:p="http://schemas.openxmlformats.org/presentationml/2006/main">
  <p:cSld>
    <p:bg>
      <p:bgPr>
        <a:solidFill xmlns:a="http://schemas.openxmlformats.org/drawingml/2006/main">
          <a:srgbClr val="FCFAF8"/>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d2f37c392e3f4077"/>
          <a:srcRect xmlns:a="http://schemas.openxmlformats.org/drawingml/2006/main" l="23796" t="0" r="23796" b="0"/>
          <a:stretch xmlns:a="http://schemas.openxmlformats.org/drawingml/2006/main">
            <a:fillRect l="0" t="0" r="0" b="0"/>
          </a:stretch>
        </p:blipFill>
        <p:spPr>
          <a:xfrm xmlns:a="http://schemas.openxmlformats.org/drawingml/2006/main">
            <a:off x="6800850" y="0"/>
            <a:ext cx="53911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54D5DEA-A81B-4BB9-856D-F0597D33E71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8B243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AA97559-4AF3-4AC3-B864-AFD1D8CAEEB6}"/>
              </a:ext>
            </a:extLst>
          </p:cNvPr>
          <p:cNvSpPr>
            <a:spLocks xmlns:a="http://schemas.openxmlformats.org/drawingml/2006/main" noGrp="1"/>
          </p:cNvSpPr>
          <p:nvPr/>
        </p:nvSpPr>
        <p:spPr>
          <a:xfrm xmlns:a="http://schemas.openxmlformats.org/drawingml/2006/main">
            <a:off x="742950" y="87630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8B2433"/>
                </a:solidFill>
              </a:defRPr>
            </a:pPr>
            <a:r>
              <a:rPr sz="1350" b="1">
                <a:solidFill>
                  <a:srgbClr val="8B2433"/>
                </a:solidFill>
              </a:rPr>
              <a:t>MODULE 4</a:t>
            </a:r>
          </a:p>
        </p:txBody>
      </p:sp>
      <p:sp>
        <p:nvSpPr>
          <p:cNvPr id="4" name="m4-title">
            <a:extLst xmlns:a="http://schemas.openxmlformats.org/drawingml/2006/main">
              <a:ext uri="{FF2B5EF4-FFF2-40B4-BE49-F238E27FC236}">
                <a16:creationId xmlns:a16="http://schemas.microsoft.com/office/drawing/2014/main" id="{F0BE2B22-7607-4BA5-9489-4B64E31DDAF4}"/>
              </a:ext>
            </a:extLst>
          </p:cNvPr>
          <p:cNvSpPr>
            <a:spLocks xmlns:a="http://schemas.openxmlformats.org/drawingml/2006/main" noGrp="1"/>
          </p:cNvSpPr>
          <p:nvPr/>
        </p:nvSpPr>
        <p:spPr>
          <a:xfrm xmlns:a="http://schemas.openxmlformats.org/drawingml/2006/main">
            <a:off x="742950" y="1485900"/>
            <a:ext cx="54292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4050" b="1">
                <a:solidFill>
                  <a:srgbClr val="3B1118"/>
                </a:solidFill>
              </a:defRPr>
            </a:pPr>
            <a:r>
              <a:rPr sz="4050" b="1">
                <a:solidFill>
                  <a:srgbClr val="3B1118"/>
                </a:solidFill>
              </a:rPr>
              <a:t>Graphic Design &amp;
Communication</a:t>
            </a:r>
          </a:p>
        </p:txBody>
      </p:sp>
      <p:sp>
        <p:nvSpPr>
          <p:cNvPr id="5" name="">
            <a:extLst xmlns:a="http://schemas.openxmlformats.org/drawingml/2006/main">
              <a:ext uri="{FF2B5EF4-FFF2-40B4-BE49-F238E27FC236}">
                <a16:creationId xmlns:a16="http://schemas.microsoft.com/office/drawing/2014/main" id="{84C01209-4BCC-4097-87A2-E9442D00D5ED}"/>
              </a:ext>
            </a:extLst>
          </p:cNvPr>
          <p:cNvSpPr>
            <a:spLocks xmlns:a="http://schemas.openxmlformats.org/drawingml/2006/main" noGrp="1"/>
          </p:cNvSpPr>
          <p:nvPr/>
        </p:nvSpPr>
        <p:spPr>
          <a:xfrm xmlns:a="http://schemas.openxmlformats.org/drawingml/2006/main">
            <a:off x="742950" y="3295650"/>
            <a:ext cx="1028700" cy="47625"/>
          </a:xfrm>
          <a:prstGeom xmlns:a="http://schemas.openxmlformats.org/drawingml/2006/main" prst="rect">
            <a:avLst/>
          </a:prstGeom>
          <a:solidFill xmlns:a="http://schemas.openxmlformats.org/drawingml/2006/main">
            <a:srgbClr val="8B2433"/>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6F6E782-7FC6-43EC-801D-916ADC073FEF}"/>
              </a:ext>
            </a:extLst>
          </p:cNvPr>
          <p:cNvSpPr>
            <a:spLocks xmlns:a="http://schemas.openxmlformats.org/drawingml/2006/main" noGrp="1"/>
          </p:cNvSpPr>
          <p:nvPr/>
        </p:nvSpPr>
        <p:spPr>
          <a:xfrm xmlns:a="http://schemas.openxmlformats.org/drawingml/2006/main">
            <a:off x="742950" y="3676650"/>
            <a:ext cx="5334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800">
                <a:solidFill>
                  <a:srgbClr val="25171A"/>
                </a:solidFill>
              </a:defRPr>
            </a:pPr>
            <a:r>
              <a:rPr sz="1800">
                <a:solidFill>
                  <a:srgbClr val="25171A"/>
                </a:solidFill>
              </a:rPr>
              <a:t>Design graphics for a defined audience, choose ethical sources and suitable vector or raster workflows, then communicate through layout, motion and curated evidence.</a:t>
            </a:r>
          </a:p>
        </p:txBody>
      </p:sp>
      <p:sp>
        <p:nvSpPr>
          <p:cNvPr id="7" name="">
            <a:extLst xmlns:a="http://schemas.openxmlformats.org/drawingml/2006/main">
              <a:ext uri="{FF2B5EF4-FFF2-40B4-BE49-F238E27FC236}">
                <a16:creationId xmlns:a16="http://schemas.microsoft.com/office/drawing/2014/main" id="{8B87BCBC-C670-4FEE-A005-39BA066A47A8}"/>
              </a:ext>
            </a:extLst>
          </p:cNvPr>
          <p:cNvSpPr>
            <a:spLocks xmlns:a="http://schemas.openxmlformats.org/drawingml/2006/main" noGrp="1"/>
          </p:cNvSpPr>
          <p:nvPr/>
        </p:nvSpPr>
        <p:spPr>
          <a:xfrm xmlns:a="http://schemas.openxmlformats.org/drawingml/2006/main">
            <a:off x="742950" y="5676900"/>
            <a:ext cx="533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75" b="1">
                <a:solidFill>
                  <a:srgbClr val="66585B"/>
                </a:solidFill>
              </a:defRPr>
            </a:pPr>
            <a:r>
              <a:rPr sz="1275" b="1">
                <a:solidFill>
                  <a:srgbClr val="66585B"/>
                </a:solidFill>
              </a:rPr>
              <a:t>Read the visuals. Explain the decision. Save the evidence.</a:t>
            </a:r>
          </a:p>
        </p:txBody>
      </p:sp>
    </p:spTree>
    <p:extLst>
      <p:ext uri="{BB962C8B-B14F-4D97-AF65-F5344CB8AC3E}">
        <p14:creationId xmlns:p14="http://schemas.microsoft.com/office/powerpoint/2010/main" val="88753036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2027692-B286-4510-9CA6-728955C4FD78}"/>
              </a:ext>
            </a:extLst>
          </p:cNvPr>
          <p:cNvSpPr>
            <a:spLocks xmlns:a="http://schemas.openxmlformats.org/drawingml/2006/main" noGrp="1"/>
          </p:cNvSpPr>
          <p:nvPr/>
        </p:nvSpPr>
        <p:spPr>
          <a:xfrm xmlns:a="http://schemas.openxmlformats.org/drawingml/2006/main">
            <a:off x="685800" y="53340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850" b="1">
                <a:solidFill>
                  <a:srgbClr val="3B1118"/>
                </a:solidFill>
              </a:defRPr>
            </a:pPr>
            <a:r>
              <a:rPr sz="2850" b="1">
                <a:solidFill>
                  <a:srgbClr val="3B1118"/>
                </a:solidFill>
              </a:rPr>
              <a:t>Three ideas build one communication workflow</a:t>
            </a:r>
          </a:p>
        </p:txBody>
      </p:sp>
      <p:sp>
        <p:nvSpPr>
          <p:cNvPr id="2" name="">
            <a:extLst xmlns:a="http://schemas.openxmlformats.org/drawingml/2006/main">
              <a:ext uri="{FF2B5EF4-FFF2-40B4-BE49-F238E27FC236}">
                <a16:creationId xmlns:a16="http://schemas.microsoft.com/office/drawing/2014/main" id="{0F72FAFA-67D1-41AA-9001-2E329DF34241}"/>
              </a:ext>
            </a:extLst>
          </p:cNvPr>
          <p:cNvSpPr>
            <a:spLocks xmlns:a="http://schemas.openxmlformats.org/drawingml/2006/main" noGrp="1"/>
          </p:cNvSpPr>
          <p:nvPr/>
        </p:nvSpPr>
        <p:spPr>
          <a:xfrm xmlns:a="http://schemas.openxmlformats.org/drawingml/2006/main">
            <a:off x="685800" y="1200150"/>
            <a:ext cx="981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a:solidFill>
                  <a:srgbClr val="66585B"/>
                </a:solidFill>
              </a:defRPr>
            </a:pPr>
            <a:r>
              <a:rPr sz="1500">
                <a:solidFill>
                  <a:srgbClr val="66585B"/>
                </a:solidFill>
              </a:rPr>
              <a:t>Keep this sequence in mind: understand the context, make a controlled representation, then justify what the evidence means.</a:t>
            </a:r>
          </a:p>
        </p:txBody>
      </p:sp>
      <p:sp>
        <p:nvSpPr>
          <p:cNvPr id="3" name="">
            <a:extLst xmlns:a="http://schemas.openxmlformats.org/drawingml/2006/main">
              <a:ext uri="{FF2B5EF4-FFF2-40B4-BE49-F238E27FC236}">
                <a16:creationId xmlns:a16="http://schemas.microsoft.com/office/drawing/2014/main" id="{D8B200ED-4779-46FD-9E0C-5285942C3694}"/>
              </a:ext>
            </a:extLst>
          </p:cNvPr>
          <p:cNvSpPr>
            <a:spLocks xmlns:a="http://schemas.openxmlformats.org/drawingml/2006/main" noGrp="1"/>
          </p:cNvSpPr>
          <p:nvPr/>
        </p:nvSpPr>
        <p:spPr>
          <a:xfrm xmlns:a="http://schemas.openxmlformats.org/drawingml/2006/main">
            <a:off x="1200150" y="3028950"/>
            <a:ext cx="9772650" cy="38100"/>
          </a:xfrm>
          <a:prstGeom xmlns:a="http://schemas.openxmlformats.org/drawingml/2006/main" prst="rect">
            <a:avLst/>
          </a:prstGeom>
          <a:solidFill xmlns:a="http://schemas.openxmlformats.org/drawingml/2006/main">
            <a:srgbClr val="D8C9C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E8B4E2A-E8BF-4B58-B543-C57A3E5FAAE7}"/>
              </a:ext>
            </a:extLst>
          </p:cNvPr>
          <p:cNvSpPr>
            <a:spLocks xmlns:a="http://schemas.openxmlformats.org/drawingml/2006/main" noGrp="1"/>
          </p:cNvSpPr>
          <p:nvPr/>
        </p:nvSpPr>
        <p:spPr>
          <a:xfrm xmlns:a="http://schemas.openxmlformats.org/drawingml/2006/main">
            <a:off x="1371600" y="2619375"/>
            <a:ext cx="800100" cy="800100"/>
          </a:xfrm>
          <a:prstGeom xmlns:a="http://schemas.openxmlformats.org/drawingml/2006/main" prst="roundRect">
            <a:avLst>
              <a:gd name="adj" fmla="val 50000"/>
            </a:avLst>
          </a:prstGeom>
          <a:solidFill xmlns:a="http://schemas.openxmlformats.org/drawingml/2006/main">
            <a:srgbClr val="3B111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1DE8F04-877C-4149-943C-B727EDB2BEEA}"/>
              </a:ext>
            </a:extLst>
          </p:cNvPr>
          <p:cNvSpPr>
            <a:spLocks xmlns:a="http://schemas.openxmlformats.org/drawingml/2006/main" noGrp="1"/>
          </p:cNvSpPr>
          <p:nvPr/>
        </p:nvSpPr>
        <p:spPr>
          <a:xfrm xmlns:a="http://schemas.openxmlformats.org/drawingml/2006/main">
            <a:off x="1371600" y="2800350"/>
            <a:ext cx="800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FFFFFF"/>
                </a:solidFill>
              </a:defRPr>
            </a:pPr>
            <a:r>
              <a:rPr sz="2100" b="1">
                <a:solidFill>
                  <a:srgbClr val="FFFFFF"/>
                </a:solidFill>
              </a:rPr>
              <a:t>1</a:t>
            </a:r>
          </a:p>
        </p:txBody>
      </p:sp>
      <p:sp>
        <p:nvSpPr>
          <p:cNvPr id="6" name="">
            <a:extLst xmlns:a="http://schemas.openxmlformats.org/drawingml/2006/main">
              <a:ext uri="{FF2B5EF4-FFF2-40B4-BE49-F238E27FC236}">
                <a16:creationId xmlns:a16="http://schemas.microsoft.com/office/drawing/2014/main" id="{8D5884A6-E5DE-48B7-88A8-D7F59C757194}"/>
              </a:ext>
            </a:extLst>
          </p:cNvPr>
          <p:cNvSpPr>
            <a:spLocks xmlns:a="http://schemas.openxmlformats.org/drawingml/2006/main" noGrp="1"/>
          </p:cNvSpPr>
          <p:nvPr/>
        </p:nvSpPr>
        <p:spPr>
          <a:xfrm xmlns:a="http://schemas.openxmlformats.org/drawingml/2006/main">
            <a:off x="876300" y="3714750"/>
            <a:ext cx="2857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25171A"/>
                </a:solidFill>
              </a:defRPr>
            </a:pPr>
            <a:r>
              <a:rPr sz="1725" b="1">
                <a:solidFill>
                  <a:srgbClr val="25171A"/>
                </a:solidFill>
              </a:rPr>
              <a:t>Audience, design principles and ethical sources</a:t>
            </a:r>
          </a:p>
        </p:txBody>
      </p:sp>
      <p:sp>
        <p:nvSpPr>
          <p:cNvPr id="7" name="">
            <a:extLst xmlns:a="http://schemas.openxmlformats.org/drawingml/2006/main">
              <a:ext uri="{FF2B5EF4-FFF2-40B4-BE49-F238E27FC236}">
                <a16:creationId xmlns:a16="http://schemas.microsoft.com/office/drawing/2014/main" id="{D4D171F0-E624-47C6-B77D-715F6E858080}"/>
              </a:ext>
            </a:extLst>
          </p:cNvPr>
          <p:cNvSpPr>
            <a:spLocks xmlns:a="http://schemas.openxmlformats.org/drawingml/2006/main" noGrp="1"/>
          </p:cNvSpPr>
          <p:nvPr/>
        </p:nvSpPr>
        <p:spPr>
          <a:xfrm xmlns:a="http://schemas.openxmlformats.org/drawingml/2006/main">
            <a:off x="5029200" y="2619375"/>
            <a:ext cx="800100" cy="800100"/>
          </a:xfrm>
          <a:prstGeom xmlns:a="http://schemas.openxmlformats.org/drawingml/2006/main" prst="roundRect">
            <a:avLst>
              <a:gd name="adj" fmla="val 50000"/>
            </a:avLst>
          </a:prstGeom>
          <a:solidFill xmlns:a="http://schemas.openxmlformats.org/drawingml/2006/main">
            <a:srgbClr val="8B243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9458E2C-A93A-4CD4-B4DD-F34A366A7B9C}"/>
              </a:ext>
            </a:extLst>
          </p:cNvPr>
          <p:cNvSpPr>
            <a:spLocks xmlns:a="http://schemas.openxmlformats.org/drawingml/2006/main" noGrp="1"/>
          </p:cNvSpPr>
          <p:nvPr/>
        </p:nvSpPr>
        <p:spPr>
          <a:xfrm xmlns:a="http://schemas.openxmlformats.org/drawingml/2006/main">
            <a:off x="5029200" y="2800350"/>
            <a:ext cx="800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FFFFFF"/>
                </a:solidFill>
              </a:defRPr>
            </a:pPr>
            <a:r>
              <a:rPr sz="2100" b="1">
                <a:solidFill>
                  <a:srgbClr val="FFFFFF"/>
                </a:solidFill>
              </a:rPr>
              <a:t>2</a:t>
            </a:r>
          </a:p>
        </p:txBody>
      </p:sp>
      <p:sp>
        <p:nvSpPr>
          <p:cNvPr id="9" name="">
            <a:extLst xmlns:a="http://schemas.openxmlformats.org/drawingml/2006/main">
              <a:ext uri="{FF2B5EF4-FFF2-40B4-BE49-F238E27FC236}">
                <a16:creationId xmlns:a16="http://schemas.microsoft.com/office/drawing/2014/main" id="{E4B07B6D-7C9A-4BDC-9048-59CA17F9B4D4}"/>
              </a:ext>
            </a:extLst>
          </p:cNvPr>
          <p:cNvSpPr>
            <a:spLocks xmlns:a="http://schemas.openxmlformats.org/drawingml/2006/main" noGrp="1"/>
          </p:cNvSpPr>
          <p:nvPr/>
        </p:nvSpPr>
        <p:spPr>
          <a:xfrm xmlns:a="http://schemas.openxmlformats.org/drawingml/2006/main">
            <a:off x="4533900" y="3714750"/>
            <a:ext cx="2857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25171A"/>
                </a:solidFill>
              </a:defRPr>
            </a:pPr>
            <a:r>
              <a:rPr sz="1725" b="1">
                <a:solidFill>
                  <a:srgbClr val="25171A"/>
                </a:solidFill>
              </a:rPr>
              <a:t>Vector, raster, colour and layout</a:t>
            </a:r>
          </a:p>
        </p:txBody>
      </p:sp>
      <p:sp>
        <p:nvSpPr>
          <p:cNvPr id="10" name="">
            <a:extLst xmlns:a="http://schemas.openxmlformats.org/drawingml/2006/main">
              <a:ext uri="{FF2B5EF4-FFF2-40B4-BE49-F238E27FC236}">
                <a16:creationId xmlns:a16="http://schemas.microsoft.com/office/drawing/2014/main" id="{F1F1D052-1A3B-4A1A-8910-128D06F89AA2}"/>
              </a:ext>
            </a:extLst>
          </p:cNvPr>
          <p:cNvSpPr>
            <a:spLocks xmlns:a="http://schemas.openxmlformats.org/drawingml/2006/main" noGrp="1"/>
          </p:cNvSpPr>
          <p:nvPr/>
        </p:nvSpPr>
        <p:spPr>
          <a:xfrm xmlns:a="http://schemas.openxmlformats.org/drawingml/2006/main">
            <a:off x="8686800" y="2619375"/>
            <a:ext cx="800100" cy="800100"/>
          </a:xfrm>
          <a:prstGeom xmlns:a="http://schemas.openxmlformats.org/drawingml/2006/main" prst="roundRect">
            <a:avLst>
              <a:gd name="adj" fmla="val 50000"/>
            </a:avLst>
          </a:prstGeom>
          <a:solidFill xmlns:a="http://schemas.openxmlformats.org/drawingml/2006/main">
            <a:srgbClr val="3B111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22BFDE5-B5A6-467A-B735-52E83C3CAF42}"/>
              </a:ext>
            </a:extLst>
          </p:cNvPr>
          <p:cNvSpPr>
            <a:spLocks xmlns:a="http://schemas.openxmlformats.org/drawingml/2006/main" noGrp="1"/>
          </p:cNvSpPr>
          <p:nvPr/>
        </p:nvSpPr>
        <p:spPr>
          <a:xfrm xmlns:a="http://schemas.openxmlformats.org/drawingml/2006/main">
            <a:off x="8686800" y="2800350"/>
            <a:ext cx="800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FFFFFF"/>
                </a:solidFill>
              </a:defRPr>
            </a:pPr>
            <a:r>
              <a:rPr sz="2100" b="1">
                <a:solidFill>
                  <a:srgbClr val="FFFFFF"/>
                </a:solidFill>
              </a:rPr>
              <a:t>3</a:t>
            </a:r>
          </a:p>
        </p:txBody>
      </p:sp>
      <p:sp>
        <p:nvSpPr>
          <p:cNvPr id="12" name="">
            <a:extLst xmlns:a="http://schemas.openxmlformats.org/drawingml/2006/main">
              <a:ext uri="{FF2B5EF4-FFF2-40B4-BE49-F238E27FC236}">
                <a16:creationId xmlns:a16="http://schemas.microsoft.com/office/drawing/2014/main" id="{0D84BED1-235B-4D29-8CD7-EE4A41A725B0}"/>
              </a:ext>
            </a:extLst>
          </p:cNvPr>
          <p:cNvSpPr>
            <a:spLocks xmlns:a="http://schemas.openxmlformats.org/drawingml/2006/main" noGrp="1"/>
          </p:cNvSpPr>
          <p:nvPr/>
        </p:nvSpPr>
        <p:spPr>
          <a:xfrm xmlns:a="http://schemas.openxmlformats.org/drawingml/2006/main">
            <a:off x="8191500" y="3714750"/>
            <a:ext cx="28575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25171A"/>
                </a:solidFill>
              </a:defRPr>
            </a:pPr>
            <a:r>
              <a:rPr sz="1725" b="1">
                <a:solidFill>
                  <a:srgbClr val="25171A"/>
                </a:solidFill>
              </a:rPr>
              <a:t>Motion, portfolio and presentation</a:t>
            </a:r>
          </a:p>
        </p:txBody>
      </p:sp>
      <p:sp>
        <p:nvSpPr>
          <p:cNvPr id="13" name="">
            <a:extLst xmlns:a="http://schemas.openxmlformats.org/drawingml/2006/main">
              <a:ext uri="{FF2B5EF4-FFF2-40B4-BE49-F238E27FC236}">
                <a16:creationId xmlns:a16="http://schemas.microsoft.com/office/drawing/2014/main" id="{4C493143-1990-4A3A-A930-5D0D32957A22}"/>
              </a:ext>
            </a:extLst>
          </p:cNvPr>
          <p:cNvSpPr>
            <a:spLocks xmlns:a="http://schemas.openxmlformats.org/drawingml/2006/main" noGrp="1"/>
          </p:cNvSpPr>
          <p:nvPr/>
        </p:nvSpPr>
        <p:spPr>
          <a:xfrm xmlns:a="http://schemas.openxmlformats.org/drawingml/2006/main">
            <a:off x="2381250" y="5467350"/>
            <a:ext cx="742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8B2433"/>
                </a:solidFill>
              </a:defRPr>
            </a:pPr>
            <a:r>
              <a:rPr sz="1500" b="1">
                <a:solidFill>
                  <a:srgbClr val="8B2433"/>
                </a:solidFill>
              </a:rPr>
              <a:t>Retrieval prompt  •  Which idea depends most on the one before it?</a:t>
            </a:r>
          </a:p>
        </p:txBody>
      </p:sp>
      <p:sp>
        <p:nvSpPr>
          <p:cNvPr id="14" name="">
            <a:extLst xmlns:a="http://schemas.openxmlformats.org/drawingml/2006/main">
              <a:ext uri="{FF2B5EF4-FFF2-40B4-BE49-F238E27FC236}">
                <a16:creationId xmlns:a16="http://schemas.microsoft.com/office/drawing/2014/main" id="{1AF07133-7C0C-4533-8039-C7152902E6AE}"/>
              </a:ext>
            </a:extLst>
          </p:cNvPr>
          <p:cNvSpPr>
            <a:spLocks xmlns:a="http://schemas.openxmlformats.org/drawingml/2006/main" noGrp="1"/>
          </p:cNvSpPr>
          <p:nvPr/>
        </p:nvSpPr>
        <p:spPr>
          <a:xfrm xmlns:a="http://schemas.openxmlformats.org/drawingml/2006/main">
            <a:off x="685800" y="6477000"/>
            <a:ext cx="10820400" cy="9525"/>
          </a:xfrm>
          <a:prstGeom xmlns:a="http://schemas.openxmlformats.org/drawingml/2006/main" prst="rect">
            <a:avLst/>
          </a:prstGeom>
          <a:solidFill xmlns:a="http://schemas.openxmlformats.org/drawingml/2006/main">
            <a:srgbClr val="D8C9C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77DB966-F4EF-4A2F-8F41-1BE83FB4A64B}"/>
              </a:ext>
            </a:extLst>
          </p:cNvPr>
          <p:cNvSpPr>
            <a:spLocks xmlns:a="http://schemas.openxmlformats.org/drawingml/2006/main" noGrp="1"/>
          </p:cNvSpPr>
          <p:nvPr/>
        </p:nvSpPr>
        <p:spPr>
          <a:xfrm xmlns:a="http://schemas.openxmlformats.org/drawingml/2006/main">
            <a:off x="685800" y="654367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b="1">
                <a:solidFill>
                  <a:srgbClr val="66585B"/>
                </a:solidFill>
              </a:defRPr>
            </a:pPr>
            <a:r>
              <a:rPr sz="900" b="1">
                <a:solidFill>
                  <a:srgbClr val="66585B"/>
                </a:solidFill>
              </a:rPr>
              <a:t>YEAR 9 GRAPHICS  •  MODULE 4</a:t>
            </a:r>
          </a:p>
        </p:txBody>
      </p:sp>
      <p:sp>
        <p:nvSpPr>
          <p:cNvPr id="16" name="">
            <a:extLst xmlns:a="http://schemas.openxmlformats.org/drawingml/2006/main">
              <a:ext uri="{FF2B5EF4-FFF2-40B4-BE49-F238E27FC236}">
                <a16:creationId xmlns:a16="http://schemas.microsoft.com/office/drawing/2014/main" id="{5D43EF05-BA4F-43C1-8B88-FDDAC17D9004}"/>
              </a:ext>
            </a:extLst>
          </p:cNvPr>
          <p:cNvSpPr>
            <a:spLocks xmlns:a="http://schemas.openxmlformats.org/drawingml/2006/main" noGrp="1"/>
          </p:cNvSpPr>
          <p:nvPr/>
        </p:nvSpPr>
        <p:spPr>
          <a:xfrm xmlns:a="http://schemas.openxmlformats.org/drawingml/2006/main">
            <a:off x="10953750" y="653415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1">
                <a:solidFill>
                  <a:srgbClr val="8B2433"/>
                </a:solidFill>
              </a:defRPr>
            </a:pPr>
            <a:r>
              <a:rPr sz="900" b="1">
                <a:solidFill>
                  <a:srgbClr val="8B2433"/>
                </a:solidFill>
              </a:rPr>
              <a:t>02</a:t>
            </a:r>
          </a:p>
        </p:txBody>
      </p:sp>
    </p:spTree>
    <p:extLst>
      <p:ext uri="{BB962C8B-B14F-4D97-AF65-F5344CB8AC3E}">
        <p14:creationId xmlns:p14="http://schemas.microsoft.com/office/powerpoint/2010/main" val="1634522961"/>
      </p:ext>
    </p:extLst>
  </p:cSld>
</p:sld>
</file>

<file path=ppt/slides/slide3.xml><?xml version="1.0" encoding="utf-8"?>
<p:sld xmlns:p="http://schemas.openxmlformats.org/presentationml/2006/main">
  <p:cSld>
    <p:bg>
      <p:bgPr>
        <a:solidFill xmlns:a="http://schemas.openxmlformats.org/drawingml/2006/main">
          <a:srgbClr val="FCFAF8"/>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5fe265303fd41ef"/>
          <a:stretch xmlns:a="http://schemas.openxmlformats.org/drawingml/2006/main"/>
        </p:blipFill>
        <p:spPr>
          <a:xfrm xmlns:a="http://schemas.openxmlformats.org/drawingml/2006/main">
            <a:off x="685800" y="1644650"/>
            <a:ext cx="4953000" cy="3302000"/>
          </a:xfrm>
          <a:prstGeom xmlns:a="http://schemas.openxmlformats.org/drawingml/2006/main" prst="roundRect">
            <a:avLst/>
          </a:prstGeom>
        </p:spPr>
      </p:pic>
      <p:sp>
        <p:nvSpPr>
          <p:cNvPr id="2" name="">
            <a:extLst xmlns:a="http://schemas.openxmlformats.org/drawingml/2006/main">
              <a:ext uri="{FF2B5EF4-FFF2-40B4-BE49-F238E27FC236}">
                <a16:creationId xmlns:a16="http://schemas.microsoft.com/office/drawing/2014/main" id="{B86E2C34-3C3C-469C-80B3-DD83B2343C97}"/>
              </a:ext>
            </a:extLst>
          </p:cNvPr>
          <p:cNvSpPr>
            <a:spLocks xmlns:a="http://schemas.openxmlformats.org/drawingml/2006/main" noGrp="1"/>
          </p:cNvSpPr>
          <p:nvPr/>
        </p:nvSpPr>
        <p:spPr>
          <a:xfrm xmlns:a="http://schemas.openxmlformats.org/drawingml/2006/main">
            <a:off x="685800" y="1276350"/>
            <a:ext cx="4953000" cy="4038600"/>
          </a:xfrm>
          <a:prstGeom xmlns:a="http://schemas.openxmlformats.org/drawingml/2006/main" prst="roundRect">
            <a:avLst>
              <a:gd name="adj" fmla="val 2830"/>
            </a:avLst>
          </a:prstGeom>
          <a:noFill xmlns:a="http://schemas.openxmlformats.org/drawingml/2006/main"/>
          <a:ln xmlns:a="http://schemas.openxmlformats.org/drawingml/2006/main" w="19050">
            <a:solidFill>
              <a:srgbClr val="D8C9CC"/>
            </a:solidFill>
            <a:prstDash val="solid"/>
          </a:ln>
        </p:spPr>
      </p:sp>
      <p:sp>
        <p:nvSpPr>
          <p:cNvPr id="3" name="">
            <a:extLst xmlns:a="http://schemas.openxmlformats.org/drawingml/2006/main">
              <a:ext uri="{FF2B5EF4-FFF2-40B4-BE49-F238E27FC236}">
                <a16:creationId xmlns:a16="http://schemas.microsoft.com/office/drawing/2014/main" id="{E7B1DED1-FF50-42C8-B06A-24A89A31DBB8}"/>
              </a:ext>
            </a:extLst>
          </p:cNvPr>
          <p:cNvSpPr>
            <a:spLocks xmlns:a="http://schemas.openxmlformats.org/drawingml/2006/main" noGrp="1"/>
          </p:cNvSpPr>
          <p:nvPr/>
        </p:nvSpPr>
        <p:spPr>
          <a:xfrm xmlns:a="http://schemas.openxmlformats.org/drawingml/2006/main">
            <a:off x="685800" y="4953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700" b="1">
                <a:solidFill>
                  <a:srgbClr val="3B1118"/>
                </a:solidFill>
              </a:defRPr>
            </a:pPr>
            <a:r>
              <a:rPr sz="2700" b="1">
                <a:solidFill>
                  <a:srgbClr val="3B1118"/>
                </a:solidFill>
              </a:rPr>
              <a:t>Audience and ethics shape every visual decision</a:t>
            </a:r>
          </a:p>
        </p:txBody>
      </p:sp>
      <p:sp>
        <p:nvSpPr>
          <p:cNvPr id="4" name="">
            <a:extLst xmlns:a="http://schemas.openxmlformats.org/drawingml/2006/main">
              <a:ext uri="{FF2B5EF4-FFF2-40B4-BE49-F238E27FC236}">
                <a16:creationId xmlns:a16="http://schemas.microsoft.com/office/drawing/2014/main" id="{14571894-4A50-4D91-8315-BA8013FE02B5}"/>
              </a:ext>
            </a:extLst>
          </p:cNvPr>
          <p:cNvSpPr>
            <a:spLocks xmlns:a="http://schemas.openxmlformats.org/drawingml/2006/main" noGrp="1"/>
          </p:cNvSpPr>
          <p:nvPr/>
        </p:nvSpPr>
        <p:spPr>
          <a:xfrm xmlns:a="http://schemas.openxmlformats.org/drawingml/2006/main">
            <a:off x="6096000" y="1524000"/>
            <a:ext cx="5410200" cy="182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a:solidFill>
                  <a:srgbClr val="25171A"/>
                </a:solidFill>
              </a:defRPr>
            </a:pPr>
            <a:r>
              <a:rPr sz="1500">
                <a:solidFill>
                  <a:srgbClr val="25171A"/>
                </a:solidFill>
              </a:rPr>
              <a:t>Start with what the audience needs to notice, understand and do. Use hierarchy, contrast, proportion, balance and negative space to guide attention. Record the creator and source, check actual permission, protect privacy and transform material honestly. Attribution alone is not permission; uncertain cultural or AI-assisted material needs accountable human review.</a:t>
            </a:r>
          </a:p>
        </p:txBody>
      </p:sp>
      <p:sp>
        <p:nvSpPr>
          <p:cNvPr id="5" name="">
            <a:extLst xmlns:a="http://schemas.openxmlformats.org/drawingml/2006/main">
              <a:ext uri="{FF2B5EF4-FFF2-40B4-BE49-F238E27FC236}">
                <a16:creationId xmlns:a16="http://schemas.microsoft.com/office/drawing/2014/main" id="{1FA982CF-E863-41EC-A9DB-C10A8F916462}"/>
              </a:ext>
            </a:extLst>
          </p:cNvPr>
          <p:cNvSpPr>
            <a:spLocks xmlns:a="http://schemas.openxmlformats.org/drawingml/2006/main" noGrp="1"/>
          </p:cNvSpPr>
          <p:nvPr/>
        </p:nvSpPr>
        <p:spPr>
          <a:xfrm xmlns:a="http://schemas.openxmlformats.org/drawingml/2006/main">
            <a:off x="6096000" y="3676650"/>
            <a:ext cx="876300" cy="47625"/>
          </a:xfrm>
          <a:prstGeom xmlns:a="http://schemas.openxmlformats.org/drawingml/2006/main" prst="rect">
            <a:avLst/>
          </a:prstGeom>
          <a:solidFill xmlns:a="http://schemas.openxmlformats.org/drawingml/2006/main">
            <a:srgbClr val="8B2433"/>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DF03FE4-209D-4B69-A368-C88A00F3B5FC}"/>
              </a:ext>
            </a:extLst>
          </p:cNvPr>
          <p:cNvSpPr>
            <a:spLocks xmlns:a="http://schemas.openxmlformats.org/drawingml/2006/main" noGrp="1"/>
          </p:cNvSpPr>
          <p:nvPr/>
        </p:nvSpPr>
        <p:spPr>
          <a:xfrm xmlns:a="http://schemas.openxmlformats.org/drawingml/2006/main">
            <a:off x="6096000" y="3962400"/>
            <a:ext cx="54102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8B2433"/>
                </a:solidFill>
              </a:defRPr>
            </a:pPr>
            <a:r>
              <a:rPr sz="1575" b="1">
                <a:solidFill>
                  <a:srgbClr val="8B2433"/>
                </a:solidFill>
              </a:rPr>
              <a:t>Decide → Which visual choice serves the audience, and which source check must happen before release?</a:t>
            </a:r>
          </a:p>
        </p:txBody>
      </p:sp>
      <p:sp>
        <p:nvSpPr>
          <p:cNvPr id="7" name="">
            <a:extLst xmlns:a="http://schemas.openxmlformats.org/drawingml/2006/main">
              <a:ext uri="{FF2B5EF4-FFF2-40B4-BE49-F238E27FC236}">
                <a16:creationId xmlns:a16="http://schemas.microsoft.com/office/drawing/2014/main" id="{9E843971-C75C-4865-9A91-9130C56F5EC4}"/>
              </a:ext>
            </a:extLst>
          </p:cNvPr>
          <p:cNvSpPr>
            <a:spLocks xmlns:a="http://schemas.openxmlformats.org/drawingml/2006/main" noGrp="1"/>
          </p:cNvSpPr>
          <p:nvPr/>
        </p:nvSpPr>
        <p:spPr>
          <a:xfrm xmlns:a="http://schemas.openxmlformats.org/drawingml/2006/main">
            <a:off x="6096000" y="5010150"/>
            <a:ext cx="5410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a:solidFill>
                  <a:srgbClr val="66585B"/>
                </a:solidFill>
              </a:defRPr>
            </a:pPr>
            <a:r>
              <a:rPr sz="1200">
                <a:solidFill>
                  <a:srgbClr val="66585B"/>
                </a:solidFill>
              </a:rPr>
              <a:t>Clear communication and ethical sourcing belong in the same design workflow.</a:t>
            </a:r>
          </a:p>
        </p:txBody>
      </p:sp>
      <p:sp>
        <p:nvSpPr>
          <p:cNvPr id="8" name="">
            <a:extLst xmlns:a="http://schemas.openxmlformats.org/drawingml/2006/main">
              <a:ext uri="{FF2B5EF4-FFF2-40B4-BE49-F238E27FC236}">
                <a16:creationId xmlns:a16="http://schemas.microsoft.com/office/drawing/2014/main" id="{8EAE9908-2D2B-4DE6-A659-7BD1A0B10095}"/>
              </a:ext>
            </a:extLst>
          </p:cNvPr>
          <p:cNvSpPr>
            <a:spLocks xmlns:a="http://schemas.openxmlformats.org/drawingml/2006/main" noGrp="1"/>
          </p:cNvSpPr>
          <p:nvPr/>
        </p:nvSpPr>
        <p:spPr>
          <a:xfrm xmlns:a="http://schemas.openxmlformats.org/drawingml/2006/main">
            <a:off x="685800" y="6477000"/>
            <a:ext cx="10820400" cy="9525"/>
          </a:xfrm>
          <a:prstGeom xmlns:a="http://schemas.openxmlformats.org/drawingml/2006/main" prst="rect">
            <a:avLst/>
          </a:prstGeom>
          <a:solidFill xmlns:a="http://schemas.openxmlformats.org/drawingml/2006/main">
            <a:srgbClr val="D8C9C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4616E62-6211-4E8E-97F3-DD04B2AD303B}"/>
              </a:ext>
            </a:extLst>
          </p:cNvPr>
          <p:cNvSpPr>
            <a:spLocks xmlns:a="http://schemas.openxmlformats.org/drawingml/2006/main" noGrp="1"/>
          </p:cNvSpPr>
          <p:nvPr/>
        </p:nvSpPr>
        <p:spPr>
          <a:xfrm xmlns:a="http://schemas.openxmlformats.org/drawingml/2006/main">
            <a:off x="685800" y="654367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b="1">
                <a:solidFill>
                  <a:srgbClr val="66585B"/>
                </a:solidFill>
              </a:defRPr>
            </a:pPr>
            <a:r>
              <a:rPr sz="900" b="1">
                <a:solidFill>
                  <a:srgbClr val="66585B"/>
                </a:solidFill>
              </a:rPr>
              <a:t>YEAR 9 GRAPHICS  •  MODULE 4</a:t>
            </a:r>
          </a:p>
        </p:txBody>
      </p:sp>
      <p:sp>
        <p:nvSpPr>
          <p:cNvPr id="10" name="">
            <a:extLst xmlns:a="http://schemas.openxmlformats.org/drawingml/2006/main">
              <a:ext uri="{FF2B5EF4-FFF2-40B4-BE49-F238E27FC236}">
                <a16:creationId xmlns:a16="http://schemas.microsoft.com/office/drawing/2014/main" id="{EFCFF508-D0F0-4E1B-8D00-F7C311AF1D95}"/>
              </a:ext>
            </a:extLst>
          </p:cNvPr>
          <p:cNvSpPr>
            <a:spLocks xmlns:a="http://schemas.openxmlformats.org/drawingml/2006/main" noGrp="1"/>
          </p:cNvSpPr>
          <p:nvPr/>
        </p:nvSpPr>
        <p:spPr>
          <a:xfrm xmlns:a="http://schemas.openxmlformats.org/drawingml/2006/main">
            <a:off x="10953750" y="653415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1">
                <a:solidFill>
                  <a:srgbClr val="8B2433"/>
                </a:solidFill>
              </a:defRPr>
            </a:pPr>
            <a:r>
              <a:rPr sz="900" b="1">
                <a:solidFill>
                  <a:srgbClr val="8B2433"/>
                </a:solidFill>
              </a:rPr>
              <a:t>03</a:t>
            </a:r>
          </a:p>
        </p:txBody>
      </p:sp>
    </p:spTree>
    <p:extLst>
      <p:ext uri="{BB962C8B-B14F-4D97-AF65-F5344CB8AC3E}">
        <p14:creationId xmlns:p14="http://schemas.microsoft.com/office/powerpoint/2010/main" val="1186371365"/>
      </p:ext>
    </p:extLst>
  </p:cSld>
</p:sld>
</file>

<file path=ppt/slides/slide4.xml><?xml version="1.0" encoding="utf-8"?>
<p:sld xmlns:p="http://schemas.openxmlformats.org/presentationml/2006/main">
  <p:cSld>
    <p:bg>
      <p:bgPr>
        <a:solidFill xmlns:a="http://schemas.openxmlformats.org/drawingml/2006/main">
          <a:srgbClr val="FCFAF8"/>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d3ca5cd31eb348f3"/>
          <a:stretch xmlns:a="http://schemas.openxmlformats.org/drawingml/2006/main"/>
        </p:blipFill>
        <p:spPr>
          <a:xfrm xmlns:a="http://schemas.openxmlformats.org/drawingml/2006/main">
            <a:off x="6553200" y="1644650"/>
            <a:ext cx="4953000" cy="3302000"/>
          </a:xfrm>
          <a:prstGeom xmlns:a="http://schemas.openxmlformats.org/drawingml/2006/main" prst="roundRect">
            <a:avLst/>
          </a:prstGeom>
        </p:spPr>
      </p:pic>
      <p:sp>
        <p:nvSpPr>
          <p:cNvPr id="2" name="">
            <a:extLst xmlns:a="http://schemas.openxmlformats.org/drawingml/2006/main">
              <a:ext uri="{FF2B5EF4-FFF2-40B4-BE49-F238E27FC236}">
                <a16:creationId xmlns:a16="http://schemas.microsoft.com/office/drawing/2014/main" id="{B86990CF-93FA-429B-AF48-EEF2E4B2F2A8}"/>
              </a:ext>
            </a:extLst>
          </p:cNvPr>
          <p:cNvSpPr>
            <a:spLocks xmlns:a="http://schemas.openxmlformats.org/drawingml/2006/main" noGrp="1"/>
          </p:cNvSpPr>
          <p:nvPr/>
        </p:nvSpPr>
        <p:spPr>
          <a:xfrm xmlns:a="http://schemas.openxmlformats.org/drawingml/2006/main">
            <a:off x="6553200" y="1276350"/>
            <a:ext cx="4953000" cy="4038600"/>
          </a:xfrm>
          <a:prstGeom xmlns:a="http://schemas.openxmlformats.org/drawingml/2006/main" prst="roundRect">
            <a:avLst>
              <a:gd name="adj" fmla="val 2830"/>
            </a:avLst>
          </a:prstGeom>
          <a:noFill xmlns:a="http://schemas.openxmlformats.org/drawingml/2006/main"/>
          <a:ln xmlns:a="http://schemas.openxmlformats.org/drawingml/2006/main" w="19050">
            <a:solidFill>
              <a:srgbClr val="D8C9CC"/>
            </a:solidFill>
            <a:prstDash val="solid"/>
          </a:ln>
        </p:spPr>
      </p:sp>
      <p:sp>
        <p:nvSpPr>
          <p:cNvPr id="3" name="">
            <a:extLst xmlns:a="http://schemas.openxmlformats.org/drawingml/2006/main">
              <a:ext uri="{FF2B5EF4-FFF2-40B4-BE49-F238E27FC236}">
                <a16:creationId xmlns:a16="http://schemas.microsoft.com/office/drawing/2014/main" id="{A6405B1D-461C-43B3-B3F0-5E247707C59E}"/>
              </a:ext>
            </a:extLst>
          </p:cNvPr>
          <p:cNvSpPr>
            <a:spLocks xmlns:a="http://schemas.openxmlformats.org/drawingml/2006/main" noGrp="1"/>
          </p:cNvSpPr>
          <p:nvPr/>
        </p:nvSpPr>
        <p:spPr>
          <a:xfrm xmlns:a="http://schemas.openxmlformats.org/drawingml/2006/main">
            <a:off x="685800" y="4953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700" b="1">
                <a:solidFill>
                  <a:srgbClr val="3B1118"/>
                </a:solidFill>
              </a:defRPr>
            </a:pPr>
            <a:r>
              <a:rPr sz="2700" b="1">
                <a:solidFill>
                  <a:srgbClr val="3B1118"/>
                </a:solidFill>
              </a:rPr>
              <a:t>Vector, raster, colour and layout solve different jobs</a:t>
            </a:r>
          </a:p>
        </p:txBody>
      </p:sp>
      <p:sp>
        <p:nvSpPr>
          <p:cNvPr id="4" name="">
            <a:extLst xmlns:a="http://schemas.openxmlformats.org/drawingml/2006/main">
              <a:ext uri="{FF2B5EF4-FFF2-40B4-BE49-F238E27FC236}">
                <a16:creationId xmlns:a16="http://schemas.microsoft.com/office/drawing/2014/main" id="{76B1D963-8FEB-4965-BD58-0B023BDBAC99}"/>
              </a:ext>
            </a:extLst>
          </p:cNvPr>
          <p:cNvSpPr>
            <a:spLocks xmlns:a="http://schemas.openxmlformats.org/drawingml/2006/main" noGrp="1"/>
          </p:cNvSpPr>
          <p:nvPr/>
        </p:nvSpPr>
        <p:spPr>
          <a:xfrm xmlns:a="http://schemas.openxmlformats.org/drawingml/2006/main">
            <a:off x="685800" y="1524000"/>
            <a:ext cx="5410200" cy="182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a:solidFill>
                  <a:srgbClr val="25171A"/>
                </a:solidFill>
              </a:defRPr>
            </a:pPr>
            <a:r>
              <a:rPr sz="1500">
                <a:solidFill>
                  <a:srgbClr val="25171A"/>
                </a:solidFill>
              </a:rPr>
              <a:t>Vector graphics use paths and suit scalable icons, diagrams and lettering. Raster graphics use pixels and suit detailed images; enlarging cannot recover missing detail. Screens use RGB light while print commonly uses CMYK inks, so appearance may change. Grids support alignment and grouping, while hierarchy and space still require judgement.</a:t>
            </a:r>
          </a:p>
        </p:txBody>
      </p:sp>
      <p:sp>
        <p:nvSpPr>
          <p:cNvPr id="5" name="">
            <a:extLst xmlns:a="http://schemas.openxmlformats.org/drawingml/2006/main">
              <a:ext uri="{FF2B5EF4-FFF2-40B4-BE49-F238E27FC236}">
                <a16:creationId xmlns:a16="http://schemas.microsoft.com/office/drawing/2014/main" id="{5B9F0364-663B-4F31-B81A-EE14CC082942}"/>
              </a:ext>
            </a:extLst>
          </p:cNvPr>
          <p:cNvSpPr>
            <a:spLocks xmlns:a="http://schemas.openxmlformats.org/drawingml/2006/main" noGrp="1"/>
          </p:cNvSpPr>
          <p:nvPr/>
        </p:nvSpPr>
        <p:spPr>
          <a:xfrm xmlns:a="http://schemas.openxmlformats.org/drawingml/2006/main">
            <a:off x="685800" y="3676650"/>
            <a:ext cx="876300" cy="47625"/>
          </a:xfrm>
          <a:prstGeom xmlns:a="http://schemas.openxmlformats.org/drawingml/2006/main" prst="rect">
            <a:avLst/>
          </a:prstGeom>
          <a:solidFill xmlns:a="http://schemas.openxmlformats.org/drawingml/2006/main">
            <a:srgbClr val="8B2433"/>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50DF767-E534-4282-AF81-8956A81023EC}"/>
              </a:ext>
            </a:extLst>
          </p:cNvPr>
          <p:cNvSpPr>
            <a:spLocks xmlns:a="http://schemas.openxmlformats.org/drawingml/2006/main" noGrp="1"/>
          </p:cNvSpPr>
          <p:nvPr/>
        </p:nvSpPr>
        <p:spPr>
          <a:xfrm xmlns:a="http://schemas.openxmlformats.org/drawingml/2006/main">
            <a:off x="685800" y="3962400"/>
            <a:ext cx="54102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8B2433"/>
                </a:solidFill>
              </a:defRPr>
            </a:pPr>
            <a:r>
              <a:rPr sz="1575" b="1">
                <a:solidFill>
                  <a:srgbClr val="8B2433"/>
                </a:solidFill>
              </a:rPr>
              <a:t>Choose → Which structure and colour pathway suit the content and destination?</a:t>
            </a:r>
          </a:p>
        </p:txBody>
      </p:sp>
      <p:sp>
        <p:nvSpPr>
          <p:cNvPr id="7" name="">
            <a:extLst xmlns:a="http://schemas.openxmlformats.org/drawingml/2006/main">
              <a:ext uri="{FF2B5EF4-FFF2-40B4-BE49-F238E27FC236}">
                <a16:creationId xmlns:a16="http://schemas.microsoft.com/office/drawing/2014/main" id="{D0D76D07-5730-43E3-B4C1-73C3B1A9FCF5}"/>
              </a:ext>
            </a:extLst>
          </p:cNvPr>
          <p:cNvSpPr>
            <a:spLocks xmlns:a="http://schemas.openxmlformats.org/drawingml/2006/main" noGrp="1"/>
          </p:cNvSpPr>
          <p:nvPr/>
        </p:nvSpPr>
        <p:spPr>
          <a:xfrm xmlns:a="http://schemas.openxmlformats.org/drawingml/2006/main">
            <a:off x="685800" y="5010150"/>
            <a:ext cx="5410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a:solidFill>
                  <a:srgbClr val="66585B"/>
                </a:solidFill>
              </a:defRPr>
            </a:pPr>
            <a:r>
              <a:rPr sz="1200">
                <a:solidFill>
                  <a:srgbClr val="66585B"/>
                </a:solidFill>
              </a:rPr>
              <a:t>Choose output characteristics from the content, editability needs and destination—not one universal setting.</a:t>
            </a:r>
          </a:p>
        </p:txBody>
      </p:sp>
      <p:sp>
        <p:nvSpPr>
          <p:cNvPr id="8" name="">
            <a:extLst xmlns:a="http://schemas.openxmlformats.org/drawingml/2006/main">
              <a:ext uri="{FF2B5EF4-FFF2-40B4-BE49-F238E27FC236}">
                <a16:creationId xmlns:a16="http://schemas.microsoft.com/office/drawing/2014/main" id="{AF104901-1ACD-4C60-A52B-4C8F2A01E555}"/>
              </a:ext>
            </a:extLst>
          </p:cNvPr>
          <p:cNvSpPr>
            <a:spLocks xmlns:a="http://schemas.openxmlformats.org/drawingml/2006/main" noGrp="1"/>
          </p:cNvSpPr>
          <p:nvPr/>
        </p:nvSpPr>
        <p:spPr>
          <a:xfrm xmlns:a="http://schemas.openxmlformats.org/drawingml/2006/main">
            <a:off x="685800" y="6477000"/>
            <a:ext cx="10820400" cy="9525"/>
          </a:xfrm>
          <a:prstGeom xmlns:a="http://schemas.openxmlformats.org/drawingml/2006/main" prst="rect">
            <a:avLst/>
          </a:prstGeom>
          <a:solidFill xmlns:a="http://schemas.openxmlformats.org/drawingml/2006/main">
            <a:srgbClr val="D8C9C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893A57E-DE65-416F-A404-F02094C4107B}"/>
              </a:ext>
            </a:extLst>
          </p:cNvPr>
          <p:cNvSpPr>
            <a:spLocks xmlns:a="http://schemas.openxmlformats.org/drawingml/2006/main" noGrp="1"/>
          </p:cNvSpPr>
          <p:nvPr/>
        </p:nvSpPr>
        <p:spPr>
          <a:xfrm xmlns:a="http://schemas.openxmlformats.org/drawingml/2006/main">
            <a:off x="685800" y="654367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b="1">
                <a:solidFill>
                  <a:srgbClr val="66585B"/>
                </a:solidFill>
              </a:defRPr>
            </a:pPr>
            <a:r>
              <a:rPr sz="900" b="1">
                <a:solidFill>
                  <a:srgbClr val="66585B"/>
                </a:solidFill>
              </a:rPr>
              <a:t>YEAR 9 GRAPHICS  •  MODULE 4</a:t>
            </a:r>
          </a:p>
        </p:txBody>
      </p:sp>
      <p:sp>
        <p:nvSpPr>
          <p:cNvPr id="10" name="">
            <a:extLst xmlns:a="http://schemas.openxmlformats.org/drawingml/2006/main">
              <a:ext uri="{FF2B5EF4-FFF2-40B4-BE49-F238E27FC236}">
                <a16:creationId xmlns:a16="http://schemas.microsoft.com/office/drawing/2014/main" id="{9D4E6391-D91B-49B3-B650-2A10FE6888CC}"/>
              </a:ext>
            </a:extLst>
          </p:cNvPr>
          <p:cNvSpPr>
            <a:spLocks xmlns:a="http://schemas.openxmlformats.org/drawingml/2006/main" noGrp="1"/>
          </p:cNvSpPr>
          <p:nvPr/>
        </p:nvSpPr>
        <p:spPr>
          <a:xfrm xmlns:a="http://schemas.openxmlformats.org/drawingml/2006/main">
            <a:off x="10953750" y="653415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1">
                <a:solidFill>
                  <a:srgbClr val="8B2433"/>
                </a:solidFill>
              </a:defRPr>
            </a:pPr>
            <a:r>
              <a:rPr sz="900" b="1">
                <a:solidFill>
                  <a:srgbClr val="8B2433"/>
                </a:solidFill>
              </a:rPr>
              <a:t>04</a:t>
            </a:r>
          </a:p>
        </p:txBody>
      </p:sp>
    </p:spTree>
    <p:extLst>
      <p:ext uri="{BB962C8B-B14F-4D97-AF65-F5344CB8AC3E}">
        <p14:creationId xmlns:p14="http://schemas.microsoft.com/office/powerpoint/2010/main" val="993980473"/>
      </p:ext>
    </p:extLst>
  </p:cSld>
</p:sld>
</file>

<file path=ppt/slides/slide5.xml><?xml version="1.0" encoding="utf-8"?>
<p:sld xmlns:p="http://schemas.openxmlformats.org/presentationml/2006/main">
  <p:cSld>
    <p:bg>
      <p:bgPr>
        <a:solidFill xmlns:a="http://schemas.openxmlformats.org/drawingml/2006/main">
          <a:srgbClr val="1B1718"/>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cb1922aae7d843d4"/>
          <a:srcRect xmlns:a="http://schemas.openxmlformats.org/drawingml/2006/main" l="0" t="30078" r="0" b="30078"/>
          <a:stretch xmlns:a="http://schemas.openxmlformats.org/drawingml/2006/main">
            <a:fillRect l="0" t="0" r="0" b="0"/>
          </a:stretch>
        </p:blipFill>
        <p:spPr>
          <a:xfrm xmlns:a="http://schemas.openxmlformats.org/drawingml/2006/main">
            <a:off x="0" y="0"/>
            <a:ext cx="12192000" cy="3238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3BDF537-BBCB-42AE-AF41-C77D98043343}"/>
              </a:ext>
            </a:extLst>
          </p:cNvPr>
          <p:cNvSpPr>
            <a:spLocks xmlns:a="http://schemas.openxmlformats.org/drawingml/2006/main" noGrp="1"/>
          </p:cNvSpPr>
          <p:nvPr/>
        </p:nvSpPr>
        <p:spPr>
          <a:xfrm xmlns:a="http://schemas.openxmlformats.org/drawingml/2006/main">
            <a:off x="0" y="3028950"/>
            <a:ext cx="12192000" cy="3829050"/>
          </a:xfrm>
          <a:prstGeom xmlns:a="http://schemas.openxmlformats.org/drawingml/2006/main" prst="rect">
            <a:avLst/>
          </a:prstGeom>
          <a:solidFill xmlns:a="http://schemas.openxmlformats.org/drawingml/2006/main">
            <a:srgbClr val="1B171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535CBA0-94E5-4BFB-8D30-89F761E9F5C8}"/>
              </a:ext>
            </a:extLst>
          </p:cNvPr>
          <p:cNvSpPr>
            <a:spLocks xmlns:a="http://schemas.openxmlformats.org/drawingml/2006/main" noGrp="1"/>
          </p:cNvSpPr>
          <p:nvPr/>
        </p:nvSpPr>
        <p:spPr>
          <a:xfrm xmlns:a="http://schemas.openxmlformats.org/drawingml/2006/main">
            <a:off x="685800" y="335280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700" b="1">
                <a:solidFill>
                  <a:srgbClr val="FFFFFF"/>
                </a:solidFill>
              </a:defRPr>
            </a:pPr>
            <a:r>
              <a:rPr sz="2700" b="1">
                <a:solidFill>
                  <a:srgbClr val="FFFFFF"/>
                </a:solidFill>
              </a:rPr>
              <a:t>Motion and portfolio evidence need a communication job</a:t>
            </a:r>
          </a:p>
        </p:txBody>
      </p:sp>
      <p:sp>
        <p:nvSpPr>
          <p:cNvPr id="4" name="">
            <a:extLst xmlns:a="http://schemas.openxmlformats.org/drawingml/2006/main">
              <a:ext uri="{FF2B5EF4-FFF2-40B4-BE49-F238E27FC236}">
                <a16:creationId xmlns:a16="http://schemas.microsoft.com/office/drawing/2014/main" id="{6CE40F21-3299-43AC-B6D9-31F985BE780A}"/>
              </a:ext>
            </a:extLst>
          </p:cNvPr>
          <p:cNvSpPr>
            <a:spLocks xmlns:a="http://schemas.openxmlformats.org/drawingml/2006/main" noGrp="1"/>
          </p:cNvSpPr>
          <p:nvPr/>
        </p:nvSpPr>
        <p:spPr>
          <a:xfrm xmlns:a="http://schemas.openxmlformats.org/drawingml/2006/main">
            <a:off x="685800" y="4114800"/>
            <a:ext cx="68389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a:solidFill>
                  <a:srgbClr val="F7EDEF"/>
                </a:solidFill>
              </a:defRPr>
            </a:pPr>
            <a:r>
              <a:rPr sz="1425">
                <a:solidFill>
                  <a:srgbClr val="F7EDEF"/>
                </a:solidFill>
              </a:rPr>
              <a:t>Storyboard motion before production so sequence, timing and captions support the message. Provide a static or text pathway so meaning does not depend on motion, colour or audio alone. Curate intention, concepts, feedback, revision, result and evaluation into a clear presentation rather than dumping every file.</a:t>
            </a:r>
          </a:p>
        </p:txBody>
      </p:sp>
      <p:sp>
        <p:nvSpPr>
          <p:cNvPr id="5" name="">
            <a:extLst xmlns:a="http://schemas.openxmlformats.org/drawingml/2006/main">
              <a:ext uri="{FF2B5EF4-FFF2-40B4-BE49-F238E27FC236}">
                <a16:creationId xmlns:a16="http://schemas.microsoft.com/office/drawing/2014/main" id="{A15011D9-7677-4C7F-93EB-CA5D9194441D}"/>
              </a:ext>
            </a:extLst>
          </p:cNvPr>
          <p:cNvSpPr>
            <a:spLocks xmlns:a="http://schemas.openxmlformats.org/drawingml/2006/main" noGrp="1"/>
          </p:cNvSpPr>
          <p:nvPr/>
        </p:nvSpPr>
        <p:spPr>
          <a:xfrm xmlns:a="http://schemas.openxmlformats.org/drawingml/2006/main">
            <a:off x="7962900" y="4114800"/>
            <a:ext cx="35433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1">
                <a:solidFill>
                  <a:srgbClr val="FFD8DF"/>
                </a:solidFill>
              </a:defRPr>
            </a:pPr>
            <a:r>
              <a:rPr sz="1575" b="1">
                <a:solidFill>
                  <a:srgbClr val="FFD8DF"/>
                </a:solidFill>
              </a:rPr>
              <a:t>Edit → Which evidence makes the decision visible, and what next improvement can you defend?</a:t>
            </a:r>
          </a:p>
        </p:txBody>
      </p:sp>
      <p:sp>
        <p:nvSpPr>
          <p:cNvPr id="6" name="">
            <a:extLst xmlns:a="http://schemas.openxmlformats.org/drawingml/2006/main">
              <a:ext uri="{FF2B5EF4-FFF2-40B4-BE49-F238E27FC236}">
                <a16:creationId xmlns:a16="http://schemas.microsoft.com/office/drawing/2014/main" id="{232AC0C8-1206-4832-A6D6-5FB9475C2BF5}"/>
              </a:ext>
            </a:extLst>
          </p:cNvPr>
          <p:cNvSpPr>
            <a:spLocks xmlns:a="http://schemas.openxmlformats.org/drawingml/2006/main" noGrp="1"/>
          </p:cNvSpPr>
          <p:nvPr/>
        </p:nvSpPr>
        <p:spPr>
          <a:xfrm xmlns:a="http://schemas.openxmlformats.org/drawingml/2006/main">
            <a:off x="7962900" y="5467350"/>
            <a:ext cx="3543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a:solidFill>
                  <a:srgbClr val="D7C9CC"/>
                </a:solidFill>
              </a:defRPr>
            </a:pPr>
            <a:r>
              <a:rPr sz="1200">
                <a:solidFill>
                  <a:srgbClr val="D7C9CC"/>
                </a:solidFill>
              </a:rPr>
              <a:t>A strong presentation connects claim, evidence and reasoning, then acknowledges a limitation.</a:t>
            </a:r>
          </a:p>
        </p:txBody>
      </p:sp>
      <p:sp>
        <p:nvSpPr>
          <p:cNvPr id="7" name="">
            <a:extLst xmlns:a="http://schemas.openxmlformats.org/drawingml/2006/main">
              <a:ext uri="{FF2B5EF4-FFF2-40B4-BE49-F238E27FC236}">
                <a16:creationId xmlns:a16="http://schemas.microsoft.com/office/drawing/2014/main" id="{05223C62-2F83-40D8-9BFC-C0ED5E9B5325}"/>
              </a:ext>
            </a:extLst>
          </p:cNvPr>
          <p:cNvSpPr>
            <a:spLocks xmlns:a="http://schemas.openxmlformats.org/drawingml/2006/main" noGrp="1"/>
          </p:cNvSpPr>
          <p:nvPr/>
        </p:nvSpPr>
        <p:spPr>
          <a:xfrm xmlns:a="http://schemas.openxmlformats.org/drawingml/2006/main">
            <a:off x="685800" y="6477000"/>
            <a:ext cx="10820400" cy="9525"/>
          </a:xfrm>
          <a:prstGeom xmlns:a="http://schemas.openxmlformats.org/drawingml/2006/main" prst="rect">
            <a:avLst/>
          </a:prstGeom>
          <a:solidFill xmlns:a="http://schemas.openxmlformats.org/drawingml/2006/main">
            <a:srgbClr val="D8C9C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CF51D36-42CD-4948-A39A-89D73C99444D}"/>
              </a:ext>
            </a:extLst>
          </p:cNvPr>
          <p:cNvSpPr>
            <a:spLocks xmlns:a="http://schemas.openxmlformats.org/drawingml/2006/main" noGrp="1"/>
          </p:cNvSpPr>
          <p:nvPr/>
        </p:nvSpPr>
        <p:spPr>
          <a:xfrm xmlns:a="http://schemas.openxmlformats.org/drawingml/2006/main">
            <a:off x="685800" y="654367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b="1">
                <a:solidFill>
                  <a:srgbClr val="66585B"/>
                </a:solidFill>
              </a:defRPr>
            </a:pPr>
            <a:r>
              <a:rPr sz="900" b="1">
                <a:solidFill>
                  <a:srgbClr val="66585B"/>
                </a:solidFill>
              </a:rPr>
              <a:t>YEAR 9 GRAPHICS  •  MODULE 4</a:t>
            </a:r>
          </a:p>
        </p:txBody>
      </p:sp>
      <p:sp>
        <p:nvSpPr>
          <p:cNvPr id="9" name="">
            <a:extLst xmlns:a="http://schemas.openxmlformats.org/drawingml/2006/main">
              <a:ext uri="{FF2B5EF4-FFF2-40B4-BE49-F238E27FC236}">
                <a16:creationId xmlns:a16="http://schemas.microsoft.com/office/drawing/2014/main" id="{4AD97B56-835B-45FE-8239-80395D4940FE}"/>
              </a:ext>
            </a:extLst>
          </p:cNvPr>
          <p:cNvSpPr>
            <a:spLocks xmlns:a="http://schemas.openxmlformats.org/drawingml/2006/main" noGrp="1"/>
          </p:cNvSpPr>
          <p:nvPr/>
        </p:nvSpPr>
        <p:spPr>
          <a:xfrm xmlns:a="http://schemas.openxmlformats.org/drawingml/2006/main">
            <a:off x="10953750" y="653415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1">
                <a:solidFill>
                  <a:srgbClr val="8B2433"/>
                </a:solidFill>
              </a:defRPr>
            </a:pPr>
            <a:r>
              <a:rPr sz="900" b="1">
                <a:solidFill>
                  <a:srgbClr val="8B2433"/>
                </a:solidFill>
              </a:rPr>
              <a:t>05</a:t>
            </a:r>
          </a:p>
        </p:txBody>
      </p:sp>
    </p:spTree>
    <p:extLst>
      <p:ext uri="{BB962C8B-B14F-4D97-AF65-F5344CB8AC3E}">
        <p14:creationId xmlns:p14="http://schemas.microsoft.com/office/powerpoint/2010/main" val="259119333"/>
      </p:ext>
    </p:extLst>
  </p:cSld>
</p:sld>
</file>

<file path=ppt/slides/slide6.xml><?xml version="1.0" encoding="utf-8"?>
<p:sld xmlns:p="http://schemas.openxmlformats.org/presentationml/2006/main">
  <p:cSld>
    <p:bg>
      <p:bgPr>
        <a:solidFill xmlns:a="http://schemas.openxmlformats.org/drawingml/2006/main">
          <a:srgbClr val="3B111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20B4AC4-E6DB-4C39-ACE8-47B94523CBA6}"/>
              </a:ext>
            </a:extLst>
          </p:cNvPr>
          <p:cNvSpPr>
            <a:spLocks xmlns:a="http://schemas.openxmlformats.org/drawingml/2006/main" noGrp="1"/>
          </p:cNvSpPr>
          <p:nvPr/>
        </p:nvSpPr>
        <p:spPr>
          <a:xfrm xmlns:a="http://schemas.openxmlformats.org/drawingml/2006/main">
            <a:off x="685800" y="552450"/>
            <a:ext cx="7810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3000" b="1">
                <a:solidFill>
                  <a:srgbClr val="FFFFFF"/>
                </a:solidFill>
              </a:defRPr>
            </a:pPr>
            <a:r>
              <a:rPr sz="3000" b="1">
                <a:solidFill>
                  <a:srgbClr val="FFFFFF"/>
                </a:solidFill>
              </a:rPr>
              <a:t>Retrieve before you look back</a:t>
            </a:r>
          </a:p>
        </p:txBody>
      </p:sp>
      <p:sp>
        <p:nvSpPr>
          <p:cNvPr id="2" name="">
            <a:extLst xmlns:a="http://schemas.openxmlformats.org/drawingml/2006/main">
              <a:ext uri="{FF2B5EF4-FFF2-40B4-BE49-F238E27FC236}">
                <a16:creationId xmlns:a16="http://schemas.microsoft.com/office/drawing/2014/main" id="{BE295F93-AA02-4E0D-8AAB-A32A9819350D}"/>
              </a:ext>
            </a:extLst>
          </p:cNvPr>
          <p:cNvSpPr>
            <a:spLocks xmlns:a="http://schemas.openxmlformats.org/drawingml/2006/main" noGrp="1"/>
          </p:cNvSpPr>
          <p:nvPr/>
        </p:nvSpPr>
        <p:spPr>
          <a:xfrm xmlns:a="http://schemas.openxmlformats.org/drawingml/2006/main">
            <a:off x="685800" y="1200150"/>
            <a:ext cx="7429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a:solidFill>
                  <a:srgbClr val="F1D8DE"/>
                </a:solidFill>
              </a:defRPr>
            </a:pPr>
            <a:r>
              <a:rPr sz="1500">
                <a:solidFill>
                  <a:srgbClr val="F1D8DE"/>
                </a:solidFill>
              </a:rPr>
              <a:t>Answer in a phrase first. Then add the because.</a:t>
            </a:r>
          </a:p>
        </p:txBody>
      </p:sp>
      <p:sp>
        <p:nvSpPr>
          <p:cNvPr id="3" name="">
            <a:extLst xmlns:a="http://schemas.openxmlformats.org/drawingml/2006/main">
              <a:ext uri="{FF2B5EF4-FFF2-40B4-BE49-F238E27FC236}">
                <a16:creationId xmlns:a16="http://schemas.microsoft.com/office/drawing/2014/main" id="{77B2624C-D97B-42EE-A83B-7BDC31502B67}"/>
              </a:ext>
            </a:extLst>
          </p:cNvPr>
          <p:cNvSpPr>
            <a:spLocks xmlns:a="http://schemas.openxmlformats.org/drawingml/2006/main" noGrp="1"/>
          </p:cNvSpPr>
          <p:nvPr/>
        </p:nvSpPr>
        <p:spPr>
          <a:xfrm xmlns:a="http://schemas.openxmlformats.org/drawingml/2006/main">
            <a:off x="876300" y="1981200"/>
            <a:ext cx="68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800" b="1">
                <a:solidFill>
                  <a:srgbClr val="F4A9B8"/>
                </a:solidFill>
              </a:defRPr>
            </a:pPr>
            <a:r>
              <a:rPr sz="1800" b="1">
                <a:solidFill>
                  <a:srgbClr val="F4A9B8"/>
                </a:solidFill>
              </a:rPr>
              <a:t>01</a:t>
            </a:r>
          </a:p>
        </p:txBody>
      </p:sp>
      <p:sp>
        <p:nvSpPr>
          <p:cNvPr id="4" name="">
            <a:extLst xmlns:a="http://schemas.openxmlformats.org/drawingml/2006/main">
              <a:ext uri="{FF2B5EF4-FFF2-40B4-BE49-F238E27FC236}">
                <a16:creationId xmlns:a16="http://schemas.microsoft.com/office/drawing/2014/main" id="{61FAE8B6-5677-4044-B6EC-7C7DE71524A8}"/>
              </a:ext>
            </a:extLst>
          </p:cNvPr>
          <p:cNvSpPr>
            <a:spLocks xmlns:a="http://schemas.openxmlformats.org/drawingml/2006/main" noGrp="1"/>
          </p:cNvSpPr>
          <p:nvPr/>
        </p:nvSpPr>
        <p:spPr>
          <a:xfrm xmlns:a="http://schemas.openxmlformats.org/drawingml/2006/main">
            <a:off x="1638300" y="1981200"/>
            <a:ext cx="9029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725">
                <a:solidFill>
                  <a:srgbClr val="FFFFFF"/>
                </a:solidFill>
              </a:defRPr>
            </a:pPr>
            <a:r>
              <a:rPr sz="1725">
                <a:solidFill>
                  <a:srgbClr val="FFFFFF"/>
                </a:solidFill>
              </a:rPr>
              <a:t>How do audience needs change hierarchy or layout?</a:t>
            </a:r>
          </a:p>
        </p:txBody>
      </p:sp>
      <p:sp>
        <p:nvSpPr>
          <p:cNvPr id="5" name="">
            <a:extLst xmlns:a="http://schemas.openxmlformats.org/drawingml/2006/main">
              <a:ext uri="{FF2B5EF4-FFF2-40B4-BE49-F238E27FC236}">
                <a16:creationId xmlns:a16="http://schemas.microsoft.com/office/drawing/2014/main" id="{C1561B16-6A6F-4FC9-84B7-5EC410FF884F}"/>
              </a:ext>
            </a:extLst>
          </p:cNvPr>
          <p:cNvSpPr>
            <a:spLocks xmlns:a="http://schemas.openxmlformats.org/drawingml/2006/main" noGrp="1"/>
          </p:cNvSpPr>
          <p:nvPr/>
        </p:nvSpPr>
        <p:spPr>
          <a:xfrm xmlns:a="http://schemas.openxmlformats.org/drawingml/2006/main">
            <a:off x="876300" y="2857500"/>
            <a:ext cx="68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800" b="1">
                <a:solidFill>
                  <a:srgbClr val="F4A9B8"/>
                </a:solidFill>
              </a:defRPr>
            </a:pPr>
            <a:r>
              <a:rPr sz="1800" b="1">
                <a:solidFill>
                  <a:srgbClr val="F4A9B8"/>
                </a:solidFill>
              </a:rPr>
              <a:t>02</a:t>
            </a:r>
          </a:p>
        </p:txBody>
      </p:sp>
      <p:sp>
        <p:nvSpPr>
          <p:cNvPr id="6" name="">
            <a:extLst xmlns:a="http://schemas.openxmlformats.org/drawingml/2006/main">
              <a:ext uri="{FF2B5EF4-FFF2-40B4-BE49-F238E27FC236}">
                <a16:creationId xmlns:a16="http://schemas.microsoft.com/office/drawing/2014/main" id="{C1159877-6EBB-4DDE-A067-0901FEC3AF5C}"/>
              </a:ext>
            </a:extLst>
          </p:cNvPr>
          <p:cNvSpPr>
            <a:spLocks xmlns:a="http://schemas.openxmlformats.org/drawingml/2006/main" noGrp="1"/>
          </p:cNvSpPr>
          <p:nvPr/>
        </p:nvSpPr>
        <p:spPr>
          <a:xfrm xmlns:a="http://schemas.openxmlformats.org/drawingml/2006/main">
            <a:off x="1638300" y="2857500"/>
            <a:ext cx="9029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725">
                <a:solidFill>
                  <a:srgbClr val="FFFFFF"/>
                </a:solidFill>
              </a:defRPr>
            </a:pPr>
            <a:r>
              <a:rPr sz="1725">
                <a:solidFill>
                  <a:srgbClr val="FFFFFF"/>
                </a:solidFill>
              </a:rPr>
              <a:t>Why is attribution alone not enough to reuse an image?</a:t>
            </a:r>
          </a:p>
        </p:txBody>
      </p:sp>
      <p:sp>
        <p:nvSpPr>
          <p:cNvPr id="7" name="">
            <a:extLst xmlns:a="http://schemas.openxmlformats.org/drawingml/2006/main">
              <a:ext uri="{FF2B5EF4-FFF2-40B4-BE49-F238E27FC236}">
                <a16:creationId xmlns:a16="http://schemas.microsoft.com/office/drawing/2014/main" id="{DEBF3C41-3D51-4468-B14C-8FB4E6B21DCA}"/>
              </a:ext>
            </a:extLst>
          </p:cNvPr>
          <p:cNvSpPr>
            <a:spLocks xmlns:a="http://schemas.openxmlformats.org/drawingml/2006/main" noGrp="1"/>
          </p:cNvSpPr>
          <p:nvPr/>
        </p:nvSpPr>
        <p:spPr>
          <a:xfrm xmlns:a="http://schemas.openxmlformats.org/drawingml/2006/main">
            <a:off x="876300" y="3733800"/>
            <a:ext cx="68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800" b="1">
                <a:solidFill>
                  <a:srgbClr val="F4A9B8"/>
                </a:solidFill>
              </a:defRPr>
            </a:pPr>
            <a:r>
              <a:rPr sz="1800" b="1">
                <a:solidFill>
                  <a:srgbClr val="F4A9B8"/>
                </a:solidFill>
              </a:rPr>
              <a:t>03</a:t>
            </a:r>
          </a:p>
        </p:txBody>
      </p:sp>
      <p:sp>
        <p:nvSpPr>
          <p:cNvPr id="8" name="">
            <a:extLst xmlns:a="http://schemas.openxmlformats.org/drawingml/2006/main">
              <a:ext uri="{FF2B5EF4-FFF2-40B4-BE49-F238E27FC236}">
                <a16:creationId xmlns:a16="http://schemas.microsoft.com/office/drawing/2014/main" id="{D2F2C435-375E-4724-85B0-00B8B2E21E56}"/>
              </a:ext>
            </a:extLst>
          </p:cNvPr>
          <p:cNvSpPr>
            <a:spLocks xmlns:a="http://schemas.openxmlformats.org/drawingml/2006/main" noGrp="1"/>
          </p:cNvSpPr>
          <p:nvPr/>
        </p:nvSpPr>
        <p:spPr>
          <a:xfrm xmlns:a="http://schemas.openxmlformats.org/drawingml/2006/main">
            <a:off x="1638300" y="3733800"/>
            <a:ext cx="9029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725">
                <a:solidFill>
                  <a:srgbClr val="FFFFFF"/>
                </a:solidFill>
              </a:defRPr>
            </a:pPr>
            <a:r>
              <a:rPr sz="1725">
                <a:solidFill>
                  <a:srgbClr val="FFFFFF"/>
                </a:solidFill>
              </a:rPr>
              <a:t>When should vector and raster content be chosen?</a:t>
            </a:r>
          </a:p>
        </p:txBody>
      </p:sp>
      <p:sp>
        <p:nvSpPr>
          <p:cNvPr id="9" name="">
            <a:extLst xmlns:a="http://schemas.openxmlformats.org/drawingml/2006/main">
              <a:ext uri="{FF2B5EF4-FFF2-40B4-BE49-F238E27FC236}">
                <a16:creationId xmlns:a16="http://schemas.microsoft.com/office/drawing/2014/main" id="{9ED2FF50-E42D-41F6-9616-D5380C02E18A}"/>
              </a:ext>
            </a:extLst>
          </p:cNvPr>
          <p:cNvSpPr>
            <a:spLocks xmlns:a="http://schemas.openxmlformats.org/drawingml/2006/main" noGrp="1"/>
          </p:cNvSpPr>
          <p:nvPr/>
        </p:nvSpPr>
        <p:spPr>
          <a:xfrm xmlns:a="http://schemas.openxmlformats.org/drawingml/2006/main">
            <a:off x="876300" y="4610100"/>
            <a:ext cx="68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800" b="1">
                <a:solidFill>
                  <a:srgbClr val="F4A9B8"/>
                </a:solidFill>
              </a:defRPr>
            </a:pPr>
            <a:r>
              <a:rPr sz="1800" b="1">
                <a:solidFill>
                  <a:srgbClr val="F4A9B8"/>
                </a:solidFill>
              </a:rPr>
              <a:t>04</a:t>
            </a:r>
          </a:p>
        </p:txBody>
      </p:sp>
      <p:sp>
        <p:nvSpPr>
          <p:cNvPr id="10" name="">
            <a:extLst xmlns:a="http://schemas.openxmlformats.org/drawingml/2006/main">
              <a:ext uri="{FF2B5EF4-FFF2-40B4-BE49-F238E27FC236}">
                <a16:creationId xmlns:a16="http://schemas.microsoft.com/office/drawing/2014/main" id="{E4BFD8CD-57C5-42C5-A4F8-A2865AA73635}"/>
              </a:ext>
            </a:extLst>
          </p:cNvPr>
          <p:cNvSpPr>
            <a:spLocks xmlns:a="http://schemas.openxmlformats.org/drawingml/2006/main" noGrp="1"/>
          </p:cNvSpPr>
          <p:nvPr/>
        </p:nvSpPr>
        <p:spPr>
          <a:xfrm xmlns:a="http://schemas.openxmlformats.org/drawingml/2006/main">
            <a:off x="1638300" y="4610100"/>
            <a:ext cx="9029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725">
                <a:solidFill>
                  <a:srgbClr val="FFFFFF"/>
                </a:solidFill>
              </a:defRPr>
            </a:pPr>
            <a:r>
              <a:rPr sz="1725">
                <a:solidFill>
                  <a:srgbClr val="FFFFFF"/>
                </a:solidFill>
              </a:rPr>
              <a:t>What makes motion or portfolio evidence purposeful?</a:t>
            </a:r>
          </a:p>
        </p:txBody>
      </p:sp>
      <p:sp>
        <p:nvSpPr>
          <p:cNvPr id="11" name="">
            <a:extLst xmlns:a="http://schemas.openxmlformats.org/drawingml/2006/main">
              <a:ext uri="{FF2B5EF4-FFF2-40B4-BE49-F238E27FC236}">
                <a16:creationId xmlns:a16="http://schemas.microsoft.com/office/drawing/2014/main" id="{D8116B13-DC61-483E-8CAC-A333891A3C64}"/>
              </a:ext>
            </a:extLst>
          </p:cNvPr>
          <p:cNvSpPr>
            <a:spLocks xmlns:a="http://schemas.openxmlformats.org/drawingml/2006/main" noGrp="1"/>
          </p:cNvSpPr>
          <p:nvPr/>
        </p:nvSpPr>
        <p:spPr>
          <a:xfrm xmlns:a="http://schemas.openxmlformats.org/drawingml/2006/main">
            <a:off x="1638300" y="5676900"/>
            <a:ext cx="9029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4A9B8"/>
                </a:solidFill>
              </a:defRPr>
            </a:pPr>
            <a:r>
              <a:rPr sz="1350" b="1">
                <a:solidFill>
                  <a:srgbClr val="F4A9B8"/>
                </a:solidFill>
              </a:rPr>
              <a:t>Check: can your partner point to the slide evidence that supports the answer?</a:t>
            </a:r>
          </a:p>
        </p:txBody>
      </p:sp>
      <p:sp>
        <p:nvSpPr>
          <p:cNvPr id="12" name="">
            <a:extLst xmlns:a="http://schemas.openxmlformats.org/drawingml/2006/main">
              <a:ext uri="{FF2B5EF4-FFF2-40B4-BE49-F238E27FC236}">
                <a16:creationId xmlns:a16="http://schemas.microsoft.com/office/drawing/2014/main" id="{4B83380F-B68D-4295-BDA6-C40E9C59C7D0}"/>
              </a:ext>
            </a:extLst>
          </p:cNvPr>
          <p:cNvSpPr>
            <a:spLocks xmlns:a="http://schemas.openxmlformats.org/drawingml/2006/main" noGrp="1"/>
          </p:cNvSpPr>
          <p:nvPr/>
        </p:nvSpPr>
        <p:spPr>
          <a:xfrm xmlns:a="http://schemas.openxmlformats.org/drawingml/2006/main">
            <a:off x="685800" y="6477000"/>
            <a:ext cx="10820400" cy="9525"/>
          </a:xfrm>
          <a:prstGeom xmlns:a="http://schemas.openxmlformats.org/drawingml/2006/main" prst="rect">
            <a:avLst/>
          </a:prstGeom>
          <a:solidFill xmlns:a="http://schemas.openxmlformats.org/drawingml/2006/main">
            <a:srgbClr val="D8C9C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CFCF750-BE0B-40E3-A633-43F13C4D96A0}"/>
              </a:ext>
            </a:extLst>
          </p:cNvPr>
          <p:cNvSpPr>
            <a:spLocks xmlns:a="http://schemas.openxmlformats.org/drawingml/2006/main" noGrp="1"/>
          </p:cNvSpPr>
          <p:nvPr/>
        </p:nvSpPr>
        <p:spPr>
          <a:xfrm xmlns:a="http://schemas.openxmlformats.org/drawingml/2006/main">
            <a:off x="685800" y="654367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b="1">
                <a:solidFill>
                  <a:srgbClr val="66585B"/>
                </a:solidFill>
              </a:defRPr>
            </a:pPr>
            <a:r>
              <a:rPr sz="900" b="1">
                <a:solidFill>
                  <a:srgbClr val="66585B"/>
                </a:solidFill>
              </a:rPr>
              <a:t>YEAR 9 GRAPHICS  •  MODULE 4</a:t>
            </a:r>
          </a:p>
        </p:txBody>
      </p:sp>
      <p:sp>
        <p:nvSpPr>
          <p:cNvPr id="14" name="">
            <a:extLst xmlns:a="http://schemas.openxmlformats.org/drawingml/2006/main">
              <a:ext uri="{FF2B5EF4-FFF2-40B4-BE49-F238E27FC236}">
                <a16:creationId xmlns:a16="http://schemas.microsoft.com/office/drawing/2014/main" id="{7B5E4A1C-1212-4F0B-87E6-067B04D9E908}"/>
              </a:ext>
            </a:extLst>
          </p:cNvPr>
          <p:cNvSpPr>
            <a:spLocks xmlns:a="http://schemas.openxmlformats.org/drawingml/2006/main" noGrp="1"/>
          </p:cNvSpPr>
          <p:nvPr/>
        </p:nvSpPr>
        <p:spPr>
          <a:xfrm xmlns:a="http://schemas.openxmlformats.org/drawingml/2006/main">
            <a:off x="10953750" y="653415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1">
                <a:solidFill>
                  <a:srgbClr val="8B2433"/>
                </a:solidFill>
              </a:defRPr>
            </a:pPr>
            <a:r>
              <a:rPr sz="900" b="1">
                <a:solidFill>
                  <a:srgbClr val="8B2433"/>
                </a:solidFill>
              </a:rPr>
              <a:t>06</a:t>
            </a:r>
          </a:p>
        </p:txBody>
      </p:sp>
    </p:spTree>
    <p:extLst>
      <p:ext uri="{BB962C8B-B14F-4D97-AF65-F5344CB8AC3E}">
        <p14:creationId xmlns:p14="http://schemas.microsoft.com/office/powerpoint/2010/main" val="15463769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B58B3EE-AC0C-45A8-8FAD-0C9272014061}"/>
              </a:ext>
            </a:extLst>
          </p:cNvPr>
          <p:cNvSpPr>
            <a:spLocks xmlns:a="http://schemas.openxmlformats.org/drawingml/2006/main" noGrp="1"/>
          </p:cNvSpPr>
          <p:nvPr/>
        </p:nvSpPr>
        <p:spPr>
          <a:xfrm xmlns:a="http://schemas.openxmlformats.org/drawingml/2006/main">
            <a:off x="685800" y="5334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850" b="1">
                <a:solidFill>
                  <a:srgbClr val="3B1118"/>
                </a:solidFill>
              </a:defRPr>
            </a:pPr>
            <a:r>
              <a:rPr sz="2850" b="1">
                <a:solidFill>
                  <a:srgbClr val="3B1118"/>
                </a:solidFill>
              </a:rPr>
              <a:t>Build evidence: Read → Select → Explain → Check</a:t>
            </a:r>
          </a:p>
        </p:txBody>
      </p:sp>
      <p:sp>
        <p:nvSpPr>
          <p:cNvPr id="2" name="">
            <a:extLst xmlns:a="http://schemas.openxmlformats.org/drawingml/2006/main">
              <a:ext uri="{FF2B5EF4-FFF2-40B4-BE49-F238E27FC236}">
                <a16:creationId xmlns:a16="http://schemas.microsoft.com/office/drawing/2014/main" id="{412C4FF8-8DF2-4B11-A9C4-499CD04A7842}"/>
              </a:ext>
            </a:extLst>
          </p:cNvPr>
          <p:cNvSpPr>
            <a:spLocks xmlns:a="http://schemas.openxmlformats.org/drawingml/2006/main" noGrp="1"/>
          </p:cNvSpPr>
          <p:nvPr/>
        </p:nvSpPr>
        <p:spPr>
          <a:xfrm xmlns:a="http://schemas.openxmlformats.org/drawingml/2006/main">
            <a:off x="685800" y="1752600"/>
            <a:ext cx="2324100" cy="1676400"/>
          </a:xfrm>
          <a:prstGeom xmlns:a="http://schemas.openxmlformats.org/drawingml/2006/main" prst="roundRect">
            <a:avLst>
              <a:gd name="adj" fmla="val 9091"/>
            </a:avLst>
          </a:prstGeom>
          <a:solidFill xmlns:a="http://schemas.openxmlformats.org/drawingml/2006/main">
            <a:srgbClr val="FCFAF8"/>
          </a:solidFill>
          <a:ln xmlns:a="http://schemas.openxmlformats.org/drawingml/2006/main" w="19050">
            <a:solidFill>
              <a:srgbClr val="D8C9CC"/>
            </a:solidFill>
            <a:prstDash val="solid"/>
          </a:ln>
        </p:spPr>
      </p:sp>
      <p:sp>
        <p:nvSpPr>
          <p:cNvPr id="3" name="">
            <a:extLst xmlns:a="http://schemas.openxmlformats.org/drawingml/2006/main">
              <a:ext uri="{FF2B5EF4-FFF2-40B4-BE49-F238E27FC236}">
                <a16:creationId xmlns:a16="http://schemas.microsoft.com/office/drawing/2014/main" id="{1AD29E62-74FC-4B73-A6FC-1A3390B3E7DE}"/>
              </a:ext>
            </a:extLst>
          </p:cNvPr>
          <p:cNvSpPr>
            <a:spLocks xmlns:a="http://schemas.openxmlformats.org/drawingml/2006/main" noGrp="1"/>
          </p:cNvSpPr>
          <p:nvPr/>
        </p:nvSpPr>
        <p:spPr>
          <a:xfrm xmlns:a="http://schemas.openxmlformats.org/drawingml/2006/main">
            <a:off x="895350" y="20002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8B2433"/>
                </a:solidFill>
              </a:defRPr>
            </a:pPr>
            <a:r>
              <a:rPr sz="1350" b="1">
                <a:solidFill>
                  <a:srgbClr val="8B2433"/>
                </a:solidFill>
              </a:rPr>
              <a:t>READ</a:t>
            </a:r>
          </a:p>
        </p:txBody>
      </p:sp>
      <p:sp>
        <p:nvSpPr>
          <p:cNvPr id="4" name="">
            <a:extLst xmlns:a="http://schemas.openxmlformats.org/drawingml/2006/main">
              <a:ext uri="{FF2B5EF4-FFF2-40B4-BE49-F238E27FC236}">
                <a16:creationId xmlns:a16="http://schemas.microsoft.com/office/drawing/2014/main" id="{4D30C351-C1DF-4BF8-9F8C-5B11FD5A705F}"/>
              </a:ext>
            </a:extLst>
          </p:cNvPr>
          <p:cNvSpPr>
            <a:spLocks xmlns:a="http://schemas.openxmlformats.org/drawingml/2006/main" noGrp="1"/>
          </p:cNvSpPr>
          <p:nvPr/>
        </p:nvSpPr>
        <p:spPr>
          <a:xfrm xmlns:a="http://schemas.openxmlformats.org/drawingml/2006/main">
            <a:off x="895350" y="2457450"/>
            <a:ext cx="1905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a:solidFill>
                  <a:srgbClr val="25171A"/>
                </a:solidFill>
              </a:defRPr>
            </a:pPr>
            <a:r>
              <a:rPr sz="1425">
                <a:solidFill>
                  <a:srgbClr val="25171A"/>
                </a:solidFill>
              </a:rPr>
              <a:t>Name the audience, source or criterion.</a:t>
            </a:r>
          </a:p>
        </p:txBody>
      </p:sp>
      <p:sp>
        <p:nvSpPr>
          <p:cNvPr id="5" name="">
            <a:extLst xmlns:a="http://schemas.openxmlformats.org/drawingml/2006/main">
              <a:ext uri="{FF2B5EF4-FFF2-40B4-BE49-F238E27FC236}">
                <a16:creationId xmlns:a16="http://schemas.microsoft.com/office/drawing/2014/main" id="{29C40217-C0A2-47AB-B11C-54DCDCAA0BEF}"/>
              </a:ext>
            </a:extLst>
          </p:cNvPr>
          <p:cNvSpPr>
            <a:spLocks xmlns:a="http://schemas.openxmlformats.org/drawingml/2006/main" noGrp="1"/>
          </p:cNvSpPr>
          <p:nvPr/>
        </p:nvSpPr>
        <p:spPr>
          <a:xfrm xmlns:a="http://schemas.openxmlformats.org/drawingml/2006/main">
            <a:off x="3038475" y="23622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8B2433"/>
                </a:solidFill>
              </a:defRPr>
            </a:pPr>
            <a:r>
              <a:rPr sz="2250" b="1">
                <a:solidFill>
                  <a:srgbClr val="8B2433"/>
                </a:solidFill>
              </a:rPr>
              <a:t>→</a:t>
            </a:r>
          </a:p>
        </p:txBody>
      </p:sp>
      <p:sp>
        <p:nvSpPr>
          <p:cNvPr id="6" name="">
            <a:extLst xmlns:a="http://schemas.openxmlformats.org/drawingml/2006/main">
              <a:ext uri="{FF2B5EF4-FFF2-40B4-BE49-F238E27FC236}">
                <a16:creationId xmlns:a16="http://schemas.microsoft.com/office/drawing/2014/main" id="{9A8F45E4-761D-41C0-8084-A4908E9C2FF3}"/>
              </a:ext>
            </a:extLst>
          </p:cNvPr>
          <p:cNvSpPr>
            <a:spLocks xmlns:a="http://schemas.openxmlformats.org/drawingml/2006/main" noGrp="1"/>
          </p:cNvSpPr>
          <p:nvPr/>
        </p:nvSpPr>
        <p:spPr>
          <a:xfrm xmlns:a="http://schemas.openxmlformats.org/drawingml/2006/main">
            <a:off x="3467100" y="1752600"/>
            <a:ext cx="2324100" cy="1676400"/>
          </a:xfrm>
          <a:prstGeom xmlns:a="http://schemas.openxmlformats.org/drawingml/2006/main" prst="roundRect">
            <a:avLst>
              <a:gd name="adj" fmla="val 9091"/>
            </a:avLst>
          </a:prstGeom>
          <a:solidFill xmlns:a="http://schemas.openxmlformats.org/drawingml/2006/main">
            <a:srgbClr val="FCFAF8"/>
          </a:solidFill>
          <a:ln xmlns:a="http://schemas.openxmlformats.org/drawingml/2006/main" w="19050">
            <a:solidFill>
              <a:srgbClr val="D8C9CC"/>
            </a:solidFill>
            <a:prstDash val="solid"/>
          </a:ln>
        </p:spPr>
      </p:sp>
      <p:sp>
        <p:nvSpPr>
          <p:cNvPr id="7" name="">
            <a:extLst xmlns:a="http://schemas.openxmlformats.org/drawingml/2006/main">
              <a:ext uri="{FF2B5EF4-FFF2-40B4-BE49-F238E27FC236}">
                <a16:creationId xmlns:a16="http://schemas.microsoft.com/office/drawing/2014/main" id="{E0E1B877-1378-4121-A673-764F1564A0EB}"/>
              </a:ext>
            </a:extLst>
          </p:cNvPr>
          <p:cNvSpPr>
            <a:spLocks xmlns:a="http://schemas.openxmlformats.org/drawingml/2006/main" noGrp="1"/>
          </p:cNvSpPr>
          <p:nvPr/>
        </p:nvSpPr>
        <p:spPr>
          <a:xfrm xmlns:a="http://schemas.openxmlformats.org/drawingml/2006/main">
            <a:off x="3676650" y="20002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8B2433"/>
                </a:solidFill>
              </a:defRPr>
            </a:pPr>
            <a:r>
              <a:rPr sz="1350" b="1">
                <a:solidFill>
                  <a:srgbClr val="8B2433"/>
                </a:solidFill>
              </a:rPr>
              <a:t>SELECT</a:t>
            </a:r>
          </a:p>
        </p:txBody>
      </p:sp>
      <p:sp>
        <p:nvSpPr>
          <p:cNvPr id="8" name="">
            <a:extLst xmlns:a="http://schemas.openxmlformats.org/drawingml/2006/main">
              <a:ext uri="{FF2B5EF4-FFF2-40B4-BE49-F238E27FC236}">
                <a16:creationId xmlns:a16="http://schemas.microsoft.com/office/drawing/2014/main" id="{D8CF5D38-5BEF-480A-8320-D8F1AA8C963F}"/>
              </a:ext>
            </a:extLst>
          </p:cNvPr>
          <p:cNvSpPr>
            <a:spLocks xmlns:a="http://schemas.openxmlformats.org/drawingml/2006/main" noGrp="1"/>
          </p:cNvSpPr>
          <p:nvPr/>
        </p:nvSpPr>
        <p:spPr>
          <a:xfrm xmlns:a="http://schemas.openxmlformats.org/drawingml/2006/main">
            <a:off x="3676650" y="2457450"/>
            <a:ext cx="1905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a:solidFill>
                  <a:srgbClr val="25171A"/>
                </a:solidFill>
              </a:defRPr>
            </a:pPr>
            <a:r>
              <a:rPr sz="1425">
                <a:solidFill>
                  <a:srgbClr val="25171A"/>
                </a:solidFill>
              </a:rPr>
              <a:t>Choose one visual, decision or revision.</a:t>
            </a:r>
          </a:p>
        </p:txBody>
      </p:sp>
      <p:sp>
        <p:nvSpPr>
          <p:cNvPr id="9" name="">
            <a:extLst xmlns:a="http://schemas.openxmlformats.org/drawingml/2006/main">
              <a:ext uri="{FF2B5EF4-FFF2-40B4-BE49-F238E27FC236}">
                <a16:creationId xmlns:a16="http://schemas.microsoft.com/office/drawing/2014/main" id="{8F844E35-AAAE-4951-B314-037C6534769B}"/>
              </a:ext>
            </a:extLst>
          </p:cNvPr>
          <p:cNvSpPr>
            <a:spLocks xmlns:a="http://schemas.openxmlformats.org/drawingml/2006/main" noGrp="1"/>
          </p:cNvSpPr>
          <p:nvPr/>
        </p:nvSpPr>
        <p:spPr>
          <a:xfrm xmlns:a="http://schemas.openxmlformats.org/drawingml/2006/main">
            <a:off x="5819775" y="23622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8B2433"/>
                </a:solidFill>
              </a:defRPr>
            </a:pPr>
            <a:r>
              <a:rPr sz="2250" b="1">
                <a:solidFill>
                  <a:srgbClr val="8B2433"/>
                </a:solidFill>
              </a:rPr>
              <a:t>→</a:t>
            </a:r>
          </a:p>
        </p:txBody>
      </p:sp>
      <p:sp>
        <p:nvSpPr>
          <p:cNvPr id="10" name="">
            <a:extLst xmlns:a="http://schemas.openxmlformats.org/drawingml/2006/main">
              <a:ext uri="{FF2B5EF4-FFF2-40B4-BE49-F238E27FC236}">
                <a16:creationId xmlns:a16="http://schemas.microsoft.com/office/drawing/2014/main" id="{005EE951-FE20-4105-8F46-1E9AEF2B0D2F}"/>
              </a:ext>
            </a:extLst>
          </p:cNvPr>
          <p:cNvSpPr>
            <a:spLocks xmlns:a="http://schemas.openxmlformats.org/drawingml/2006/main" noGrp="1"/>
          </p:cNvSpPr>
          <p:nvPr/>
        </p:nvSpPr>
        <p:spPr>
          <a:xfrm xmlns:a="http://schemas.openxmlformats.org/drawingml/2006/main">
            <a:off x="6248400" y="1752600"/>
            <a:ext cx="2324100" cy="1676400"/>
          </a:xfrm>
          <a:prstGeom xmlns:a="http://schemas.openxmlformats.org/drawingml/2006/main" prst="roundRect">
            <a:avLst>
              <a:gd name="adj" fmla="val 9091"/>
            </a:avLst>
          </a:prstGeom>
          <a:solidFill xmlns:a="http://schemas.openxmlformats.org/drawingml/2006/main">
            <a:srgbClr val="FBEAEC"/>
          </a:solidFill>
          <a:ln xmlns:a="http://schemas.openxmlformats.org/drawingml/2006/main" w="19050">
            <a:solidFill>
              <a:srgbClr val="8B2433"/>
            </a:solidFill>
            <a:prstDash val="solid"/>
          </a:ln>
        </p:spPr>
      </p:sp>
      <p:sp>
        <p:nvSpPr>
          <p:cNvPr id="11" name="">
            <a:extLst xmlns:a="http://schemas.openxmlformats.org/drawingml/2006/main">
              <a:ext uri="{FF2B5EF4-FFF2-40B4-BE49-F238E27FC236}">
                <a16:creationId xmlns:a16="http://schemas.microsoft.com/office/drawing/2014/main" id="{863307DA-B6B3-470B-84E1-06CE9D1AF3E7}"/>
              </a:ext>
            </a:extLst>
          </p:cNvPr>
          <p:cNvSpPr>
            <a:spLocks xmlns:a="http://schemas.openxmlformats.org/drawingml/2006/main" noGrp="1"/>
          </p:cNvSpPr>
          <p:nvPr/>
        </p:nvSpPr>
        <p:spPr>
          <a:xfrm xmlns:a="http://schemas.openxmlformats.org/drawingml/2006/main">
            <a:off x="6457950" y="20002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8B2433"/>
                </a:solidFill>
              </a:defRPr>
            </a:pPr>
            <a:r>
              <a:rPr sz="1350" b="1">
                <a:solidFill>
                  <a:srgbClr val="8B2433"/>
                </a:solidFill>
              </a:rPr>
              <a:t>EXPLAIN</a:t>
            </a:r>
          </a:p>
        </p:txBody>
      </p:sp>
      <p:sp>
        <p:nvSpPr>
          <p:cNvPr id="12" name="">
            <a:extLst xmlns:a="http://schemas.openxmlformats.org/drawingml/2006/main">
              <a:ext uri="{FF2B5EF4-FFF2-40B4-BE49-F238E27FC236}">
                <a16:creationId xmlns:a16="http://schemas.microsoft.com/office/drawing/2014/main" id="{9AB54ADF-5529-46ED-8F6F-A7486B9B1C8D}"/>
              </a:ext>
            </a:extLst>
          </p:cNvPr>
          <p:cNvSpPr>
            <a:spLocks xmlns:a="http://schemas.openxmlformats.org/drawingml/2006/main" noGrp="1"/>
          </p:cNvSpPr>
          <p:nvPr/>
        </p:nvSpPr>
        <p:spPr>
          <a:xfrm xmlns:a="http://schemas.openxmlformats.org/drawingml/2006/main">
            <a:off x="6457950" y="2457450"/>
            <a:ext cx="1905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a:solidFill>
                  <a:srgbClr val="25171A"/>
                </a:solidFill>
              </a:defRPr>
            </a:pPr>
            <a:r>
              <a:rPr sz="1425">
                <a:solidFill>
                  <a:srgbClr val="25171A"/>
                </a:solidFill>
              </a:rPr>
              <a:t>State what it communicates and why.</a:t>
            </a:r>
          </a:p>
        </p:txBody>
      </p:sp>
      <p:sp>
        <p:nvSpPr>
          <p:cNvPr id="13" name="">
            <a:extLst xmlns:a="http://schemas.openxmlformats.org/drawingml/2006/main">
              <a:ext uri="{FF2B5EF4-FFF2-40B4-BE49-F238E27FC236}">
                <a16:creationId xmlns:a16="http://schemas.microsoft.com/office/drawing/2014/main" id="{FED478AB-FFC2-4269-94EF-698D0A449746}"/>
              </a:ext>
            </a:extLst>
          </p:cNvPr>
          <p:cNvSpPr>
            <a:spLocks xmlns:a="http://schemas.openxmlformats.org/drawingml/2006/main" noGrp="1"/>
          </p:cNvSpPr>
          <p:nvPr/>
        </p:nvSpPr>
        <p:spPr>
          <a:xfrm xmlns:a="http://schemas.openxmlformats.org/drawingml/2006/main">
            <a:off x="8601075" y="23622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8B2433"/>
                </a:solidFill>
              </a:defRPr>
            </a:pPr>
            <a:r>
              <a:rPr sz="2250" b="1">
                <a:solidFill>
                  <a:srgbClr val="8B2433"/>
                </a:solidFill>
              </a:rPr>
              <a:t>→</a:t>
            </a:r>
          </a:p>
        </p:txBody>
      </p:sp>
      <p:sp>
        <p:nvSpPr>
          <p:cNvPr id="14" name="">
            <a:extLst xmlns:a="http://schemas.openxmlformats.org/drawingml/2006/main">
              <a:ext uri="{FF2B5EF4-FFF2-40B4-BE49-F238E27FC236}">
                <a16:creationId xmlns:a16="http://schemas.microsoft.com/office/drawing/2014/main" id="{760C1D49-5EE3-410C-95E1-D6C3546814AB}"/>
              </a:ext>
            </a:extLst>
          </p:cNvPr>
          <p:cNvSpPr>
            <a:spLocks xmlns:a="http://schemas.openxmlformats.org/drawingml/2006/main" noGrp="1"/>
          </p:cNvSpPr>
          <p:nvPr/>
        </p:nvSpPr>
        <p:spPr>
          <a:xfrm xmlns:a="http://schemas.openxmlformats.org/drawingml/2006/main">
            <a:off x="9029700" y="1752600"/>
            <a:ext cx="2324100" cy="1676400"/>
          </a:xfrm>
          <a:prstGeom xmlns:a="http://schemas.openxmlformats.org/drawingml/2006/main" prst="roundRect">
            <a:avLst>
              <a:gd name="adj" fmla="val 9091"/>
            </a:avLst>
          </a:prstGeom>
          <a:solidFill xmlns:a="http://schemas.openxmlformats.org/drawingml/2006/main">
            <a:srgbClr val="FCFAF8"/>
          </a:solidFill>
          <a:ln xmlns:a="http://schemas.openxmlformats.org/drawingml/2006/main" w="19050">
            <a:solidFill>
              <a:srgbClr val="D8C9CC"/>
            </a:solidFill>
            <a:prstDash val="solid"/>
          </a:ln>
        </p:spPr>
      </p:sp>
      <p:sp>
        <p:nvSpPr>
          <p:cNvPr id="15" name="">
            <a:extLst xmlns:a="http://schemas.openxmlformats.org/drawingml/2006/main">
              <a:ext uri="{FF2B5EF4-FFF2-40B4-BE49-F238E27FC236}">
                <a16:creationId xmlns:a16="http://schemas.microsoft.com/office/drawing/2014/main" id="{A4A559DB-86C4-4195-A8E3-999C2B83EB7A}"/>
              </a:ext>
            </a:extLst>
          </p:cNvPr>
          <p:cNvSpPr>
            <a:spLocks xmlns:a="http://schemas.openxmlformats.org/drawingml/2006/main" noGrp="1"/>
          </p:cNvSpPr>
          <p:nvPr/>
        </p:nvSpPr>
        <p:spPr>
          <a:xfrm xmlns:a="http://schemas.openxmlformats.org/drawingml/2006/main">
            <a:off x="9239250" y="20002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8B2433"/>
                </a:solidFill>
              </a:defRPr>
            </a:pPr>
            <a:r>
              <a:rPr sz="1350" b="1">
                <a:solidFill>
                  <a:srgbClr val="8B2433"/>
                </a:solidFill>
              </a:rPr>
              <a:t>CHECK</a:t>
            </a:r>
          </a:p>
        </p:txBody>
      </p:sp>
      <p:sp>
        <p:nvSpPr>
          <p:cNvPr id="16" name="">
            <a:extLst xmlns:a="http://schemas.openxmlformats.org/drawingml/2006/main">
              <a:ext uri="{FF2B5EF4-FFF2-40B4-BE49-F238E27FC236}">
                <a16:creationId xmlns:a16="http://schemas.microsoft.com/office/drawing/2014/main" id="{7FF055DC-7557-4D76-859F-E2293357B5E0}"/>
              </a:ext>
            </a:extLst>
          </p:cNvPr>
          <p:cNvSpPr>
            <a:spLocks xmlns:a="http://schemas.openxmlformats.org/drawingml/2006/main" noGrp="1"/>
          </p:cNvSpPr>
          <p:nvPr/>
        </p:nvSpPr>
        <p:spPr>
          <a:xfrm xmlns:a="http://schemas.openxmlformats.org/drawingml/2006/main">
            <a:off x="9239250" y="2457450"/>
            <a:ext cx="1905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425">
                <a:solidFill>
                  <a:srgbClr val="25171A"/>
                </a:solidFill>
              </a:defRPr>
            </a:pPr>
            <a:r>
              <a:rPr sz="1425">
                <a:solidFill>
                  <a:srgbClr val="25171A"/>
                </a:solidFill>
              </a:rPr>
              <a:t>Verify permission, privacy and evidence limits.</a:t>
            </a:r>
          </a:p>
        </p:txBody>
      </p:sp>
      <p:sp>
        <p:nvSpPr>
          <p:cNvPr id="17" name="">
            <a:extLst xmlns:a="http://schemas.openxmlformats.org/drawingml/2006/main">
              <a:ext uri="{FF2B5EF4-FFF2-40B4-BE49-F238E27FC236}">
                <a16:creationId xmlns:a16="http://schemas.microsoft.com/office/drawing/2014/main" id="{0D9DD8F5-32F1-4F7D-8B84-5920961A8813}"/>
              </a:ext>
            </a:extLst>
          </p:cNvPr>
          <p:cNvSpPr>
            <a:spLocks xmlns:a="http://schemas.openxmlformats.org/drawingml/2006/main" noGrp="1"/>
          </p:cNvSpPr>
          <p:nvPr/>
        </p:nvSpPr>
        <p:spPr>
          <a:xfrm xmlns:a="http://schemas.openxmlformats.org/drawingml/2006/main">
            <a:off x="1257300" y="4114800"/>
            <a:ext cx="9677400" cy="1295400"/>
          </a:xfrm>
          <a:prstGeom xmlns:a="http://schemas.openxmlformats.org/drawingml/2006/main" prst="roundRect">
            <a:avLst>
              <a:gd name="adj" fmla="val 11765"/>
            </a:avLst>
          </a:prstGeom>
          <a:solidFill xmlns:a="http://schemas.openxmlformats.org/drawingml/2006/main">
            <a:srgbClr val="3B111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E69E91F-9754-4629-B1CD-840C803DE31E}"/>
              </a:ext>
            </a:extLst>
          </p:cNvPr>
          <p:cNvSpPr>
            <a:spLocks xmlns:a="http://schemas.openxmlformats.org/drawingml/2006/main" noGrp="1"/>
          </p:cNvSpPr>
          <p:nvPr/>
        </p:nvSpPr>
        <p:spPr>
          <a:xfrm xmlns:a="http://schemas.openxmlformats.org/drawingml/2006/main">
            <a:off x="1562100" y="43434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F4A9B8"/>
                </a:solidFill>
              </a:defRPr>
            </a:pPr>
            <a:r>
              <a:rPr sz="1350" b="1">
                <a:solidFill>
                  <a:srgbClr val="F4A9B8"/>
                </a:solidFill>
              </a:rPr>
              <a:t>Sentence support</a:t>
            </a:r>
          </a:p>
        </p:txBody>
      </p:sp>
      <p:sp>
        <p:nvSpPr>
          <p:cNvPr id="19" name="">
            <a:extLst xmlns:a="http://schemas.openxmlformats.org/drawingml/2006/main">
              <a:ext uri="{FF2B5EF4-FFF2-40B4-BE49-F238E27FC236}">
                <a16:creationId xmlns:a16="http://schemas.microsoft.com/office/drawing/2014/main" id="{2DD66A01-2036-4F23-8C8A-0AE6E5EA7342}"/>
              </a:ext>
            </a:extLst>
          </p:cNvPr>
          <p:cNvSpPr>
            <a:spLocks xmlns:a="http://schemas.openxmlformats.org/drawingml/2006/main" noGrp="1"/>
          </p:cNvSpPr>
          <p:nvPr/>
        </p:nvSpPr>
        <p:spPr>
          <a:xfrm xmlns:a="http://schemas.openxmlformats.org/drawingml/2006/main">
            <a:off x="1562100" y="4724400"/>
            <a:ext cx="876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a:solidFill>
                  <a:srgbClr val="FFFFFF"/>
                </a:solidFill>
              </a:defRPr>
            </a:pPr>
            <a:r>
              <a:rPr sz="1575">
                <a:solidFill>
                  <a:srgbClr val="FFFFFF"/>
                </a:solidFill>
              </a:rPr>
              <a:t>My audience needs ___. I changed ___ because the evidence showed ___. The source check is ___. A remaining limitation and next step are ___.</a:t>
            </a:r>
          </a:p>
        </p:txBody>
      </p:sp>
      <p:sp>
        <p:nvSpPr>
          <p:cNvPr id="20" name="">
            <a:extLst xmlns:a="http://schemas.openxmlformats.org/drawingml/2006/main">
              <a:ext uri="{FF2B5EF4-FFF2-40B4-BE49-F238E27FC236}">
                <a16:creationId xmlns:a16="http://schemas.microsoft.com/office/drawing/2014/main" id="{97F859BF-83CC-4346-8B54-B577E85F392E}"/>
              </a:ext>
            </a:extLst>
          </p:cNvPr>
          <p:cNvSpPr>
            <a:spLocks xmlns:a="http://schemas.openxmlformats.org/drawingml/2006/main" noGrp="1"/>
          </p:cNvSpPr>
          <p:nvPr/>
        </p:nvSpPr>
        <p:spPr>
          <a:xfrm xmlns:a="http://schemas.openxmlformats.org/drawingml/2006/main">
            <a:off x="685800" y="6477000"/>
            <a:ext cx="10820400" cy="9525"/>
          </a:xfrm>
          <a:prstGeom xmlns:a="http://schemas.openxmlformats.org/drawingml/2006/main" prst="rect">
            <a:avLst/>
          </a:prstGeom>
          <a:solidFill xmlns:a="http://schemas.openxmlformats.org/drawingml/2006/main">
            <a:srgbClr val="D8C9CC"/>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435F8D9-2818-4494-BBC7-0E56E85D4031}"/>
              </a:ext>
            </a:extLst>
          </p:cNvPr>
          <p:cNvSpPr>
            <a:spLocks xmlns:a="http://schemas.openxmlformats.org/drawingml/2006/main" noGrp="1"/>
          </p:cNvSpPr>
          <p:nvPr/>
        </p:nvSpPr>
        <p:spPr>
          <a:xfrm xmlns:a="http://schemas.openxmlformats.org/drawingml/2006/main">
            <a:off x="685800" y="654367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b="1">
                <a:solidFill>
                  <a:srgbClr val="66585B"/>
                </a:solidFill>
              </a:defRPr>
            </a:pPr>
            <a:r>
              <a:rPr sz="900" b="1">
                <a:solidFill>
                  <a:srgbClr val="66585B"/>
                </a:solidFill>
              </a:rPr>
              <a:t>YEAR 9 GRAPHICS  •  MODULE 4</a:t>
            </a:r>
          </a:p>
        </p:txBody>
      </p:sp>
      <p:sp>
        <p:nvSpPr>
          <p:cNvPr id="22" name="">
            <a:extLst xmlns:a="http://schemas.openxmlformats.org/drawingml/2006/main">
              <a:ext uri="{FF2B5EF4-FFF2-40B4-BE49-F238E27FC236}">
                <a16:creationId xmlns:a16="http://schemas.microsoft.com/office/drawing/2014/main" id="{84EC5CC6-8906-45B4-BF7B-51C27F9261EE}"/>
              </a:ext>
            </a:extLst>
          </p:cNvPr>
          <p:cNvSpPr>
            <a:spLocks xmlns:a="http://schemas.openxmlformats.org/drawingml/2006/main" noGrp="1"/>
          </p:cNvSpPr>
          <p:nvPr/>
        </p:nvSpPr>
        <p:spPr>
          <a:xfrm xmlns:a="http://schemas.openxmlformats.org/drawingml/2006/main">
            <a:off x="10953750" y="653415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1">
                <a:solidFill>
                  <a:srgbClr val="8B2433"/>
                </a:solidFill>
              </a:defRPr>
            </a:pPr>
            <a:r>
              <a:rPr sz="900" b="1">
                <a:solidFill>
                  <a:srgbClr val="8B2433"/>
                </a:solidFill>
              </a:rPr>
              <a:t>07</a:t>
            </a:r>
          </a:p>
        </p:txBody>
      </p:sp>
    </p:spTree>
    <p:extLst>
      <p:ext uri="{BB962C8B-B14F-4D97-AF65-F5344CB8AC3E}">
        <p14:creationId xmlns:p14="http://schemas.microsoft.com/office/powerpoint/2010/main" val="450139448"/>
      </p:ext>
    </p:extLst>
  </p:cSld>
</p:sld>
</file>

<file path=ppt/slides/slide8.xml><?xml version="1.0" encoding="utf-8"?>
<p:sld xmlns:p="http://schemas.openxmlformats.org/presentationml/2006/main">
  <p:cSld>
    <p:bg>
      <p:bgPr>
        <a:solidFill xmlns:a="http://schemas.openxmlformats.org/drawingml/2006/main">
          <a:srgbClr val="FBEA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E5BEDFD-A267-491B-9298-2E7BFF665ABA}"/>
              </a:ext>
            </a:extLst>
          </p:cNvPr>
          <p:cNvSpPr>
            <a:spLocks xmlns:a="http://schemas.openxmlformats.org/drawingml/2006/main" noGrp="1"/>
          </p:cNvSpPr>
          <p:nvPr/>
        </p:nvSpPr>
        <p:spPr>
          <a:xfrm xmlns:a="http://schemas.openxmlformats.org/drawingml/2006/main">
            <a:off x="0" y="0"/>
            <a:ext cx="2781300" cy="6858000"/>
          </a:xfrm>
          <a:prstGeom xmlns:a="http://schemas.openxmlformats.org/drawingml/2006/main" prst="rect">
            <a:avLst/>
          </a:prstGeom>
          <a:solidFill xmlns:a="http://schemas.openxmlformats.org/drawingml/2006/main">
            <a:srgbClr val="8B243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3AD29C6-5D43-4222-B2E0-9C9B0C5A9AA1}"/>
              </a:ext>
            </a:extLst>
          </p:cNvPr>
          <p:cNvSpPr>
            <a:spLocks xmlns:a="http://schemas.openxmlformats.org/drawingml/2006/main" noGrp="1"/>
          </p:cNvSpPr>
          <p:nvPr/>
        </p:nvSpPr>
        <p:spPr>
          <a:xfrm xmlns:a="http://schemas.openxmlformats.org/drawingml/2006/main">
            <a:off x="552450" y="8572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FFD8DF"/>
                </a:solidFill>
              </a:defRPr>
            </a:pPr>
            <a:r>
              <a:rPr sz="1275" b="1">
                <a:solidFill>
                  <a:srgbClr val="FFD8DF"/>
                </a:solidFill>
              </a:rPr>
              <a:t>MODULE 4</a:t>
            </a:r>
          </a:p>
        </p:txBody>
      </p:sp>
      <p:sp>
        <p:nvSpPr>
          <p:cNvPr id="3" name="">
            <a:extLst xmlns:a="http://schemas.openxmlformats.org/drawingml/2006/main">
              <a:ext uri="{FF2B5EF4-FFF2-40B4-BE49-F238E27FC236}">
                <a16:creationId xmlns:a16="http://schemas.microsoft.com/office/drawing/2014/main" id="{5EEE204C-5845-49C6-91CC-EC243C6E73DA}"/>
              </a:ext>
            </a:extLst>
          </p:cNvPr>
          <p:cNvSpPr>
            <a:spLocks xmlns:a="http://schemas.openxmlformats.org/drawingml/2006/main" noGrp="1"/>
          </p:cNvSpPr>
          <p:nvPr/>
        </p:nvSpPr>
        <p:spPr>
          <a:xfrm xmlns:a="http://schemas.openxmlformats.org/drawingml/2006/main">
            <a:off x="457200" y="1676400"/>
            <a:ext cx="1885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4350" b="1">
                <a:solidFill>
                  <a:srgbClr val="FFFFFF"/>
                </a:solidFill>
              </a:defRPr>
            </a:pPr>
            <a:r>
              <a:rPr sz="4350" b="1">
                <a:solidFill>
                  <a:srgbClr val="FFFFFF"/>
                </a:solidFill>
              </a:rPr>
              <a:t>EXIT</a:t>
            </a:r>
          </a:p>
        </p:txBody>
      </p:sp>
      <p:sp>
        <p:nvSpPr>
          <p:cNvPr id="4" name="">
            <a:extLst xmlns:a="http://schemas.openxmlformats.org/drawingml/2006/main">
              <a:ext uri="{FF2B5EF4-FFF2-40B4-BE49-F238E27FC236}">
                <a16:creationId xmlns:a16="http://schemas.microsoft.com/office/drawing/2014/main" id="{55259A5E-7AC8-4697-9DA6-C567B24110AC}"/>
              </a:ext>
            </a:extLst>
          </p:cNvPr>
          <p:cNvSpPr>
            <a:spLocks xmlns:a="http://schemas.openxmlformats.org/drawingml/2006/main" noGrp="1"/>
          </p:cNvSpPr>
          <p:nvPr/>
        </p:nvSpPr>
        <p:spPr>
          <a:xfrm xmlns:a="http://schemas.openxmlformats.org/drawingml/2006/main">
            <a:off x="361950" y="2400300"/>
            <a:ext cx="2076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FFFFF"/>
                </a:solidFill>
              </a:defRPr>
            </a:pPr>
            <a:r>
              <a:rPr sz="1950" b="1">
                <a:solidFill>
                  <a:srgbClr val="FFFFFF"/>
                </a:solidFill>
              </a:rPr>
              <a:t>EVIDENCE</a:t>
            </a:r>
          </a:p>
        </p:txBody>
      </p:sp>
      <p:sp>
        <p:nvSpPr>
          <p:cNvPr id="5" name="">
            <a:extLst xmlns:a="http://schemas.openxmlformats.org/drawingml/2006/main">
              <a:ext uri="{FF2B5EF4-FFF2-40B4-BE49-F238E27FC236}">
                <a16:creationId xmlns:a16="http://schemas.microsoft.com/office/drawing/2014/main" id="{E42048FD-614E-4ED3-A974-2BBDC77D6F1E}"/>
              </a:ext>
            </a:extLst>
          </p:cNvPr>
          <p:cNvSpPr>
            <a:spLocks xmlns:a="http://schemas.openxmlformats.org/drawingml/2006/main" noGrp="1"/>
          </p:cNvSpPr>
          <p:nvPr/>
        </p:nvSpPr>
        <p:spPr>
          <a:xfrm xmlns:a="http://schemas.openxmlformats.org/drawingml/2006/main">
            <a:off x="3390900" y="971550"/>
            <a:ext cx="714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3B1118"/>
                </a:solidFill>
              </a:defRPr>
            </a:pPr>
            <a:r>
              <a:rPr sz="1950" b="1">
                <a:solidFill>
                  <a:srgbClr val="3B1118"/>
                </a:solidFill>
              </a:rPr>
              <a:t>1  One design principle I can now explain</a:t>
            </a:r>
          </a:p>
        </p:txBody>
      </p:sp>
      <p:sp>
        <p:nvSpPr>
          <p:cNvPr id="6" name="">
            <a:extLst xmlns:a="http://schemas.openxmlformats.org/drawingml/2006/main">
              <a:ext uri="{FF2B5EF4-FFF2-40B4-BE49-F238E27FC236}">
                <a16:creationId xmlns:a16="http://schemas.microsoft.com/office/drawing/2014/main" id="{A67B170A-173F-4A0B-A4C4-644C5BDFBB12}"/>
              </a:ext>
            </a:extLst>
          </p:cNvPr>
          <p:cNvSpPr>
            <a:spLocks xmlns:a="http://schemas.openxmlformats.org/drawingml/2006/main" noGrp="1"/>
          </p:cNvSpPr>
          <p:nvPr/>
        </p:nvSpPr>
        <p:spPr>
          <a:xfrm xmlns:a="http://schemas.openxmlformats.org/drawingml/2006/main">
            <a:off x="3390900" y="1847850"/>
            <a:ext cx="7620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3B1118"/>
                </a:solidFill>
              </a:defRPr>
            </a:pPr>
            <a:r>
              <a:rPr sz="1950" b="1">
                <a:solidFill>
                  <a:srgbClr val="3B1118"/>
                </a:solidFill>
              </a:rPr>
              <a:t>2  One source, layout or motion decision I can point to</a:t>
            </a:r>
          </a:p>
        </p:txBody>
      </p:sp>
      <p:sp>
        <p:nvSpPr>
          <p:cNvPr id="7" name="">
            <a:extLst xmlns:a="http://schemas.openxmlformats.org/drawingml/2006/main">
              <a:ext uri="{FF2B5EF4-FFF2-40B4-BE49-F238E27FC236}">
                <a16:creationId xmlns:a16="http://schemas.microsoft.com/office/drawing/2014/main" id="{2630EF8F-6EF8-4005-A96E-8A0C4642D7D8}"/>
              </a:ext>
            </a:extLst>
          </p:cNvPr>
          <p:cNvSpPr>
            <a:spLocks xmlns:a="http://schemas.openxmlformats.org/drawingml/2006/main" noGrp="1"/>
          </p:cNvSpPr>
          <p:nvPr/>
        </p:nvSpPr>
        <p:spPr>
          <a:xfrm xmlns:a="http://schemas.openxmlformats.org/drawingml/2006/main">
            <a:off x="3390900" y="2876550"/>
            <a:ext cx="742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950" b="1">
                <a:solidFill>
                  <a:srgbClr val="3B1118"/>
                </a:solidFill>
              </a:defRPr>
            </a:pPr>
            <a:r>
              <a:rPr sz="1950" b="1">
                <a:solidFill>
                  <a:srgbClr val="3B1118"/>
                </a:solidFill>
              </a:rPr>
              <a:t>3  One claim I must keep within the evidence</a:t>
            </a:r>
          </a:p>
        </p:txBody>
      </p:sp>
      <p:sp>
        <p:nvSpPr>
          <p:cNvPr id="8" name="">
            <a:extLst xmlns:a="http://schemas.openxmlformats.org/drawingml/2006/main">
              <a:ext uri="{FF2B5EF4-FFF2-40B4-BE49-F238E27FC236}">
                <a16:creationId xmlns:a16="http://schemas.microsoft.com/office/drawing/2014/main" id="{5904A32C-FB9A-4774-A8A8-816C0B526DFF}"/>
              </a:ext>
            </a:extLst>
          </p:cNvPr>
          <p:cNvSpPr>
            <a:spLocks xmlns:a="http://schemas.openxmlformats.org/drawingml/2006/main" noGrp="1"/>
          </p:cNvSpPr>
          <p:nvPr/>
        </p:nvSpPr>
        <p:spPr>
          <a:xfrm xmlns:a="http://schemas.openxmlformats.org/drawingml/2006/main">
            <a:off x="3390900" y="4000500"/>
            <a:ext cx="7505700" cy="13716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9050">
            <a:solidFill>
              <a:srgbClr val="D8C9CC"/>
            </a:solidFill>
            <a:prstDash val="solid"/>
          </a:ln>
        </p:spPr>
      </p:sp>
      <p:sp>
        <p:nvSpPr>
          <p:cNvPr id="9" name="">
            <a:extLst xmlns:a="http://schemas.openxmlformats.org/drawingml/2006/main">
              <a:ext uri="{FF2B5EF4-FFF2-40B4-BE49-F238E27FC236}">
                <a16:creationId xmlns:a16="http://schemas.microsoft.com/office/drawing/2014/main" id="{3E8F5D4A-F78C-4C3D-98A9-B66746883B50}"/>
              </a:ext>
            </a:extLst>
          </p:cNvPr>
          <p:cNvSpPr>
            <a:spLocks xmlns:a="http://schemas.openxmlformats.org/drawingml/2006/main" noGrp="1"/>
          </p:cNvSpPr>
          <p:nvPr/>
        </p:nvSpPr>
        <p:spPr>
          <a:xfrm xmlns:a="http://schemas.openxmlformats.org/drawingml/2006/main">
            <a:off x="3676650" y="42481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8B2433"/>
                </a:solidFill>
              </a:defRPr>
            </a:pPr>
            <a:r>
              <a:rPr sz="1350" b="1">
                <a:solidFill>
                  <a:srgbClr val="8B2433"/>
                </a:solidFill>
              </a:rPr>
              <a:t>SAVE TO MY FOLIO</a:t>
            </a:r>
          </a:p>
        </p:txBody>
      </p:sp>
      <p:sp>
        <p:nvSpPr>
          <p:cNvPr id="10" name="">
            <a:extLst xmlns:a="http://schemas.openxmlformats.org/drawingml/2006/main">
              <a:ext uri="{FF2B5EF4-FFF2-40B4-BE49-F238E27FC236}">
                <a16:creationId xmlns:a16="http://schemas.microsoft.com/office/drawing/2014/main" id="{419946E5-43AA-4F1A-A584-82EFD6476278}"/>
              </a:ext>
            </a:extLst>
          </p:cNvPr>
          <p:cNvSpPr>
            <a:spLocks xmlns:a="http://schemas.openxmlformats.org/drawingml/2006/main" noGrp="1"/>
          </p:cNvSpPr>
          <p:nvPr/>
        </p:nvSpPr>
        <p:spPr>
          <a:xfrm xmlns:a="http://schemas.openxmlformats.org/drawingml/2006/main">
            <a:off x="3676650" y="4667250"/>
            <a:ext cx="6800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a:solidFill>
                  <a:srgbClr val="25171A"/>
                </a:solidFill>
              </a:defRPr>
            </a:pPr>
            <a:r>
              <a:rPr sz="1500">
                <a:solidFill>
                  <a:srgbClr val="25171A"/>
                </a:solidFill>
              </a:rPr>
              <a:t>One dated design comparison, source record or storyboard frame; a caption explaining the decision; and a reasoned evaluation.</a:t>
            </a:r>
          </a:p>
        </p:txBody>
      </p:sp>
      <p:sp>
        <p:nvSpPr>
          <p:cNvPr id="11" name="">
            <a:extLst xmlns:a="http://schemas.openxmlformats.org/drawingml/2006/main">
              <a:ext uri="{FF2B5EF4-FFF2-40B4-BE49-F238E27FC236}">
                <a16:creationId xmlns:a16="http://schemas.microsoft.com/office/drawing/2014/main" id="{2A28C5DC-09D0-4D94-9C9A-512B61389013}"/>
              </a:ext>
            </a:extLst>
          </p:cNvPr>
          <p:cNvSpPr>
            <a:spLocks xmlns:a="http://schemas.openxmlformats.org/drawingml/2006/main" noGrp="1"/>
          </p:cNvSpPr>
          <p:nvPr/>
        </p:nvSpPr>
        <p:spPr>
          <a:xfrm xmlns:a="http://schemas.openxmlformats.org/drawingml/2006/main">
            <a:off x="3390900" y="5791200"/>
            <a:ext cx="7505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66585B"/>
                </a:solidFill>
              </a:defRPr>
            </a:pPr>
            <a:r>
              <a:rPr sz="1350" b="1">
                <a:solidFill>
                  <a:srgbClr val="66585B"/>
                </a:solidFill>
              </a:rPr>
              <a:t>Next: open the matching section package for feedback, then save the stronger response—not every draft.</a:t>
            </a:r>
          </a:p>
        </p:txBody>
      </p:sp>
      <p:sp>
        <p:nvSpPr>
          <p:cNvPr id="12" name="">
            <a:extLst xmlns:a="http://schemas.openxmlformats.org/drawingml/2006/main">
              <a:ext uri="{FF2B5EF4-FFF2-40B4-BE49-F238E27FC236}">
                <a16:creationId xmlns:a16="http://schemas.microsoft.com/office/drawing/2014/main" id="{D9F42F36-34F3-4963-9646-FD76DF8C82C9}"/>
              </a:ext>
            </a:extLst>
          </p:cNvPr>
          <p:cNvSpPr>
            <a:spLocks xmlns:a="http://schemas.openxmlformats.org/drawingml/2006/main" noGrp="1"/>
          </p:cNvSpPr>
          <p:nvPr/>
        </p:nvSpPr>
        <p:spPr>
          <a:xfrm xmlns:a="http://schemas.openxmlformats.org/drawingml/2006/main">
            <a:off x="685800" y="6477000"/>
            <a:ext cx="10820400" cy="9525"/>
          </a:xfrm>
          <a:prstGeom xmlns:a="http://schemas.openxmlformats.org/drawingml/2006/main" prst="rect">
            <a:avLst/>
          </a:prstGeom>
          <a:solidFill xmlns:a="http://schemas.openxmlformats.org/drawingml/2006/main">
            <a:srgbClr val="D8C9C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47F630F-2DD0-4984-888B-D5B0879A63FF}"/>
              </a:ext>
            </a:extLst>
          </p:cNvPr>
          <p:cNvSpPr>
            <a:spLocks xmlns:a="http://schemas.openxmlformats.org/drawingml/2006/main" noGrp="1"/>
          </p:cNvSpPr>
          <p:nvPr/>
        </p:nvSpPr>
        <p:spPr>
          <a:xfrm xmlns:a="http://schemas.openxmlformats.org/drawingml/2006/main">
            <a:off x="685800" y="6543675"/>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900" b="1">
                <a:solidFill>
                  <a:srgbClr val="66585B"/>
                </a:solidFill>
              </a:defRPr>
            </a:pPr>
            <a:r>
              <a:rPr sz="900" b="1">
                <a:solidFill>
                  <a:srgbClr val="66585B"/>
                </a:solidFill>
              </a:rPr>
              <a:t>YEAR 9 GRAPHICS  •  MODULE 4</a:t>
            </a:r>
          </a:p>
        </p:txBody>
      </p:sp>
      <p:sp>
        <p:nvSpPr>
          <p:cNvPr id="14" name="">
            <a:extLst xmlns:a="http://schemas.openxmlformats.org/drawingml/2006/main">
              <a:ext uri="{FF2B5EF4-FFF2-40B4-BE49-F238E27FC236}">
                <a16:creationId xmlns:a16="http://schemas.microsoft.com/office/drawing/2014/main" id="{E141808D-022F-45EB-B473-CCC4185E18F7}"/>
              </a:ext>
            </a:extLst>
          </p:cNvPr>
          <p:cNvSpPr>
            <a:spLocks xmlns:a="http://schemas.openxmlformats.org/drawingml/2006/main" noGrp="1"/>
          </p:cNvSpPr>
          <p:nvPr/>
        </p:nvSpPr>
        <p:spPr>
          <a:xfrm xmlns:a="http://schemas.openxmlformats.org/drawingml/2006/main">
            <a:off x="10953750" y="653415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1">
                <a:solidFill>
                  <a:srgbClr val="8B2433"/>
                </a:solidFill>
              </a:defRPr>
            </a:pPr>
            <a:r>
              <a:rPr sz="900" b="1">
                <a:solidFill>
                  <a:srgbClr val="8B2433"/>
                </a:solidFill>
              </a:rPr>
              <a:t>08</a:t>
            </a:r>
          </a:p>
        </p:txBody>
      </p:sp>
    </p:spTree>
    <p:extLst>
      <p:ext uri="{BB962C8B-B14F-4D97-AF65-F5344CB8AC3E}">
        <p14:creationId xmlns:p14="http://schemas.microsoft.com/office/powerpoint/2010/main" val="714696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2026-08-31T02:46:40.8700000Z</dcterms:created>
  <dcterms:modified xsi:type="dcterms:W3CDTF">2026-08-31T02:46:40.8700000Z</dcterms:modified>
</coreProperties>
</file>