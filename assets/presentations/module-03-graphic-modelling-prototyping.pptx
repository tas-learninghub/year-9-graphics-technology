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134c5f2227410a" /><Relationship Type="http://schemas.openxmlformats.org/officeDocument/2006/relationships/extended-properties" Target="/docProps/app.xml" Id="Ra5fd7d1b616c40d3" /><Relationship Type="http://schemas.openxmlformats.org/officeDocument/2006/relationships/officeDocument" Target="/ppt/presentation.xml" Id="Rab9f9af41c4d4602" /></Relationships>
</file>

<file path=ppt/presentation.xml><?xml version="1.0" encoding="utf-8"?>
<p:presentation xmlns:p="http://schemas.openxmlformats.org/presentationml/2006/main">
  <p:sldMasterIdLst>
    <p:sldMasterId xmlns:r="http://schemas.openxmlformats.org/officeDocument/2006/relationships" id="2147483648" r:id="Rf7c47ae2aaaf477c"/>
  </p:sldMasterIdLst>
  <p:notesMasterIdLst>
    <p:notesMasterId xmlns:r="http://schemas.openxmlformats.org/officeDocument/2006/relationships" r:id="R7b7afed357e74143"/>
  </p:notesMasterIdLst>
  <p:sldIdLst>
    <p:sldId xmlns:r="http://schemas.openxmlformats.org/officeDocument/2006/relationships" id="256" r:id="R32def38278944b7d"/>
    <p:sldId xmlns:r="http://schemas.openxmlformats.org/officeDocument/2006/relationships" id="257" r:id="Rcf0bcb7f091e4b64"/>
    <p:sldId xmlns:r="http://schemas.openxmlformats.org/officeDocument/2006/relationships" id="258" r:id="R24520a96c0944d4c"/>
    <p:sldId xmlns:r="http://schemas.openxmlformats.org/officeDocument/2006/relationships" id="259" r:id="Ra07f369fa0ea494c"/>
    <p:sldId xmlns:r="http://schemas.openxmlformats.org/officeDocument/2006/relationships" id="260" r:id="R21825e7cd0c84376"/>
    <p:sldId xmlns:r="http://schemas.openxmlformats.org/officeDocument/2006/relationships" id="261" r:id="R406229d6b3354885"/>
    <p:sldId xmlns:r="http://schemas.openxmlformats.org/officeDocument/2006/relationships" id="262" r:id="Rd8c531b1decb44b2"/>
    <p:sldId xmlns:r="http://schemas.openxmlformats.org/officeDocument/2006/relationships" id="263" r:id="Ree31999bb1314e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06004e10ca040f8" /><Relationship Type="http://schemas.openxmlformats.org/officeDocument/2006/relationships/slideMaster" Target="/ppt/slideMasters/slideMaster1.xml" Id="Rf7c47ae2aaaf477c" /><Relationship Type="http://schemas.openxmlformats.org/officeDocument/2006/relationships/notesMaster" Target="/ppt/notesMasters/notesMaster1.xml" Id="R7b7afed357e74143" /><Relationship Type="http://schemas.openxmlformats.org/officeDocument/2006/relationships/presProps" Target="/ppt/presProps.xml" Id="R5f533a58e40546ff" /><Relationship Type="http://schemas.openxmlformats.org/officeDocument/2006/relationships/tableStyles" Target="/ppt/tableStyles.xml" Id="R97278516f54f4aaf" /><Relationship Type="http://schemas.openxmlformats.org/officeDocument/2006/relationships/slide" Target="/ppt/slides/slide1.xml" Id="R32def38278944b7d" /><Relationship Type="http://schemas.openxmlformats.org/officeDocument/2006/relationships/slide" Target="/ppt/slides/slide2.xml" Id="Rcf0bcb7f091e4b64" /><Relationship Type="http://schemas.openxmlformats.org/officeDocument/2006/relationships/slide" Target="/ppt/slides/slide3.xml" Id="R24520a96c0944d4c" /><Relationship Type="http://schemas.openxmlformats.org/officeDocument/2006/relationships/slide" Target="/ppt/slides/slide4.xml" Id="Ra07f369fa0ea494c" /><Relationship Type="http://schemas.openxmlformats.org/officeDocument/2006/relationships/slide" Target="/ppt/slides/slide5.xml" Id="R21825e7cd0c84376" /><Relationship Type="http://schemas.openxmlformats.org/officeDocument/2006/relationships/slide" Target="/ppt/slides/slide6.xml" Id="R406229d6b3354885" /><Relationship Type="http://schemas.openxmlformats.org/officeDocument/2006/relationships/slide" Target="/ppt/slides/slide7.xml" Id="Rd8c531b1decb44b2" /><Relationship Type="http://schemas.openxmlformats.org/officeDocument/2006/relationships/slide" Target="/ppt/slides/slide8.xml" Id="Ree31999bb1314e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f7141d494649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097e6d75db48bb" /><Relationship Type="http://schemas.openxmlformats.org/officeDocument/2006/relationships/notesMaster" Target="/ppt/notesMasters/notesMaster1.xml" Id="R2e1c2f268bea4e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d46b74b43c4273" /><Relationship Type="http://schemas.openxmlformats.org/officeDocument/2006/relationships/notesMaster" Target="/ppt/notesMasters/notesMaster1.xml" Id="R1f81892f7c3643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56d200a2d34335" /><Relationship Type="http://schemas.openxmlformats.org/officeDocument/2006/relationships/notesMaster" Target="/ppt/notesMasters/notesMaster1.xml" Id="R7f563f0267de49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4d3d4ff8604425" /><Relationship Type="http://schemas.openxmlformats.org/officeDocument/2006/relationships/notesMaster" Target="/ppt/notesMasters/notesMaster1.xml" Id="R5dc0894af9fb41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cae6e2fe9b4d73" /><Relationship Type="http://schemas.openxmlformats.org/officeDocument/2006/relationships/notesMaster" Target="/ppt/notesMasters/notesMaster1.xml" Id="Rda616311336c4b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b769e4326dc41b3" /><Relationship Type="http://schemas.openxmlformats.org/officeDocument/2006/relationships/notesMaster" Target="/ppt/notesMasters/notesMaster1.xml" Id="R6de177668f42421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f43fd9a5a844c6" /><Relationship Type="http://schemas.openxmlformats.org/officeDocument/2006/relationships/notesMaster" Target="/ppt/notesMasters/notesMaster1.xml" Id="R4f143480b973419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be77a2c8cc43b5" /><Relationship Type="http://schemas.openxmlformats.org/officeDocument/2006/relationships/notesMaster" Target="/ppt/notesMasters/notesMaster1.xml" Id="Re6c1040846504f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Graphic Modelling and Prototyping, slide 1</a:t>
            </a:r>
          </a:p>
          <a:p xmlns:a="http://schemas.openxmlformats.org/drawingml/2006/main">
            <a:r>
              <a:t>- Frame modelling and prototyping as an evidence cycle, not a race to a polished object.</a:t>
            </a:r>
          </a:p>
          <a:p xmlns:a="http://schemas.openxmlformats.org/drawingml/2006/main">
            <a:r>
              <a:t>- Onshape remains the only CAD pathway in this module.</a:t>
            </a:r>
          </a:p>
          <a:p xmlns:a="http://schemas.openxmlformats.org/drawingml/2006/main">
            <a:r>
              <a:t>- Ask: What communication job will Graphic Modelling and Prototyping help us complete?</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https://curriculum.nsw.edu.au/learning-areas/tas/communication-technology-7-10-2025/content/stage-5/ol635da461/faod1879211</a:t>
            </a:r>
          </a:p>
          <a:p xmlns:a="http://schemas.openxmlformats.org/drawingml/2006/main">
            <a:r>
              <a:t>- https://curriculum.nsw.edu.au/learning-areas/tas/communication-technology-7-10-2025/content/stage-5/faedaf189a</a:t>
            </a:r>
          </a:p>
          <a:p xmlns:a="http://schemas.openxmlformats.org/drawingml/2006/main">
            <a:r>
              <a:t>- Course visual: assets/images/m03s01-research-observation-inference-opportunity.jpg — AI-generated teaching visual; provenance recorded in the module visual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Graphic Modelling and Prototyping, slide 2</a:t>
            </a:r>
          </a:p>
          <a:p xmlns:a="http://schemas.openxmlformats.org/drawingml/2006/main">
            <a:r>
              <a:t>- Preview the movement from research to product structure to testing.</a:t>
            </a:r>
          </a:p>
          <a:p xmlns:a="http://schemas.openxmlformats.org/drawingml/2006/main">
            <a:r>
              <a:t>- Ask where a weak early decision would cause the largest downstream problem.</a:t>
            </a:r>
          </a:p>
          <a:p xmlns:a="http://schemas.openxmlformats.org/drawingml/2006/main">
            <a:r>
              <a:t>- Ask: Which idea depends most on the one before it?</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https://curriculum.nsw.edu.au/learning-areas/tas/communication-technology-7-10-2025/content/stage-5/ol635da461/faod1879211</a:t>
            </a:r>
          </a:p>
          <a:p xmlns:a="http://schemas.openxmlformats.org/drawingml/2006/main">
            <a:r>
              <a:t>- https://curriculum.nsw.edu.au/learning-areas/tas/communication-technology-7-10-2025/content/stage-5/fa698bf5c2</a:t>
            </a:r>
          </a:p>
          <a:p xmlns:a="http://schemas.openxmlformats.org/drawingml/2006/main">
            <a:r>
              <a:t>- https://curriculum.nsw.edu.au/learning-areas/tas/communication-technology-7-10-2025/content/stage-5/faedaf189a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Graphic Modelling and Prototyping, slide 3</a:t>
            </a:r>
          </a:p>
          <a:p xmlns:a="http://schemas.openxmlformats.org/drawingml/2006/main">
            <a:r>
              <a:t>- Separate observation from inference before discussing opportunities.</a:t>
            </a:r>
          </a:p>
          <a:p xmlns:a="http://schemas.openxmlformats.org/drawingml/2006/main">
            <a:r>
              <a:t>- Compare concepts against the same criteria and require one named trade-off.</a:t>
            </a:r>
          </a:p>
          <a:p xmlns:a="http://schemas.openxmlformats.org/drawingml/2006/main">
            <a:r>
              <a:t>- Compare → Which concept responds best to the specification, and what evidence supports that choice?</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https://curriculum.nsw.edu.au/learning-areas/tas/communication-technology-7-10-2025/content/stage-5/ol635da461/faod1879211</a:t>
            </a:r>
          </a:p>
          <a:p xmlns:a="http://schemas.openxmlformats.org/drawingml/2006/main">
            <a:r>
              <a:t>- https://curriculum.nsw.edu.au/learning-areas/tas/communication-technology-7-10-2025/content/stage-5/faedaf189a</a:t>
            </a:r>
          </a:p>
          <a:p xmlns:a="http://schemas.openxmlformats.org/drawingml/2006/main">
            <a:r>
              <a:t>- Course visual: assets/images/m03s01-evidence-based-concept-choice.jpg — AI-generated teaching visual; provenance recorded in the module visual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Graphic Modelling and Prototyping, slide 4</a:t>
            </a:r>
          </a:p>
          <a:p xmlns:a="http://schemas.openxmlformats.org/drawingml/2006/main">
            <a:r>
              <a:t>- Trace one component from part definition to assembly instance and drawing label.</a:t>
            </a:r>
          </a:p>
          <a:p xmlns:a="http://schemas.openxmlformats.org/drawingml/2006/main">
            <a:r>
              <a:t>- Contrast a cutting list's manufacture purpose with a parts list or BOM.</a:t>
            </a:r>
          </a:p>
          <a:p xmlns:a="http://schemas.openxmlformats.org/drawingml/2006/main">
            <a:r>
              <a:t>- Trace → Where is one component created, repeated, assembled and documented?</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https://curriculum.nsw.edu.au/learning-areas/tas/communication-technology-7-10-2025/content/stage-5/ol635da461/faod1879211</a:t>
            </a:r>
          </a:p>
          <a:p xmlns:a="http://schemas.openxmlformats.org/drawingml/2006/main">
            <a:r>
              <a:t>- https://curriculum.nsw.edu.au/learning-areas/tas/communication-technology-7-10-2025/content/stage-5/fa698bf5c2</a:t>
            </a:r>
          </a:p>
          <a:p xmlns:a="http://schemas.openxmlformats.org/drawingml/2006/main">
            <a:r>
              <a:t>- https://cad.onshape.com/help/Content/Assembly/assembly.htm</a:t>
            </a:r>
          </a:p>
          <a:p xmlns:a="http://schemas.openxmlformats.org/drawingml/2006/main">
            <a:r>
              <a:t>- https://cad.onshape.com/help/Content/Assembly/bill_of_material.htm</a:t>
            </a:r>
          </a:p>
          <a:p xmlns:a="http://schemas.openxmlformats.org/drawingml/2006/main">
            <a:r>
              <a:t>- https://cad.onshape.com/help/Content/Assembly/exploded_views.htm</a:t>
            </a:r>
          </a:p>
          <a:p xmlns:a="http://schemas.openxmlformats.org/drawingml/2006/main">
            <a:r>
              <a:t>- Course visual: assets/images/m03s02-onshape-part-assembly-drawing-pathway.jpg — AI-generated teaching visual; provenance recorded in the module visual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Graphic Modelling and Prototyping, slide 5</a:t>
            </a:r>
          </a:p>
          <a:p xmlns:a="http://schemas.openxmlformats.org/drawingml/2006/main">
            <a:r>
              <a:t>- Name the question before selecting prototype fidelity.</a:t>
            </a:r>
          </a:p>
          <a:p xmlns:a="http://schemas.openxmlformats.org/drawingml/2006/main">
            <a:r>
              <a:t>- Feedback becomes useful when it is recorded, interpreted and connected to a criterion.</a:t>
            </a:r>
          </a:p>
          <a:p xmlns:a="http://schemas.openxmlformats.org/drawingml/2006/main">
            <a:r>
              <a:t>- Evaluate → What did the test show, what changed, and what limitation remains?</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https://curriculum.nsw.edu.au/learning-areas/tas/communication-technology-7-10-2025/content/stage-5/ol635da461/faod1879211</a:t>
            </a:r>
          </a:p>
          <a:p xmlns:a="http://schemas.openxmlformats.org/drawingml/2006/main">
            <a:r>
              <a:t>- https://curriculum.nsw.edu.au/learning-areas/tas/communication-technology-7-10-2025/content/stage-5/faedaf189a</a:t>
            </a:r>
          </a:p>
          <a:p xmlns:a="http://schemas.openxmlformats.org/drawingml/2006/main">
            <a:r>
              <a:t>- https://cad.onshape.com/help/Content/Document/versions_and_history.htm</a:t>
            </a:r>
          </a:p>
          <a:p xmlns:a="http://schemas.openxmlformats.org/drawingml/2006/main">
            <a:r>
              <a:t>- Course visual: assets/images/m03s03-evaluation-evidence-cycle.jpg — AI-generated teaching visual; provenance recorded in the module visual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Graphic Modelling and Prototyping, slide 6</a:t>
            </a:r>
          </a:p>
          <a:p xmlns:a="http://schemas.openxmlformats.org/drawingml/2006/main">
            <a:r>
              <a:t>- Run no-notes retrieval and pair-check using slide evidence.</a:t>
            </a:r>
          </a:p>
          <a:p xmlns:a="http://schemas.openxmlformats.org/drawingml/2006/main">
            <a:r>
              <a:t>- Require students to explain the distinction, not only define each term.</a:t>
            </a:r>
          </a:p>
          <a:p xmlns:a="http://schemas.openxmlformats.org/drawingml/2006/main">
            <a:r>
              <a:t>- Ask students to support each response with evidence from the teaching slides.</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https://curriculum.nsw.edu.au/learning-areas/tas/communication-technology-7-10-2025/content/stage-5/ol635da461/faod1879211</a:t>
            </a:r>
          </a:p>
          <a:p xmlns:a="http://schemas.openxmlformats.org/drawingml/2006/main">
            <a:r>
              <a:t>- https://curriculum.nsw.edu.au/learning-areas/tas/communication-technology-7-10-2025/content/stage-5/faedaf189a</a:t>
            </a:r>
          </a:p>
          <a:p xmlns:a="http://schemas.openxmlformats.org/drawingml/2006/main">
            <a:r>
              <a:t>- https://cad.onshape.com/help/Content/Assembly/assembly.htm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Graphic Modelling and Prototyping, slide 7</a:t>
            </a:r>
          </a:p>
          <a:p xmlns:a="http://schemas.openxmlformats.org/drawingml/2006/main">
            <a:r>
              <a:t>- Students build one defensible claim from a concept, model or prototype result.</a:t>
            </a:r>
          </a:p>
          <a:p xmlns:a="http://schemas.openxmlformats.org/drawingml/2006/main">
            <a:r>
              <a:t>- Limit the claim to what the test and fidelity can actually show.</a:t>
            </a:r>
          </a:p>
          <a:p xmlns:a="http://schemas.openxmlformats.org/drawingml/2006/main">
            <a:r>
              <a:t>- Ask students to read their completed sentence and identify the exact evidence behind it.</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https://curriculum.nsw.edu.au/learning-areas/tas/communication-technology-7-10-2025/content/stage-5/faedaf189a</a:t>
            </a:r>
          </a:p>
          <a:p xmlns:a="http://schemas.openxmlformats.org/drawingml/2006/main">
            <a:r>
              <a:t>- https://cad.onshape.com/help/Content/Document/versions_and_history.htm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Graphic Modelling and Prototyping, slide 8</a:t>
            </a:r>
          </a:p>
          <a:p xmlns:a="http://schemas.openxmlformats.org/drawingml/2006/main">
            <a:r>
              <a:t>- Students save a concise before–evidence–after trail.</a:t>
            </a:r>
          </a:p>
          <a:p xmlns:a="http://schemas.openxmlformats.org/drawingml/2006/main">
            <a:r>
              <a:t>- Do not infer a formal assessment task, required evidence count or deadline.</a:t>
            </a:r>
          </a:p>
          <a:p xmlns:a="http://schemas.openxmlformats.org/drawingml/2006/main">
            <a:r>
              <a:t>- Ask students which single evidence item is worth saving and why.</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https://curriculum.nsw.edu.au/learning-areas/tas/communication-technology-7-10-2025/content/stage-5/faedaf189a</a:t>
            </a:r>
          </a:p>
          <a:p xmlns:a="http://schemas.openxmlformats.org/drawingml/2006/main">
            <a:r>
              <a:t>- https://curriculum.nsw.edu.au/learning-areas/tas/communication-technology-7-10-2025/content/stage-5/ol635da461/faod1879211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ec4b0f23c643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fc8e649b0e4f98" /><Relationship Type="http://schemas.openxmlformats.org/officeDocument/2006/relationships/slideLayout" Target="/ppt/slideLayouts/slideLayout1.xml" Id="Rfa619be915fb43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619be915fb43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4ba1a3b2c504777" /><Relationship Type="http://schemas.openxmlformats.org/officeDocument/2006/relationships/image" Target="/ppt/media/image.jpeg" Id="Rf71b4511c4724f88" /><Relationship Type="http://schemas.openxmlformats.org/officeDocument/2006/relationships/notesSlide" Target="/ppt/notesSlides/notesSlide1.xml" Id="Rc930c6990db546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3dd2f20d554525" /><Relationship Type="http://schemas.openxmlformats.org/officeDocument/2006/relationships/notesSlide" Target="/ppt/notesSlides/notesSlide2.xml" Id="R3b75d32da8da41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13e4fcfc4ef4610" /><Relationship Type="http://schemas.openxmlformats.org/officeDocument/2006/relationships/image" Target="/ppt/media/image2.jpeg" Id="R3a114f28ad114d6f" /><Relationship Type="http://schemas.openxmlformats.org/officeDocument/2006/relationships/notesSlide" Target="/ppt/notesSlides/notesSlide3.xml" Id="Rbf102c94d0a247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faf22d1deb24901" /><Relationship Type="http://schemas.openxmlformats.org/officeDocument/2006/relationships/image" Target="/ppt/media/image3.jpeg" Id="R9a4c558ffa314de9" /><Relationship Type="http://schemas.openxmlformats.org/officeDocument/2006/relationships/notesSlide" Target="/ppt/notesSlides/notesSlide4.xml" Id="R353fa30fdd284f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dbc19c0e87e43e2" /><Relationship Type="http://schemas.openxmlformats.org/officeDocument/2006/relationships/image" Target="/ppt/media/image4.jpeg" Id="R96edae2f6fb3485c" /><Relationship Type="http://schemas.openxmlformats.org/officeDocument/2006/relationships/notesSlide" Target="/ppt/notesSlides/notesSlide5.xml" Id="R6f5570f929d64e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78b12f68be64255" /><Relationship Type="http://schemas.openxmlformats.org/officeDocument/2006/relationships/notesSlide" Target="/ppt/notesSlides/notesSlide6.xml" Id="R7ab3de0a573442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8f760a2eec04c31" /><Relationship Type="http://schemas.openxmlformats.org/officeDocument/2006/relationships/notesSlide" Target="/ppt/notesSlides/notesSlide7.xml" Id="R460276439b2744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122248b3ba4a4f" /><Relationship Type="http://schemas.openxmlformats.org/officeDocument/2006/relationships/notesSlide" Target="/ppt/notesSlides/notesSlide8.xml" Id="Ra413fb46fa644417" /></Relationships>
</file>

<file path=ppt/slides/slide1.xml><?xml version="1.0" encoding="utf-8"?>
<p:sld xmlns:p="http://schemas.openxmlformats.org/presentationml/2006/main">
  <p:cSld>
    <p:bg>
      <p:bgPr>
        <a:solidFill xmlns:a="http://schemas.openxmlformats.org/drawingml/2006/main">
          <a:srgbClr val="FCFAF8"/>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71b4511c4724f88"/>
          <a:srcRect xmlns:a="http://schemas.openxmlformats.org/drawingml/2006/main" l="0" t="4205" r="0" b="4205"/>
          <a:stretch xmlns:a="http://schemas.openxmlformats.org/drawingml/2006/main">
            <a:fillRect l="0" t="0" r="0" b="0"/>
          </a:stretch>
        </p:blipFill>
        <p:spPr>
          <a:xfrm xmlns:a="http://schemas.openxmlformats.org/drawingml/2006/main">
            <a:off x="6800850" y="0"/>
            <a:ext cx="53911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8F77416-3F14-42EA-BCDB-C60BAF19B35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8E09834-F3C6-46FD-87BD-3E8E71EF8658}"/>
              </a:ext>
            </a:extLst>
          </p:cNvPr>
          <p:cNvSpPr>
            <a:spLocks xmlns:a="http://schemas.openxmlformats.org/drawingml/2006/main" noGrp="1"/>
          </p:cNvSpPr>
          <p:nvPr/>
        </p:nvSpPr>
        <p:spPr>
          <a:xfrm xmlns:a="http://schemas.openxmlformats.org/drawingml/2006/main">
            <a:off x="742950" y="8763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8B2433"/>
                </a:solidFill>
              </a:defRPr>
            </a:pPr>
            <a:r>
              <a:rPr sz="1350" b="1">
                <a:solidFill>
                  <a:srgbClr val="8B2433"/>
                </a:solidFill>
              </a:rPr>
              <a:t>MODULE 3</a:t>
            </a:r>
          </a:p>
        </p:txBody>
      </p:sp>
      <p:sp>
        <p:nvSpPr>
          <p:cNvPr id="4" name="m3-title">
            <a:extLst xmlns:a="http://schemas.openxmlformats.org/drawingml/2006/main">
              <a:ext uri="{FF2B5EF4-FFF2-40B4-BE49-F238E27FC236}">
                <a16:creationId xmlns:a16="http://schemas.microsoft.com/office/drawing/2014/main" id="{257EF84B-014F-47D2-A6EB-6775BE958C58}"/>
              </a:ext>
            </a:extLst>
          </p:cNvPr>
          <p:cNvSpPr>
            <a:spLocks xmlns:a="http://schemas.openxmlformats.org/drawingml/2006/main" noGrp="1"/>
          </p:cNvSpPr>
          <p:nvPr/>
        </p:nvSpPr>
        <p:spPr>
          <a:xfrm xmlns:a="http://schemas.openxmlformats.org/drawingml/2006/main">
            <a:off x="742950" y="1485900"/>
            <a:ext cx="5429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050" b="1">
                <a:solidFill>
                  <a:srgbClr val="3B1118"/>
                </a:solidFill>
              </a:defRPr>
            </a:pPr>
            <a:r>
              <a:rPr sz="4050" b="1">
                <a:solidFill>
                  <a:srgbClr val="3B1118"/>
                </a:solidFill>
              </a:rPr>
              <a:t>Graphic Modelling &amp;
Prototyping</a:t>
            </a:r>
          </a:p>
        </p:txBody>
      </p:sp>
      <p:sp>
        <p:nvSpPr>
          <p:cNvPr id="5" name="">
            <a:extLst xmlns:a="http://schemas.openxmlformats.org/drawingml/2006/main">
              <a:ext uri="{FF2B5EF4-FFF2-40B4-BE49-F238E27FC236}">
                <a16:creationId xmlns:a16="http://schemas.microsoft.com/office/drawing/2014/main" id="{5D917FF0-D468-4714-B44F-EC566C41048F}"/>
              </a:ext>
            </a:extLst>
          </p:cNvPr>
          <p:cNvSpPr>
            <a:spLocks xmlns:a="http://schemas.openxmlformats.org/drawingml/2006/main" noGrp="1"/>
          </p:cNvSpPr>
          <p:nvPr/>
        </p:nvSpPr>
        <p:spPr>
          <a:xfrm xmlns:a="http://schemas.openxmlformats.org/drawingml/2006/main">
            <a:off x="742950" y="3295650"/>
            <a:ext cx="1028700" cy="47625"/>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80BA7BF-B8F7-4EE2-9191-75321A06D027}"/>
              </a:ext>
            </a:extLst>
          </p:cNvPr>
          <p:cNvSpPr>
            <a:spLocks xmlns:a="http://schemas.openxmlformats.org/drawingml/2006/main" noGrp="1"/>
          </p:cNvSpPr>
          <p:nvPr/>
        </p:nvSpPr>
        <p:spPr>
          <a:xfrm xmlns:a="http://schemas.openxmlformats.org/drawingml/2006/main">
            <a:off x="742950" y="3676650"/>
            <a:ext cx="533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25171A"/>
                </a:solidFill>
              </a:defRPr>
            </a:pPr>
            <a:r>
              <a:rPr sz="1800">
                <a:solidFill>
                  <a:srgbClr val="25171A"/>
                </a:solidFill>
              </a:rPr>
              <a:t>Turn research and a brief into alternative concepts, develop parts and assemblies in Onshape, then use purposeful prototypes and testing evidence to improve the design.</a:t>
            </a:r>
          </a:p>
        </p:txBody>
      </p:sp>
      <p:sp>
        <p:nvSpPr>
          <p:cNvPr id="7" name="">
            <a:extLst xmlns:a="http://schemas.openxmlformats.org/drawingml/2006/main">
              <a:ext uri="{FF2B5EF4-FFF2-40B4-BE49-F238E27FC236}">
                <a16:creationId xmlns:a16="http://schemas.microsoft.com/office/drawing/2014/main" id="{DE8AB0AB-0A0B-43C6-BE1D-7C92E3A50A8A}"/>
              </a:ext>
            </a:extLst>
          </p:cNvPr>
          <p:cNvSpPr>
            <a:spLocks xmlns:a="http://schemas.openxmlformats.org/drawingml/2006/main" noGrp="1"/>
          </p:cNvSpPr>
          <p:nvPr/>
        </p:nvSpPr>
        <p:spPr>
          <a:xfrm xmlns:a="http://schemas.openxmlformats.org/drawingml/2006/main">
            <a:off x="742950" y="5676900"/>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66585B"/>
                </a:solidFill>
              </a:defRPr>
            </a:pPr>
            <a:r>
              <a:rPr sz="1275" b="1">
                <a:solidFill>
                  <a:srgbClr val="66585B"/>
                </a:solidFill>
              </a:rPr>
              <a:t>Read the visuals. Explain the decision. Save the evidence.</a:t>
            </a:r>
          </a:p>
        </p:txBody>
      </p:sp>
    </p:spTree>
    <p:extLst>
      <p:ext uri="{BB962C8B-B14F-4D97-AF65-F5344CB8AC3E}">
        <p14:creationId xmlns:p14="http://schemas.microsoft.com/office/powerpoint/2010/main" val="19867566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92F7415-23ED-4398-8636-7137054755F9}"/>
              </a:ext>
            </a:extLst>
          </p:cNvPr>
          <p:cNvSpPr>
            <a:spLocks xmlns:a="http://schemas.openxmlformats.org/drawingml/2006/main" noGrp="1"/>
          </p:cNvSpPr>
          <p:nvPr/>
        </p:nvSpPr>
        <p:spPr>
          <a:xfrm xmlns:a="http://schemas.openxmlformats.org/drawingml/2006/main">
            <a:off x="685800" y="53340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850" b="1">
                <a:solidFill>
                  <a:srgbClr val="3B1118"/>
                </a:solidFill>
              </a:defRPr>
            </a:pPr>
            <a:r>
              <a:rPr sz="2850" b="1">
                <a:solidFill>
                  <a:srgbClr val="3B1118"/>
                </a:solidFill>
              </a:rPr>
              <a:t>Three ideas build one communication workflow</a:t>
            </a:r>
          </a:p>
        </p:txBody>
      </p:sp>
      <p:sp>
        <p:nvSpPr>
          <p:cNvPr id="2" name="">
            <a:extLst xmlns:a="http://schemas.openxmlformats.org/drawingml/2006/main">
              <a:ext uri="{FF2B5EF4-FFF2-40B4-BE49-F238E27FC236}">
                <a16:creationId xmlns:a16="http://schemas.microsoft.com/office/drawing/2014/main" id="{F1D90BD7-3140-4E17-AD35-9ECDA760AAE2}"/>
              </a:ext>
            </a:extLst>
          </p:cNvPr>
          <p:cNvSpPr>
            <a:spLocks xmlns:a="http://schemas.openxmlformats.org/drawingml/2006/main" noGrp="1"/>
          </p:cNvSpPr>
          <p:nvPr/>
        </p:nvSpPr>
        <p:spPr>
          <a:xfrm xmlns:a="http://schemas.openxmlformats.org/drawingml/2006/main">
            <a:off x="685800" y="120015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a:solidFill>
                  <a:srgbClr val="66585B"/>
                </a:solidFill>
              </a:defRPr>
            </a:pPr>
            <a:r>
              <a:rPr sz="1500">
                <a:solidFill>
                  <a:srgbClr val="66585B"/>
                </a:solidFill>
              </a:rPr>
              <a:t>Keep this sequence in mind: understand the context, make a controlled representation, then justify what the evidence means.</a:t>
            </a:r>
          </a:p>
        </p:txBody>
      </p:sp>
      <p:sp>
        <p:nvSpPr>
          <p:cNvPr id="3" name="">
            <a:extLst xmlns:a="http://schemas.openxmlformats.org/drawingml/2006/main">
              <a:ext uri="{FF2B5EF4-FFF2-40B4-BE49-F238E27FC236}">
                <a16:creationId xmlns:a16="http://schemas.microsoft.com/office/drawing/2014/main" id="{B2D2D037-67A8-4EFB-8461-F23925A7EBDD}"/>
              </a:ext>
            </a:extLst>
          </p:cNvPr>
          <p:cNvSpPr>
            <a:spLocks xmlns:a="http://schemas.openxmlformats.org/drawingml/2006/main" noGrp="1"/>
          </p:cNvSpPr>
          <p:nvPr/>
        </p:nvSpPr>
        <p:spPr>
          <a:xfrm xmlns:a="http://schemas.openxmlformats.org/drawingml/2006/main">
            <a:off x="1200150" y="3028950"/>
            <a:ext cx="9772650" cy="38100"/>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F1F522A-61AD-4B9D-8F1A-F370CD4250CB}"/>
              </a:ext>
            </a:extLst>
          </p:cNvPr>
          <p:cNvSpPr>
            <a:spLocks xmlns:a="http://schemas.openxmlformats.org/drawingml/2006/main" noGrp="1"/>
          </p:cNvSpPr>
          <p:nvPr/>
        </p:nvSpPr>
        <p:spPr>
          <a:xfrm xmlns:a="http://schemas.openxmlformats.org/drawingml/2006/main">
            <a:off x="1371600" y="2619375"/>
            <a:ext cx="800100" cy="800100"/>
          </a:xfrm>
          <a:prstGeom xmlns:a="http://schemas.openxmlformats.org/drawingml/2006/main" prst="roundRect">
            <a:avLst>
              <a:gd name="adj" fmla="val 50000"/>
            </a:avLst>
          </a:prstGeom>
          <a:solidFill xmlns:a="http://schemas.openxmlformats.org/drawingml/2006/main">
            <a:srgbClr val="3B111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CBC7D82-AFC9-4631-88EC-F8FA906E81E7}"/>
              </a:ext>
            </a:extLst>
          </p:cNvPr>
          <p:cNvSpPr>
            <a:spLocks xmlns:a="http://schemas.openxmlformats.org/drawingml/2006/main" noGrp="1"/>
          </p:cNvSpPr>
          <p:nvPr/>
        </p:nvSpPr>
        <p:spPr>
          <a:xfrm xmlns:a="http://schemas.openxmlformats.org/drawingml/2006/main">
            <a:off x="1371600" y="2800350"/>
            <a:ext cx="800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FFFFFF"/>
                </a:solidFill>
              </a:defRPr>
            </a:pPr>
            <a:r>
              <a:rPr sz="2100" b="1">
                <a:solidFill>
                  <a:srgbClr val="FFFFFF"/>
                </a:solidFill>
              </a:rPr>
              <a:t>1</a:t>
            </a:r>
          </a:p>
        </p:txBody>
      </p:sp>
      <p:sp>
        <p:nvSpPr>
          <p:cNvPr id="6" name="">
            <a:extLst xmlns:a="http://schemas.openxmlformats.org/drawingml/2006/main">
              <a:ext uri="{FF2B5EF4-FFF2-40B4-BE49-F238E27FC236}">
                <a16:creationId xmlns:a16="http://schemas.microsoft.com/office/drawing/2014/main" id="{1F684FAA-C038-4B1E-80F0-2A92F76713C5}"/>
              </a:ext>
            </a:extLst>
          </p:cNvPr>
          <p:cNvSpPr>
            <a:spLocks xmlns:a="http://schemas.openxmlformats.org/drawingml/2006/main" noGrp="1"/>
          </p:cNvSpPr>
          <p:nvPr/>
        </p:nvSpPr>
        <p:spPr>
          <a:xfrm xmlns:a="http://schemas.openxmlformats.org/drawingml/2006/main">
            <a:off x="876300" y="3714750"/>
            <a:ext cx="2857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25171A"/>
                </a:solidFill>
              </a:defRPr>
            </a:pPr>
            <a:r>
              <a:rPr sz="1725" b="1">
                <a:solidFill>
                  <a:srgbClr val="25171A"/>
                </a:solidFill>
              </a:rPr>
              <a:t>Product research, brief and concept choice</a:t>
            </a:r>
          </a:p>
        </p:txBody>
      </p:sp>
      <p:sp>
        <p:nvSpPr>
          <p:cNvPr id="7" name="">
            <a:extLst xmlns:a="http://schemas.openxmlformats.org/drawingml/2006/main">
              <a:ext uri="{FF2B5EF4-FFF2-40B4-BE49-F238E27FC236}">
                <a16:creationId xmlns:a16="http://schemas.microsoft.com/office/drawing/2014/main" id="{440E9C1A-8094-4A0F-961B-223DF4CE2F8D}"/>
              </a:ext>
            </a:extLst>
          </p:cNvPr>
          <p:cNvSpPr>
            <a:spLocks xmlns:a="http://schemas.openxmlformats.org/drawingml/2006/main" noGrp="1"/>
          </p:cNvSpPr>
          <p:nvPr/>
        </p:nvSpPr>
        <p:spPr>
          <a:xfrm xmlns:a="http://schemas.openxmlformats.org/drawingml/2006/main">
            <a:off x="5029200" y="2619375"/>
            <a:ext cx="800100" cy="800100"/>
          </a:xfrm>
          <a:prstGeom xmlns:a="http://schemas.openxmlformats.org/drawingml/2006/main" prst="roundRect">
            <a:avLst>
              <a:gd name="adj" fmla="val 50000"/>
            </a:avLst>
          </a:prstGeom>
          <a:solidFill xmlns:a="http://schemas.openxmlformats.org/drawingml/2006/main">
            <a:srgbClr val="8B243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8DF1E81-49B4-472B-ACCC-A69930ACBEEE}"/>
              </a:ext>
            </a:extLst>
          </p:cNvPr>
          <p:cNvSpPr>
            <a:spLocks xmlns:a="http://schemas.openxmlformats.org/drawingml/2006/main" noGrp="1"/>
          </p:cNvSpPr>
          <p:nvPr/>
        </p:nvSpPr>
        <p:spPr>
          <a:xfrm xmlns:a="http://schemas.openxmlformats.org/drawingml/2006/main">
            <a:off x="5029200" y="2800350"/>
            <a:ext cx="800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FFFFFF"/>
                </a:solidFill>
              </a:defRPr>
            </a:pPr>
            <a:r>
              <a:rPr sz="2100" b="1">
                <a:solidFill>
                  <a:srgbClr val="FFFFFF"/>
                </a:solidFill>
              </a:rPr>
              <a:t>2</a:t>
            </a:r>
          </a:p>
        </p:txBody>
      </p:sp>
      <p:sp>
        <p:nvSpPr>
          <p:cNvPr id="9" name="">
            <a:extLst xmlns:a="http://schemas.openxmlformats.org/drawingml/2006/main">
              <a:ext uri="{FF2B5EF4-FFF2-40B4-BE49-F238E27FC236}">
                <a16:creationId xmlns:a16="http://schemas.microsoft.com/office/drawing/2014/main" id="{0CD75621-B9CD-4137-B470-23203CEA0085}"/>
              </a:ext>
            </a:extLst>
          </p:cNvPr>
          <p:cNvSpPr>
            <a:spLocks xmlns:a="http://schemas.openxmlformats.org/drawingml/2006/main" noGrp="1"/>
          </p:cNvSpPr>
          <p:nvPr/>
        </p:nvSpPr>
        <p:spPr>
          <a:xfrm xmlns:a="http://schemas.openxmlformats.org/drawingml/2006/main">
            <a:off x="4533900" y="3714750"/>
            <a:ext cx="2857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25171A"/>
                </a:solidFill>
              </a:defRPr>
            </a:pPr>
            <a:r>
              <a:rPr sz="1725" b="1">
                <a:solidFill>
                  <a:srgbClr val="25171A"/>
                </a:solidFill>
              </a:rPr>
              <a:t>Parts, cutting lists and assemblies</a:t>
            </a:r>
          </a:p>
        </p:txBody>
      </p:sp>
      <p:sp>
        <p:nvSpPr>
          <p:cNvPr id="10" name="">
            <a:extLst xmlns:a="http://schemas.openxmlformats.org/drawingml/2006/main">
              <a:ext uri="{FF2B5EF4-FFF2-40B4-BE49-F238E27FC236}">
                <a16:creationId xmlns:a16="http://schemas.microsoft.com/office/drawing/2014/main" id="{F28930EE-6048-481C-BB24-E8BED5F6752F}"/>
              </a:ext>
            </a:extLst>
          </p:cNvPr>
          <p:cNvSpPr>
            <a:spLocks xmlns:a="http://schemas.openxmlformats.org/drawingml/2006/main" noGrp="1"/>
          </p:cNvSpPr>
          <p:nvPr/>
        </p:nvSpPr>
        <p:spPr>
          <a:xfrm xmlns:a="http://schemas.openxmlformats.org/drawingml/2006/main">
            <a:off x="8686800" y="2619375"/>
            <a:ext cx="800100" cy="800100"/>
          </a:xfrm>
          <a:prstGeom xmlns:a="http://schemas.openxmlformats.org/drawingml/2006/main" prst="roundRect">
            <a:avLst>
              <a:gd name="adj" fmla="val 50000"/>
            </a:avLst>
          </a:prstGeom>
          <a:solidFill xmlns:a="http://schemas.openxmlformats.org/drawingml/2006/main">
            <a:srgbClr val="3B111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B7E7348-E308-40CB-A65C-571B378F425F}"/>
              </a:ext>
            </a:extLst>
          </p:cNvPr>
          <p:cNvSpPr>
            <a:spLocks xmlns:a="http://schemas.openxmlformats.org/drawingml/2006/main" noGrp="1"/>
          </p:cNvSpPr>
          <p:nvPr/>
        </p:nvSpPr>
        <p:spPr>
          <a:xfrm xmlns:a="http://schemas.openxmlformats.org/drawingml/2006/main">
            <a:off x="8686800" y="2800350"/>
            <a:ext cx="800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FFFFFF"/>
                </a:solidFill>
              </a:defRPr>
            </a:pPr>
            <a:r>
              <a:rPr sz="2100" b="1">
                <a:solidFill>
                  <a:srgbClr val="FFFFFF"/>
                </a:solidFill>
              </a:rPr>
              <a:t>3</a:t>
            </a:r>
          </a:p>
        </p:txBody>
      </p:sp>
      <p:sp>
        <p:nvSpPr>
          <p:cNvPr id="12" name="">
            <a:extLst xmlns:a="http://schemas.openxmlformats.org/drawingml/2006/main">
              <a:ext uri="{FF2B5EF4-FFF2-40B4-BE49-F238E27FC236}">
                <a16:creationId xmlns:a16="http://schemas.microsoft.com/office/drawing/2014/main" id="{1512A3B9-B766-4DD1-A738-C5FD89B12B21}"/>
              </a:ext>
            </a:extLst>
          </p:cNvPr>
          <p:cNvSpPr>
            <a:spLocks xmlns:a="http://schemas.openxmlformats.org/drawingml/2006/main" noGrp="1"/>
          </p:cNvSpPr>
          <p:nvPr/>
        </p:nvSpPr>
        <p:spPr>
          <a:xfrm xmlns:a="http://schemas.openxmlformats.org/drawingml/2006/main">
            <a:off x="8191500" y="3714750"/>
            <a:ext cx="2857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25171A"/>
                </a:solidFill>
              </a:defRPr>
            </a:pPr>
            <a:r>
              <a:rPr sz="1725" b="1">
                <a:solidFill>
                  <a:srgbClr val="25171A"/>
                </a:solidFill>
              </a:rPr>
              <a:t>Prototype pathway, testing and evaluation</a:t>
            </a:r>
          </a:p>
        </p:txBody>
      </p:sp>
      <p:sp>
        <p:nvSpPr>
          <p:cNvPr id="13" name="">
            <a:extLst xmlns:a="http://schemas.openxmlformats.org/drawingml/2006/main">
              <a:ext uri="{FF2B5EF4-FFF2-40B4-BE49-F238E27FC236}">
                <a16:creationId xmlns:a16="http://schemas.microsoft.com/office/drawing/2014/main" id="{8005AA1A-847C-43A4-B58D-DA25219881AE}"/>
              </a:ext>
            </a:extLst>
          </p:cNvPr>
          <p:cNvSpPr>
            <a:spLocks xmlns:a="http://schemas.openxmlformats.org/drawingml/2006/main" noGrp="1"/>
          </p:cNvSpPr>
          <p:nvPr/>
        </p:nvSpPr>
        <p:spPr>
          <a:xfrm xmlns:a="http://schemas.openxmlformats.org/drawingml/2006/main">
            <a:off x="2381250" y="5467350"/>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8B2433"/>
                </a:solidFill>
              </a:defRPr>
            </a:pPr>
            <a:r>
              <a:rPr sz="1500" b="1">
                <a:solidFill>
                  <a:srgbClr val="8B2433"/>
                </a:solidFill>
              </a:rPr>
              <a:t>Retrieval prompt  •  Which idea depends most on the one before it?</a:t>
            </a:r>
          </a:p>
        </p:txBody>
      </p:sp>
      <p:sp>
        <p:nvSpPr>
          <p:cNvPr id="14" name="">
            <a:extLst xmlns:a="http://schemas.openxmlformats.org/drawingml/2006/main">
              <a:ext uri="{FF2B5EF4-FFF2-40B4-BE49-F238E27FC236}">
                <a16:creationId xmlns:a16="http://schemas.microsoft.com/office/drawing/2014/main" id="{972ADFE9-DC82-4A05-9A90-1F152D0986CD}"/>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08A59F2-4318-47BD-8BFD-FA2ECBF85C07}"/>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66585B"/>
                </a:solidFill>
              </a:defRPr>
            </a:pPr>
            <a:r>
              <a:rPr sz="900" b="1">
                <a:solidFill>
                  <a:srgbClr val="66585B"/>
                </a:solidFill>
              </a:rPr>
              <a:t>YEAR 9 GRAPHICS  •  MODULE 3</a:t>
            </a:r>
          </a:p>
        </p:txBody>
      </p:sp>
      <p:sp>
        <p:nvSpPr>
          <p:cNvPr id="16" name="">
            <a:extLst xmlns:a="http://schemas.openxmlformats.org/drawingml/2006/main">
              <a:ext uri="{FF2B5EF4-FFF2-40B4-BE49-F238E27FC236}">
                <a16:creationId xmlns:a16="http://schemas.microsoft.com/office/drawing/2014/main" id="{5073CC35-1CF6-4226-A233-B1A43BC3803D}"/>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8B2433"/>
                </a:solidFill>
              </a:defRPr>
            </a:pPr>
            <a:r>
              <a:rPr sz="900" b="1">
                <a:solidFill>
                  <a:srgbClr val="8B2433"/>
                </a:solidFill>
              </a:rPr>
              <a:t>02</a:t>
            </a:r>
          </a:p>
        </p:txBody>
      </p:sp>
    </p:spTree>
    <p:extLst>
      <p:ext uri="{BB962C8B-B14F-4D97-AF65-F5344CB8AC3E}">
        <p14:creationId xmlns:p14="http://schemas.microsoft.com/office/powerpoint/2010/main" val="721605833"/>
      </p:ext>
    </p:extLst>
  </p:cSld>
</p:sld>
</file>

<file path=ppt/slides/slide3.xml><?xml version="1.0" encoding="utf-8"?>
<p:sld xmlns:p="http://schemas.openxmlformats.org/presentationml/2006/main">
  <p:cSld>
    <p:bg>
      <p:bgPr>
        <a:solidFill xmlns:a="http://schemas.openxmlformats.org/drawingml/2006/main">
          <a:srgbClr val="FCFAF8"/>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a114f28ad114d6f"/>
          <a:stretch xmlns:a="http://schemas.openxmlformats.org/drawingml/2006/main"/>
        </p:blipFill>
        <p:spPr>
          <a:xfrm xmlns:a="http://schemas.openxmlformats.org/drawingml/2006/main">
            <a:off x="685800" y="1959589"/>
            <a:ext cx="4953000" cy="2672123"/>
          </a:xfrm>
          <a:prstGeom xmlns:a="http://schemas.openxmlformats.org/drawingml/2006/main" prst="roundRect">
            <a:avLst/>
          </a:prstGeom>
        </p:spPr>
      </p:pic>
      <p:sp>
        <p:nvSpPr>
          <p:cNvPr id="2" name="">
            <a:extLst xmlns:a="http://schemas.openxmlformats.org/drawingml/2006/main">
              <a:ext uri="{FF2B5EF4-FFF2-40B4-BE49-F238E27FC236}">
                <a16:creationId xmlns:a16="http://schemas.microsoft.com/office/drawing/2014/main" id="{8E08DEE2-CBF3-4B66-B1DE-166E583677C3}"/>
              </a:ext>
            </a:extLst>
          </p:cNvPr>
          <p:cNvSpPr>
            <a:spLocks xmlns:a="http://schemas.openxmlformats.org/drawingml/2006/main" noGrp="1"/>
          </p:cNvSpPr>
          <p:nvPr/>
        </p:nvSpPr>
        <p:spPr>
          <a:xfrm xmlns:a="http://schemas.openxmlformats.org/drawingml/2006/main">
            <a:off x="685800" y="1276350"/>
            <a:ext cx="4953000" cy="4038600"/>
          </a:xfrm>
          <a:prstGeom xmlns:a="http://schemas.openxmlformats.org/drawingml/2006/main" prst="roundRect">
            <a:avLst>
              <a:gd name="adj" fmla="val 2830"/>
            </a:avLst>
          </a:prstGeom>
          <a:noFill xmlns:a="http://schemas.openxmlformats.org/drawingml/2006/main"/>
          <a:ln xmlns:a="http://schemas.openxmlformats.org/drawingml/2006/main" w="19050">
            <a:solidFill>
              <a:srgbClr val="D8C9CC"/>
            </a:solidFill>
            <a:prstDash val="solid"/>
          </a:ln>
        </p:spPr>
      </p:sp>
      <p:sp>
        <p:nvSpPr>
          <p:cNvPr id="3" name="">
            <a:extLst xmlns:a="http://schemas.openxmlformats.org/drawingml/2006/main">
              <a:ext uri="{FF2B5EF4-FFF2-40B4-BE49-F238E27FC236}">
                <a16:creationId xmlns:a16="http://schemas.microsoft.com/office/drawing/2014/main" id="{9D889204-A24A-4086-ABCF-04B1D3290B2D}"/>
              </a:ext>
            </a:extLst>
          </p:cNvPr>
          <p:cNvSpPr>
            <a:spLocks xmlns:a="http://schemas.openxmlformats.org/drawingml/2006/main" noGrp="1"/>
          </p:cNvSpPr>
          <p:nvPr/>
        </p:nvSpPr>
        <p:spPr>
          <a:xfrm xmlns:a="http://schemas.openxmlformats.org/drawingml/2006/main">
            <a:off x="685800" y="4953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700" b="1">
                <a:solidFill>
                  <a:srgbClr val="3B1118"/>
                </a:solidFill>
              </a:defRPr>
            </a:pPr>
            <a:r>
              <a:rPr sz="2700" b="1">
                <a:solidFill>
                  <a:srgbClr val="3B1118"/>
                </a:solidFill>
              </a:rPr>
              <a:t>Research should separate observation, inference and opportunity</a:t>
            </a:r>
          </a:p>
        </p:txBody>
      </p:sp>
      <p:sp>
        <p:nvSpPr>
          <p:cNvPr id="4" name="">
            <a:extLst xmlns:a="http://schemas.openxmlformats.org/drawingml/2006/main">
              <a:ext uri="{FF2B5EF4-FFF2-40B4-BE49-F238E27FC236}">
                <a16:creationId xmlns:a16="http://schemas.microsoft.com/office/drawing/2014/main" id="{6F40E5EB-1B63-46EE-8315-DE96A0029F9E}"/>
              </a:ext>
            </a:extLst>
          </p:cNvPr>
          <p:cNvSpPr>
            <a:spLocks xmlns:a="http://schemas.openxmlformats.org/drawingml/2006/main" noGrp="1"/>
          </p:cNvSpPr>
          <p:nvPr/>
        </p:nvSpPr>
        <p:spPr>
          <a:xfrm xmlns:a="http://schemas.openxmlformats.org/drawingml/2006/main">
            <a:off x="6096000" y="1524000"/>
            <a:ext cx="54102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a:solidFill>
                  <a:srgbClr val="25171A"/>
                </a:solidFill>
              </a:defRPr>
            </a:pPr>
            <a:r>
              <a:rPr sz="1500">
                <a:solidFill>
                  <a:srgbClr val="25171A"/>
                </a:solidFill>
              </a:rPr>
              <a:t>Start with what can be observed about users, products and contexts. Turn the need into a brief, then a checkable specification of criteria and constraints. Generate genuinely different concepts and compare them against the same evidence. The chosen concept is defensible when the reasoning is visible—not because it was the first idea.</a:t>
            </a:r>
          </a:p>
        </p:txBody>
      </p:sp>
      <p:sp>
        <p:nvSpPr>
          <p:cNvPr id="5" name="">
            <a:extLst xmlns:a="http://schemas.openxmlformats.org/drawingml/2006/main">
              <a:ext uri="{FF2B5EF4-FFF2-40B4-BE49-F238E27FC236}">
                <a16:creationId xmlns:a16="http://schemas.microsoft.com/office/drawing/2014/main" id="{C607129A-72EA-4688-B664-93D7D0CEE8D4}"/>
              </a:ext>
            </a:extLst>
          </p:cNvPr>
          <p:cNvSpPr>
            <a:spLocks xmlns:a="http://schemas.openxmlformats.org/drawingml/2006/main" noGrp="1"/>
          </p:cNvSpPr>
          <p:nvPr/>
        </p:nvSpPr>
        <p:spPr>
          <a:xfrm xmlns:a="http://schemas.openxmlformats.org/drawingml/2006/main">
            <a:off x="6096000" y="3676650"/>
            <a:ext cx="876300" cy="47625"/>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08B613C-3BE2-43E9-B502-DB32076D7255}"/>
              </a:ext>
            </a:extLst>
          </p:cNvPr>
          <p:cNvSpPr>
            <a:spLocks xmlns:a="http://schemas.openxmlformats.org/drawingml/2006/main" noGrp="1"/>
          </p:cNvSpPr>
          <p:nvPr/>
        </p:nvSpPr>
        <p:spPr>
          <a:xfrm xmlns:a="http://schemas.openxmlformats.org/drawingml/2006/main">
            <a:off x="6096000" y="3962400"/>
            <a:ext cx="54102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8B2433"/>
                </a:solidFill>
              </a:defRPr>
            </a:pPr>
            <a:r>
              <a:rPr sz="1575" b="1">
                <a:solidFill>
                  <a:srgbClr val="8B2433"/>
                </a:solidFill>
              </a:rPr>
              <a:t>Compare → Which concept responds best to the specification, and what evidence supports that choice?</a:t>
            </a:r>
          </a:p>
        </p:txBody>
      </p:sp>
      <p:sp>
        <p:nvSpPr>
          <p:cNvPr id="7" name="">
            <a:extLst xmlns:a="http://schemas.openxmlformats.org/drawingml/2006/main">
              <a:ext uri="{FF2B5EF4-FFF2-40B4-BE49-F238E27FC236}">
                <a16:creationId xmlns:a16="http://schemas.microsoft.com/office/drawing/2014/main" id="{CEDEC10B-558C-46FE-9C9F-60B6D45A4568}"/>
              </a:ext>
            </a:extLst>
          </p:cNvPr>
          <p:cNvSpPr>
            <a:spLocks xmlns:a="http://schemas.openxmlformats.org/drawingml/2006/main" noGrp="1"/>
          </p:cNvSpPr>
          <p:nvPr/>
        </p:nvSpPr>
        <p:spPr>
          <a:xfrm xmlns:a="http://schemas.openxmlformats.org/drawingml/2006/main">
            <a:off x="6096000" y="5010150"/>
            <a:ext cx="5410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66585B"/>
                </a:solidFill>
              </a:defRPr>
            </a:pPr>
            <a:r>
              <a:rPr sz="1200">
                <a:solidFill>
                  <a:srgbClr val="66585B"/>
                </a:solidFill>
              </a:rPr>
              <a:t>Observation describes what is seen; inference is a reasoned interpretation; opportunity frames a design direction.</a:t>
            </a:r>
          </a:p>
        </p:txBody>
      </p:sp>
      <p:sp>
        <p:nvSpPr>
          <p:cNvPr id="8" name="">
            <a:extLst xmlns:a="http://schemas.openxmlformats.org/drawingml/2006/main">
              <a:ext uri="{FF2B5EF4-FFF2-40B4-BE49-F238E27FC236}">
                <a16:creationId xmlns:a16="http://schemas.microsoft.com/office/drawing/2014/main" id="{46491442-7AA7-4CD9-8D5F-5258CAB30AC4}"/>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ADF44A9-9541-4385-BC31-B2AFF6E836B6}"/>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66585B"/>
                </a:solidFill>
              </a:defRPr>
            </a:pPr>
            <a:r>
              <a:rPr sz="900" b="1">
                <a:solidFill>
                  <a:srgbClr val="66585B"/>
                </a:solidFill>
              </a:rPr>
              <a:t>YEAR 9 GRAPHICS  •  MODULE 3</a:t>
            </a:r>
          </a:p>
        </p:txBody>
      </p:sp>
      <p:sp>
        <p:nvSpPr>
          <p:cNvPr id="10" name="">
            <a:extLst xmlns:a="http://schemas.openxmlformats.org/drawingml/2006/main">
              <a:ext uri="{FF2B5EF4-FFF2-40B4-BE49-F238E27FC236}">
                <a16:creationId xmlns:a16="http://schemas.microsoft.com/office/drawing/2014/main" id="{47502F54-3C95-4C23-B5AC-F1429E5BCF76}"/>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8B2433"/>
                </a:solidFill>
              </a:defRPr>
            </a:pPr>
            <a:r>
              <a:rPr sz="900" b="1">
                <a:solidFill>
                  <a:srgbClr val="8B2433"/>
                </a:solidFill>
              </a:rPr>
              <a:t>03</a:t>
            </a:r>
          </a:p>
        </p:txBody>
      </p:sp>
    </p:spTree>
    <p:extLst>
      <p:ext uri="{BB962C8B-B14F-4D97-AF65-F5344CB8AC3E}">
        <p14:creationId xmlns:p14="http://schemas.microsoft.com/office/powerpoint/2010/main" val="651395575"/>
      </p:ext>
    </p:extLst>
  </p:cSld>
</p:sld>
</file>

<file path=ppt/slides/slide4.xml><?xml version="1.0" encoding="utf-8"?>
<p:sld xmlns:p="http://schemas.openxmlformats.org/presentationml/2006/main">
  <p:cSld>
    <p:bg>
      <p:bgPr>
        <a:solidFill xmlns:a="http://schemas.openxmlformats.org/drawingml/2006/main">
          <a:srgbClr val="FCFAF8"/>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a4c558ffa314de9"/>
          <a:stretch xmlns:a="http://schemas.openxmlformats.org/drawingml/2006/main"/>
        </p:blipFill>
        <p:spPr>
          <a:xfrm xmlns:a="http://schemas.openxmlformats.org/drawingml/2006/main">
            <a:off x="6736375" y="1276350"/>
            <a:ext cx="4586649" cy="4038600"/>
          </a:xfrm>
          <a:prstGeom xmlns:a="http://schemas.openxmlformats.org/drawingml/2006/main" prst="roundRect">
            <a:avLst/>
          </a:prstGeom>
        </p:spPr>
      </p:pic>
      <p:sp>
        <p:nvSpPr>
          <p:cNvPr id="2" name="">
            <a:extLst xmlns:a="http://schemas.openxmlformats.org/drawingml/2006/main">
              <a:ext uri="{FF2B5EF4-FFF2-40B4-BE49-F238E27FC236}">
                <a16:creationId xmlns:a16="http://schemas.microsoft.com/office/drawing/2014/main" id="{B2BD8CCD-4B3B-4090-B2F4-AC4A12679D5F}"/>
              </a:ext>
            </a:extLst>
          </p:cNvPr>
          <p:cNvSpPr>
            <a:spLocks xmlns:a="http://schemas.openxmlformats.org/drawingml/2006/main" noGrp="1"/>
          </p:cNvSpPr>
          <p:nvPr/>
        </p:nvSpPr>
        <p:spPr>
          <a:xfrm xmlns:a="http://schemas.openxmlformats.org/drawingml/2006/main">
            <a:off x="6553200" y="1276350"/>
            <a:ext cx="4953000" cy="4038600"/>
          </a:xfrm>
          <a:prstGeom xmlns:a="http://schemas.openxmlformats.org/drawingml/2006/main" prst="roundRect">
            <a:avLst>
              <a:gd name="adj" fmla="val 2830"/>
            </a:avLst>
          </a:prstGeom>
          <a:noFill xmlns:a="http://schemas.openxmlformats.org/drawingml/2006/main"/>
          <a:ln xmlns:a="http://schemas.openxmlformats.org/drawingml/2006/main" w="19050">
            <a:solidFill>
              <a:srgbClr val="D8C9CC"/>
            </a:solidFill>
            <a:prstDash val="solid"/>
          </a:ln>
        </p:spPr>
      </p:sp>
      <p:sp>
        <p:nvSpPr>
          <p:cNvPr id="3" name="">
            <a:extLst xmlns:a="http://schemas.openxmlformats.org/drawingml/2006/main">
              <a:ext uri="{FF2B5EF4-FFF2-40B4-BE49-F238E27FC236}">
                <a16:creationId xmlns:a16="http://schemas.microsoft.com/office/drawing/2014/main" id="{95828C7B-EE04-411F-8638-6A53062FC960}"/>
              </a:ext>
            </a:extLst>
          </p:cNvPr>
          <p:cNvSpPr>
            <a:spLocks xmlns:a="http://schemas.openxmlformats.org/drawingml/2006/main" noGrp="1"/>
          </p:cNvSpPr>
          <p:nvPr/>
        </p:nvSpPr>
        <p:spPr>
          <a:xfrm xmlns:a="http://schemas.openxmlformats.org/drawingml/2006/main">
            <a:off x="685800" y="4953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700" b="1">
                <a:solidFill>
                  <a:srgbClr val="3B1118"/>
                </a:solidFill>
              </a:defRPr>
            </a:pPr>
            <a:r>
              <a:rPr sz="2700" b="1">
                <a:solidFill>
                  <a:srgbClr val="3B1118"/>
                </a:solidFill>
              </a:rPr>
              <a:t>Onshape parts and assemblies express a product structure</a:t>
            </a:r>
          </a:p>
        </p:txBody>
      </p:sp>
      <p:sp>
        <p:nvSpPr>
          <p:cNvPr id="4" name="">
            <a:extLst xmlns:a="http://schemas.openxmlformats.org/drawingml/2006/main">
              <a:ext uri="{FF2B5EF4-FFF2-40B4-BE49-F238E27FC236}">
                <a16:creationId xmlns:a16="http://schemas.microsoft.com/office/drawing/2014/main" id="{2ED1A98D-FD71-4ED0-BC74-FE5446949DB4}"/>
              </a:ext>
            </a:extLst>
          </p:cNvPr>
          <p:cNvSpPr>
            <a:spLocks xmlns:a="http://schemas.openxmlformats.org/drawingml/2006/main" noGrp="1"/>
          </p:cNvSpPr>
          <p:nvPr/>
        </p:nvSpPr>
        <p:spPr>
          <a:xfrm xmlns:a="http://schemas.openxmlformats.org/drawingml/2006/main">
            <a:off x="685800" y="1524000"/>
            <a:ext cx="54102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a:solidFill>
                  <a:srgbClr val="25171A"/>
                </a:solidFill>
              </a:defRPr>
            </a:pPr>
            <a:r>
              <a:rPr sz="1500">
                <a:solidFill>
                  <a:srgbClr val="25171A"/>
                </a:solidFill>
              </a:rPr>
              <a:t>A product can contain parts, repeated instances and subassemblies. Develop parts in Part Studios, assemble instances in an Assembly and create a Drawing when controlled communication is needed. A cutting list supports manufacture; a parts list or BOM describes what is in the product. Do not treat them as interchangeable.</a:t>
            </a:r>
          </a:p>
        </p:txBody>
      </p:sp>
      <p:sp>
        <p:nvSpPr>
          <p:cNvPr id="5" name="">
            <a:extLst xmlns:a="http://schemas.openxmlformats.org/drawingml/2006/main">
              <a:ext uri="{FF2B5EF4-FFF2-40B4-BE49-F238E27FC236}">
                <a16:creationId xmlns:a16="http://schemas.microsoft.com/office/drawing/2014/main" id="{22CCFA43-9A97-44D6-93D2-15185EA5AB7D}"/>
              </a:ext>
            </a:extLst>
          </p:cNvPr>
          <p:cNvSpPr>
            <a:spLocks xmlns:a="http://schemas.openxmlformats.org/drawingml/2006/main" noGrp="1"/>
          </p:cNvSpPr>
          <p:nvPr/>
        </p:nvSpPr>
        <p:spPr>
          <a:xfrm xmlns:a="http://schemas.openxmlformats.org/drawingml/2006/main">
            <a:off x="685800" y="3676650"/>
            <a:ext cx="876300" cy="47625"/>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48F74AD-3F38-49FB-9D9E-C789049BB8C2}"/>
              </a:ext>
            </a:extLst>
          </p:cNvPr>
          <p:cNvSpPr>
            <a:spLocks xmlns:a="http://schemas.openxmlformats.org/drawingml/2006/main" noGrp="1"/>
          </p:cNvSpPr>
          <p:nvPr/>
        </p:nvSpPr>
        <p:spPr>
          <a:xfrm xmlns:a="http://schemas.openxmlformats.org/drawingml/2006/main">
            <a:off x="685800" y="3962400"/>
            <a:ext cx="54102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8B2433"/>
                </a:solidFill>
              </a:defRPr>
            </a:pPr>
            <a:r>
              <a:rPr sz="1575" b="1">
                <a:solidFill>
                  <a:srgbClr val="8B2433"/>
                </a:solidFill>
              </a:rPr>
              <a:t>Trace → Where is one component created, repeated, assembled and documented?</a:t>
            </a:r>
          </a:p>
        </p:txBody>
      </p:sp>
      <p:sp>
        <p:nvSpPr>
          <p:cNvPr id="7" name="">
            <a:extLst xmlns:a="http://schemas.openxmlformats.org/drawingml/2006/main">
              <a:ext uri="{FF2B5EF4-FFF2-40B4-BE49-F238E27FC236}">
                <a16:creationId xmlns:a16="http://schemas.microsoft.com/office/drawing/2014/main" id="{B9123569-53F3-4C1F-81A5-83E14515D2DB}"/>
              </a:ext>
            </a:extLst>
          </p:cNvPr>
          <p:cNvSpPr>
            <a:spLocks xmlns:a="http://schemas.openxmlformats.org/drawingml/2006/main" noGrp="1"/>
          </p:cNvSpPr>
          <p:nvPr/>
        </p:nvSpPr>
        <p:spPr>
          <a:xfrm xmlns:a="http://schemas.openxmlformats.org/drawingml/2006/main">
            <a:off x="685800" y="5010150"/>
            <a:ext cx="5410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66585B"/>
                </a:solidFill>
              </a:defRPr>
            </a:pPr>
            <a:r>
              <a:rPr sz="1200">
                <a:solidFill>
                  <a:srgbClr val="66585B"/>
                </a:solidFill>
              </a:rPr>
              <a:t>Model the hierarchy deliberately so the Onshape document tells the same product story as the design evidence.</a:t>
            </a:r>
          </a:p>
        </p:txBody>
      </p:sp>
      <p:sp>
        <p:nvSpPr>
          <p:cNvPr id="8" name="">
            <a:extLst xmlns:a="http://schemas.openxmlformats.org/drawingml/2006/main">
              <a:ext uri="{FF2B5EF4-FFF2-40B4-BE49-F238E27FC236}">
                <a16:creationId xmlns:a16="http://schemas.microsoft.com/office/drawing/2014/main" id="{FDEF26D5-8636-4696-96EC-A66615C2624A}"/>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06F3470-BE85-48B2-8AAE-E91CFC61179C}"/>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66585B"/>
                </a:solidFill>
              </a:defRPr>
            </a:pPr>
            <a:r>
              <a:rPr sz="900" b="1">
                <a:solidFill>
                  <a:srgbClr val="66585B"/>
                </a:solidFill>
              </a:rPr>
              <a:t>YEAR 9 GRAPHICS  •  MODULE 3</a:t>
            </a:r>
          </a:p>
        </p:txBody>
      </p:sp>
      <p:sp>
        <p:nvSpPr>
          <p:cNvPr id="10" name="">
            <a:extLst xmlns:a="http://schemas.openxmlformats.org/drawingml/2006/main">
              <a:ext uri="{FF2B5EF4-FFF2-40B4-BE49-F238E27FC236}">
                <a16:creationId xmlns:a16="http://schemas.microsoft.com/office/drawing/2014/main" id="{F31B1797-4FE2-466A-A369-79FDD068B049}"/>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8B2433"/>
                </a:solidFill>
              </a:defRPr>
            </a:pPr>
            <a:r>
              <a:rPr sz="900" b="1">
                <a:solidFill>
                  <a:srgbClr val="8B2433"/>
                </a:solidFill>
              </a:rPr>
              <a:t>04</a:t>
            </a:r>
          </a:p>
        </p:txBody>
      </p:sp>
    </p:spTree>
    <p:extLst>
      <p:ext uri="{BB962C8B-B14F-4D97-AF65-F5344CB8AC3E}">
        <p14:creationId xmlns:p14="http://schemas.microsoft.com/office/powerpoint/2010/main" val="510104103"/>
      </p:ext>
    </p:extLst>
  </p:cSld>
</p:sld>
</file>

<file path=ppt/slides/slide5.xml><?xml version="1.0" encoding="utf-8"?>
<p:sld xmlns:p="http://schemas.openxmlformats.org/presentationml/2006/main">
  <p:cSld>
    <p:bg>
      <p:bgPr>
        <a:solidFill xmlns:a="http://schemas.openxmlformats.org/drawingml/2006/main">
          <a:srgbClr val="1B1718"/>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6edae2f6fb3485c"/>
          <a:srcRect xmlns:a="http://schemas.openxmlformats.org/drawingml/2006/main" l="0" t="30078" r="0" b="30078"/>
          <a:stretch xmlns:a="http://schemas.openxmlformats.org/drawingml/2006/main">
            <a:fillRect l="0" t="0" r="0" b="0"/>
          </a:stretch>
        </p:blipFill>
        <p:spPr>
          <a:xfrm xmlns:a="http://schemas.openxmlformats.org/drawingml/2006/main">
            <a:off x="0" y="0"/>
            <a:ext cx="12192000" cy="3238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D0E0D67-856B-44A5-8F33-B096E149E72A}"/>
              </a:ext>
            </a:extLst>
          </p:cNvPr>
          <p:cNvSpPr>
            <a:spLocks xmlns:a="http://schemas.openxmlformats.org/drawingml/2006/main" noGrp="1"/>
          </p:cNvSpPr>
          <p:nvPr/>
        </p:nvSpPr>
        <p:spPr>
          <a:xfrm xmlns:a="http://schemas.openxmlformats.org/drawingml/2006/main">
            <a:off x="0" y="3028950"/>
            <a:ext cx="12192000" cy="3829050"/>
          </a:xfrm>
          <a:prstGeom xmlns:a="http://schemas.openxmlformats.org/drawingml/2006/main" prst="rect">
            <a:avLst/>
          </a:prstGeom>
          <a:solidFill xmlns:a="http://schemas.openxmlformats.org/drawingml/2006/main">
            <a:srgbClr val="1B171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ABCE9CC-6F07-48CA-A4C4-901C04F56017}"/>
              </a:ext>
            </a:extLst>
          </p:cNvPr>
          <p:cNvSpPr>
            <a:spLocks xmlns:a="http://schemas.openxmlformats.org/drawingml/2006/main" noGrp="1"/>
          </p:cNvSpPr>
          <p:nvPr/>
        </p:nvSpPr>
        <p:spPr>
          <a:xfrm xmlns:a="http://schemas.openxmlformats.org/drawingml/2006/main">
            <a:off x="685800" y="33528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700" b="1">
                <a:solidFill>
                  <a:srgbClr val="FFFFFF"/>
                </a:solidFill>
              </a:defRPr>
            </a:pPr>
            <a:r>
              <a:rPr sz="2700" b="1">
                <a:solidFill>
                  <a:srgbClr val="FFFFFF"/>
                </a:solidFill>
              </a:rPr>
              <a:t>A prototype should answer a named design question</a:t>
            </a:r>
          </a:p>
        </p:txBody>
      </p:sp>
      <p:sp>
        <p:nvSpPr>
          <p:cNvPr id="4" name="">
            <a:extLst xmlns:a="http://schemas.openxmlformats.org/drawingml/2006/main">
              <a:ext uri="{FF2B5EF4-FFF2-40B4-BE49-F238E27FC236}">
                <a16:creationId xmlns:a16="http://schemas.microsoft.com/office/drawing/2014/main" id="{334BCBA3-8B36-4324-8C85-1F35859EA6BA}"/>
              </a:ext>
            </a:extLst>
          </p:cNvPr>
          <p:cNvSpPr>
            <a:spLocks xmlns:a="http://schemas.openxmlformats.org/drawingml/2006/main" noGrp="1"/>
          </p:cNvSpPr>
          <p:nvPr/>
        </p:nvSpPr>
        <p:spPr>
          <a:xfrm xmlns:a="http://schemas.openxmlformats.org/drawingml/2006/main">
            <a:off x="685800" y="4114800"/>
            <a:ext cx="68389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a:solidFill>
                  <a:srgbClr val="F7EDEF"/>
                </a:solidFill>
              </a:defRPr>
            </a:pPr>
            <a:r>
              <a:rPr sz="1425">
                <a:solidFill>
                  <a:srgbClr val="F7EDEF"/>
                </a:solidFill>
              </a:rPr>
              <a:t>Choose prototype fidelity from the question: form, fit, arrangement, access or communication. Turn a specification point into a test, record observable results and treat feedback as evidence—not as an automatic instruction. Preserve the before state, revise in Onshape and evaluate the change against the original criterion.</a:t>
            </a:r>
          </a:p>
        </p:txBody>
      </p:sp>
      <p:sp>
        <p:nvSpPr>
          <p:cNvPr id="5" name="">
            <a:extLst xmlns:a="http://schemas.openxmlformats.org/drawingml/2006/main">
              <a:ext uri="{FF2B5EF4-FFF2-40B4-BE49-F238E27FC236}">
                <a16:creationId xmlns:a16="http://schemas.microsoft.com/office/drawing/2014/main" id="{DAA5C239-5337-45C3-AC5F-A1DB35B616DC}"/>
              </a:ext>
            </a:extLst>
          </p:cNvPr>
          <p:cNvSpPr>
            <a:spLocks xmlns:a="http://schemas.openxmlformats.org/drawingml/2006/main" noGrp="1"/>
          </p:cNvSpPr>
          <p:nvPr/>
        </p:nvSpPr>
        <p:spPr>
          <a:xfrm xmlns:a="http://schemas.openxmlformats.org/drawingml/2006/main">
            <a:off x="7962900" y="4114800"/>
            <a:ext cx="35433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D8DF"/>
                </a:solidFill>
              </a:defRPr>
            </a:pPr>
            <a:r>
              <a:rPr sz="1575" b="1">
                <a:solidFill>
                  <a:srgbClr val="FFD8DF"/>
                </a:solidFill>
              </a:rPr>
              <a:t>Evaluate → What did the test show, what changed, and what limitation remains?</a:t>
            </a:r>
          </a:p>
        </p:txBody>
      </p:sp>
      <p:sp>
        <p:nvSpPr>
          <p:cNvPr id="6" name="">
            <a:extLst xmlns:a="http://schemas.openxmlformats.org/drawingml/2006/main">
              <a:ext uri="{FF2B5EF4-FFF2-40B4-BE49-F238E27FC236}">
                <a16:creationId xmlns:a16="http://schemas.microsoft.com/office/drawing/2014/main" id="{AA960910-28C5-46A9-86AC-E00E35E14757}"/>
              </a:ext>
            </a:extLst>
          </p:cNvPr>
          <p:cNvSpPr>
            <a:spLocks xmlns:a="http://schemas.openxmlformats.org/drawingml/2006/main" noGrp="1"/>
          </p:cNvSpPr>
          <p:nvPr/>
        </p:nvSpPr>
        <p:spPr>
          <a:xfrm xmlns:a="http://schemas.openxmlformats.org/drawingml/2006/main">
            <a:off x="7962900" y="5467350"/>
            <a:ext cx="3543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D7C9CC"/>
                </a:solidFill>
              </a:defRPr>
            </a:pPr>
            <a:r>
              <a:rPr sz="1200">
                <a:solidFill>
                  <a:srgbClr val="D7C9CC"/>
                </a:solidFill>
              </a:rPr>
              <a:t>A polished model is not proof. The claim must match the prototype, test method and recorded evidence.</a:t>
            </a:r>
          </a:p>
        </p:txBody>
      </p:sp>
      <p:sp>
        <p:nvSpPr>
          <p:cNvPr id="7" name="">
            <a:extLst xmlns:a="http://schemas.openxmlformats.org/drawingml/2006/main">
              <a:ext uri="{FF2B5EF4-FFF2-40B4-BE49-F238E27FC236}">
                <a16:creationId xmlns:a16="http://schemas.microsoft.com/office/drawing/2014/main" id="{DCDC4AD8-A126-4BA9-96C2-6EEEC9D35F0C}"/>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7AE9D34-E839-47E1-9850-7BCAC16D94B9}"/>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66585B"/>
                </a:solidFill>
              </a:defRPr>
            </a:pPr>
            <a:r>
              <a:rPr sz="900" b="1">
                <a:solidFill>
                  <a:srgbClr val="66585B"/>
                </a:solidFill>
              </a:rPr>
              <a:t>YEAR 9 GRAPHICS  •  MODULE 3</a:t>
            </a:r>
          </a:p>
        </p:txBody>
      </p:sp>
      <p:sp>
        <p:nvSpPr>
          <p:cNvPr id="9" name="">
            <a:extLst xmlns:a="http://schemas.openxmlformats.org/drawingml/2006/main">
              <a:ext uri="{FF2B5EF4-FFF2-40B4-BE49-F238E27FC236}">
                <a16:creationId xmlns:a16="http://schemas.microsoft.com/office/drawing/2014/main" id="{A057D0B8-BE5F-4771-8D71-09FD7D3B7591}"/>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8B2433"/>
                </a:solidFill>
              </a:defRPr>
            </a:pPr>
            <a:r>
              <a:rPr sz="900" b="1">
                <a:solidFill>
                  <a:srgbClr val="8B2433"/>
                </a:solidFill>
              </a:rPr>
              <a:t>05</a:t>
            </a:r>
          </a:p>
        </p:txBody>
      </p:sp>
    </p:spTree>
    <p:extLst>
      <p:ext uri="{BB962C8B-B14F-4D97-AF65-F5344CB8AC3E}">
        <p14:creationId xmlns:p14="http://schemas.microsoft.com/office/powerpoint/2010/main" val="1509524673"/>
      </p:ext>
    </p:extLst>
  </p:cSld>
</p:sld>
</file>

<file path=ppt/slides/slide6.xml><?xml version="1.0" encoding="utf-8"?>
<p:sld xmlns:p="http://schemas.openxmlformats.org/presentationml/2006/main">
  <p:cSld>
    <p:bg>
      <p:bgPr>
        <a:solidFill xmlns:a="http://schemas.openxmlformats.org/drawingml/2006/main">
          <a:srgbClr val="3B111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996B6DE-AD52-461A-93E0-E8F43C585090}"/>
              </a:ext>
            </a:extLst>
          </p:cNvPr>
          <p:cNvSpPr>
            <a:spLocks xmlns:a="http://schemas.openxmlformats.org/drawingml/2006/main" noGrp="1"/>
          </p:cNvSpPr>
          <p:nvPr/>
        </p:nvSpPr>
        <p:spPr>
          <a:xfrm xmlns:a="http://schemas.openxmlformats.org/drawingml/2006/main">
            <a:off x="685800" y="552450"/>
            <a:ext cx="7810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000" b="1">
                <a:solidFill>
                  <a:srgbClr val="FFFFFF"/>
                </a:solidFill>
              </a:defRPr>
            </a:pPr>
            <a:r>
              <a:rPr sz="3000" b="1">
                <a:solidFill>
                  <a:srgbClr val="FFFFFF"/>
                </a:solidFill>
              </a:rPr>
              <a:t>Retrieve before you look back</a:t>
            </a:r>
          </a:p>
        </p:txBody>
      </p:sp>
      <p:sp>
        <p:nvSpPr>
          <p:cNvPr id="2" name="">
            <a:extLst xmlns:a="http://schemas.openxmlformats.org/drawingml/2006/main">
              <a:ext uri="{FF2B5EF4-FFF2-40B4-BE49-F238E27FC236}">
                <a16:creationId xmlns:a16="http://schemas.microsoft.com/office/drawing/2014/main" id="{662C6B0C-C34B-4396-97C2-0F748BC4743C}"/>
              </a:ext>
            </a:extLst>
          </p:cNvPr>
          <p:cNvSpPr>
            <a:spLocks xmlns:a="http://schemas.openxmlformats.org/drawingml/2006/main" noGrp="1"/>
          </p:cNvSpPr>
          <p:nvPr/>
        </p:nvSpPr>
        <p:spPr>
          <a:xfrm xmlns:a="http://schemas.openxmlformats.org/drawingml/2006/main">
            <a:off x="685800" y="1200150"/>
            <a:ext cx="742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a:solidFill>
                  <a:srgbClr val="F1D8DE"/>
                </a:solidFill>
              </a:defRPr>
            </a:pPr>
            <a:r>
              <a:rPr sz="1500">
                <a:solidFill>
                  <a:srgbClr val="F1D8DE"/>
                </a:solidFill>
              </a:rPr>
              <a:t>Answer in a phrase first. Then add the because.</a:t>
            </a:r>
          </a:p>
        </p:txBody>
      </p:sp>
      <p:sp>
        <p:nvSpPr>
          <p:cNvPr id="3" name="">
            <a:extLst xmlns:a="http://schemas.openxmlformats.org/drawingml/2006/main">
              <a:ext uri="{FF2B5EF4-FFF2-40B4-BE49-F238E27FC236}">
                <a16:creationId xmlns:a16="http://schemas.microsoft.com/office/drawing/2014/main" id="{CE585A9A-4A88-4C5B-9042-5B3CC3251281}"/>
              </a:ext>
            </a:extLst>
          </p:cNvPr>
          <p:cNvSpPr>
            <a:spLocks xmlns:a="http://schemas.openxmlformats.org/drawingml/2006/main" noGrp="1"/>
          </p:cNvSpPr>
          <p:nvPr/>
        </p:nvSpPr>
        <p:spPr>
          <a:xfrm xmlns:a="http://schemas.openxmlformats.org/drawingml/2006/main">
            <a:off x="876300" y="19812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b="1">
                <a:solidFill>
                  <a:srgbClr val="F4A9B8"/>
                </a:solidFill>
              </a:defRPr>
            </a:pPr>
            <a:r>
              <a:rPr sz="1800" b="1">
                <a:solidFill>
                  <a:srgbClr val="F4A9B8"/>
                </a:solidFill>
              </a:rPr>
              <a:t>01</a:t>
            </a:r>
          </a:p>
        </p:txBody>
      </p:sp>
      <p:sp>
        <p:nvSpPr>
          <p:cNvPr id="4" name="">
            <a:extLst xmlns:a="http://schemas.openxmlformats.org/drawingml/2006/main">
              <a:ext uri="{FF2B5EF4-FFF2-40B4-BE49-F238E27FC236}">
                <a16:creationId xmlns:a16="http://schemas.microsoft.com/office/drawing/2014/main" id="{6F423157-9318-4EE5-A6CD-1AA73304B109}"/>
              </a:ext>
            </a:extLst>
          </p:cNvPr>
          <p:cNvSpPr>
            <a:spLocks xmlns:a="http://schemas.openxmlformats.org/drawingml/2006/main" noGrp="1"/>
          </p:cNvSpPr>
          <p:nvPr/>
        </p:nvSpPr>
        <p:spPr>
          <a:xfrm xmlns:a="http://schemas.openxmlformats.org/drawingml/2006/main">
            <a:off x="1638300" y="19812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a:solidFill>
                  <a:srgbClr val="FFFFFF"/>
                </a:solidFill>
              </a:defRPr>
            </a:pPr>
            <a:r>
              <a:rPr sz="1725">
                <a:solidFill>
                  <a:srgbClr val="FFFFFF"/>
                </a:solidFill>
              </a:rPr>
              <a:t>How does a specification differ from a broad brief?</a:t>
            </a:r>
          </a:p>
        </p:txBody>
      </p:sp>
      <p:sp>
        <p:nvSpPr>
          <p:cNvPr id="5" name="">
            <a:extLst xmlns:a="http://schemas.openxmlformats.org/drawingml/2006/main">
              <a:ext uri="{FF2B5EF4-FFF2-40B4-BE49-F238E27FC236}">
                <a16:creationId xmlns:a16="http://schemas.microsoft.com/office/drawing/2014/main" id="{8004C6D9-3AB1-496F-817C-E8B432060AF1}"/>
              </a:ext>
            </a:extLst>
          </p:cNvPr>
          <p:cNvSpPr>
            <a:spLocks xmlns:a="http://schemas.openxmlformats.org/drawingml/2006/main" noGrp="1"/>
          </p:cNvSpPr>
          <p:nvPr/>
        </p:nvSpPr>
        <p:spPr>
          <a:xfrm xmlns:a="http://schemas.openxmlformats.org/drawingml/2006/main">
            <a:off x="876300" y="28575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b="1">
                <a:solidFill>
                  <a:srgbClr val="F4A9B8"/>
                </a:solidFill>
              </a:defRPr>
            </a:pPr>
            <a:r>
              <a:rPr sz="1800" b="1">
                <a:solidFill>
                  <a:srgbClr val="F4A9B8"/>
                </a:solidFill>
              </a:rPr>
              <a:t>02</a:t>
            </a:r>
          </a:p>
        </p:txBody>
      </p:sp>
      <p:sp>
        <p:nvSpPr>
          <p:cNvPr id="6" name="">
            <a:extLst xmlns:a="http://schemas.openxmlformats.org/drawingml/2006/main">
              <a:ext uri="{FF2B5EF4-FFF2-40B4-BE49-F238E27FC236}">
                <a16:creationId xmlns:a16="http://schemas.microsoft.com/office/drawing/2014/main" id="{DAF8358E-59D1-4F7B-9436-2689763A4CA2}"/>
              </a:ext>
            </a:extLst>
          </p:cNvPr>
          <p:cNvSpPr>
            <a:spLocks xmlns:a="http://schemas.openxmlformats.org/drawingml/2006/main" noGrp="1"/>
          </p:cNvSpPr>
          <p:nvPr/>
        </p:nvSpPr>
        <p:spPr>
          <a:xfrm xmlns:a="http://schemas.openxmlformats.org/drawingml/2006/main">
            <a:off x="1638300" y="28575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a:solidFill>
                  <a:srgbClr val="FFFFFF"/>
                </a:solidFill>
              </a:defRPr>
            </a:pPr>
            <a:r>
              <a:rPr sz="1725">
                <a:solidFill>
                  <a:srgbClr val="FFFFFF"/>
                </a:solidFill>
              </a:rPr>
              <a:t>Why must concepts be meaningfully different before comparison?</a:t>
            </a:r>
          </a:p>
        </p:txBody>
      </p:sp>
      <p:sp>
        <p:nvSpPr>
          <p:cNvPr id="7" name="">
            <a:extLst xmlns:a="http://schemas.openxmlformats.org/drawingml/2006/main">
              <a:ext uri="{FF2B5EF4-FFF2-40B4-BE49-F238E27FC236}">
                <a16:creationId xmlns:a16="http://schemas.microsoft.com/office/drawing/2014/main" id="{9EB107F9-6AC2-4EE4-AF69-9CD252B46447}"/>
              </a:ext>
            </a:extLst>
          </p:cNvPr>
          <p:cNvSpPr>
            <a:spLocks xmlns:a="http://schemas.openxmlformats.org/drawingml/2006/main" noGrp="1"/>
          </p:cNvSpPr>
          <p:nvPr/>
        </p:nvSpPr>
        <p:spPr>
          <a:xfrm xmlns:a="http://schemas.openxmlformats.org/drawingml/2006/main">
            <a:off x="876300" y="37338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b="1">
                <a:solidFill>
                  <a:srgbClr val="F4A9B8"/>
                </a:solidFill>
              </a:defRPr>
            </a:pPr>
            <a:r>
              <a:rPr sz="1800" b="1">
                <a:solidFill>
                  <a:srgbClr val="F4A9B8"/>
                </a:solidFill>
              </a:rPr>
              <a:t>03</a:t>
            </a:r>
          </a:p>
        </p:txBody>
      </p:sp>
      <p:sp>
        <p:nvSpPr>
          <p:cNvPr id="8" name="">
            <a:extLst xmlns:a="http://schemas.openxmlformats.org/drawingml/2006/main">
              <a:ext uri="{FF2B5EF4-FFF2-40B4-BE49-F238E27FC236}">
                <a16:creationId xmlns:a16="http://schemas.microsoft.com/office/drawing/2014/main" id="{78626491-4206-4DAE-ACCA-FA90B07AD623}"/>
              </a:ext>
            </a:extLst>
          </p:cNvPr>
          <p:cNvSpPr>
            <a:spLocks xmlns:a="http://schemas.openxmlformats.org/drawingml/2006/main" noGrp="1"/>
          </p:cNvSpPr>
          <p:nvPr/>
        </p:nvSpPr>
        <p:spPr>
          <a:xfrm xmlns:a="http://schemas.openxmlformats.org/drawingml/2006/main">
            <a:off x="1638300" y="37338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a:solidFill>
                  <a:srgbClr val="FFFFFF"/>
                </a:solidFill>
              </a:defRPr>
            </a:pPr>
            <a:r>
              <a:rPr sz="1725">
                <a:solidFill>
                  <a:srgbClr val="FFFFFF"/>
                </a:solidFill>
              </a:rPr>
              <a:t>What is the difference between a cutting list and a parts list?</a:t>
            </a:r>
          </a:p>
        </p:txBody>
      </p:sp>
      <p:sp>
        <p:nvSpPr>
          <p:cNvPr id="9" name="">
            <a:extLst xmlns:a="http://schemas.openxmlformats.org/drawingml/2006/main">
              <a:ext uri="{FF2B5EF4-FFF2-40B4-BE49-F238E27FC236}">
                <a16:creationId xmlns:a16="http://schemas.microsoft.com/office/drawing/2014/main" id="{A643D83F-F384-47E1-8F6B-0056B0067917}"/>
              </a:ext>
            </a:extLst>
          </p:cNvPr>
          <p:cNvSpPr>
            <a:spLocks xmlns:a="http://schemas.openxmlformats.org/drawingml/2006/main" noGrp="1"/>
          </p:cNvSpPr>
          <p:nvPr/>
        </p:nvSpPr>
        <p:spPr>
          <a:xfrm xmlns:a="http://schemas.openxmlformats.org/drawingml/2006/main">
            <a:off x="876300" y="46101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b="1">
                <a:solidFill>
                  <a:srgbClr val="F4A9B8"/>
                </a:solidFill>
              </a:defRPr>
            </a:pPr>
            <a:r>
              <a:rPr sz="1800" b="1">
                <a:solidFill>
                  <a:srgbClr val="F4A9B8"/>
                </a:solidFill>
              </a:rPr>
              <a:t>04</a:t>
            </a:r>
          </a:p>
        </p:txBody>
      </p:sp>
      <p:sp>
        <p:nvSpPr>
          <p:cNvPr id="10" name="">
            <a:extLst xmlns:a="http://schemas.openxmlformats.org/drawingml/2006/main">
              <a:ext uri="{FF2B5EF4-FFF2-40B4-BE49-F238E27FC236}">
                <a16:creationId xmlns:a16="http://schemas.microsoft.com/office/drawing/2014/main" id="{514E4C03-2807-4F15-BBF7-B25FF0F24E95}"/>
              </a:ext>
            </a:extLst>
          </p:cNvPr>
          <p:cNvSpPr>
            <a:spLocks xmlns:a="http://schemas.openxmlformats.org/drawingml/2006/main" noGrp="1"/>
          </p:cNvSpPr>
          <p:nvPr/>
        </p:nvSpPr>
        <p:spPr>
          <a:xfrm xmlns:a="http://schemas.openxmlformats.org/drawingml/2006/main">
            <a:off x="1638300" y="46101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a:solidFill>
                  <a:srgbClr val="FFFFFF"/>
                </a:solidFill>
              </a:defRPr>
            </a:pPr>
            <a:r>
              <a:rPr sz="1725">
                <a:solidFill>
                  <a:srgbClr val="FFFFFF"/>
                </a:solidFill>
              </a:rPr>
              <a:t>How does a prototype question control the evidence collected?</a:t>
            </a:r>
          </a:p>
        </p:txBody>
      </p:sp>
      <p:sp>
        <p:nvSpPr>
          <p:cNvPr id="11" name="">
            <a:extLst xmlns:a="http://schemas.openxmlformats.org/drawingml/2006/main">
              <a:ext uri="{FF2B5EF4-FFF2-40B4-BE49-F238E27FC236}">
                <a16:creationId xmlns:a16="http://schemas.microsoft.com/office/drawing/2014/main" id="{CF065674-7FB5-42C1-AC3B-250FA7EBC36D}"/>
              </a:ext>
            </a:extLst>
          </p:cNvPr>
          <p:cNvSpPr>
            <a:spLocks xmlns:a="http://schemas.openxmlformats.org/drawingml/2006/main" noGrp="1"/>
          </p:cNvSpPr>
          <p:nvPr/>
        </p:nvSpPr>
        <p:spPr>
          <a:xfrm xmlns:a="http://schemas.openxmlformats.org/drawingml/2006/main">
            <a:off x="1638300" y="5676900"/>
            <a:ext cx="902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4A9B8"/>
                </a:solidFill>
              </a:defRPr>
            </a:pPr>
            <a:r>
              <a:rPr sz="1350" b="1">
                <a:solidFill>
                  <a:srgbClr val="F4A9B8"/>
                </a:solidFill>
              </a:rPr>
              <a:t>Check: can your partner point to the slide evidence that supports the answer?</a:t>
            </a:r>
          </a:p>
        </p:txBody>
      </p:sp>
      <p:sp>
        <p:nvSpPr>
          <p:cNvPr id="12" name="">
            <a:extLst xmlns:a="http://schemas.openxmlformats.org/drawingml/2006/main">
              <a:ext uri="{FF2B5EF4-FFF2-40B4-BE49-F238E27FC236}">
                <a16:creationId xmlns:a16="http://schemas.microsoft.com/office/drawing/2014/main" id="{555C8382-49ED-43B3-87EC-6A9828B4DFCF}"/>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8461E24-0469-498A-9D52-25C5FC9EC0DC}"/>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66585B"/>
                </a:solidFill>
              </a:defRPr>
            </a:pPr>
            <a:r>
              <a:rPr sz="900" b="1">
                <a:solidFill>
                  <a:srgbClr val="66585B"/>
                </a:solidFill>
              </a:rPr>
              <a:t>YEAR 9 GRAPHICS  •  MODULE 3</a:t>
            </a:r>
          </a:p>
        </p:txBody>
      </p:sp>
      <p:sp>
        <p:nvSpPr>
          <p:cNvPr id="14" name="">
            <a:extLst xmlns:a="http://schemas.openxmlformats.org/drawingml/2006/main">
              <a:ext uri="{FF2B5EF4-FFF2-40B4-BE49-F238E27FC236}">
                <a16:creationId xmlns:a16="http://schemas.microsoft.com/office/drawing/2014/main" id="{E4E7F402-292C-4E6F-803E-F2BAD3B42575}"/>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8B2433"/>
                </a:solidFill>
              </a:defRPr>
            </a:pPr>
            <a:r>
              <a:rPr sz="900" b="1">
                <a:solidFill>
                  <a:srgbClr val="8B2433"/>
                </a:solidFill>
              </a:rPr>
              <a:t>06</a:t>
            </a:r>
          </a:p>
        </p:txBody>
      </p:sp>
    </p:spTree>
    <p:extLst>
      <p:ext uri="{BB962C8B-B14F-4D97-AF65-F5344CB8AC3E}">
        <p14:creationId xmlns:p14="http://schemas.microsoft.com/office/powerpoint/2010/main" val="15446262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8D80B30-A5D6-4485-BDF6-802A483FE432}"/>
              </a:ext>
            </a:extLst>
          </p:cNvPr>
          <p:cNvSpPr>
            <a:spLocks xmlns:a="http://schemas.openxmlformats.org/drawingml/2006/main" noGrp="1"/>
          </p:cNvSpPr>
          <p:nvPr/>
        </p:nvSpPr>
        <p:spPr>
          <a:xfrm xmlns:a="http://schemas.openxmlformats.org/drawingml/2006/main">
            <a:off x="685800" y="5334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850" b="1">
                <a:solidFill>
                  <a:srgbClr val="3B1118"/>
                </a:solidFill>
              </a:defRPr>
            </a:pPr>
            <a:r>
              <a:rPr sz="2850" b="1">
                <a:solidFill>
                  <a:srgbClr val="3B1118"/>
                </a:solidFill>
              </a:rPr>
              <a:t>Build evidence: Read → Select → Explain → Check</a:t>
            </a:r>
          </a:p>
        </p:txBody>
      </p:sp>
      <p:sp>
        <p:nvSpPr>
          <p:cNvPr id="2" name="">
            <a:extLst xmlns:a="http://schemas.openxmlformats.org/drawingml/2006/main">
              <a:ext uri="{FF2B5EF4-FFF2-40B4-BE49-F238E27FC236}">
                <a16:creationId xmlns:a16="http://schemas.microsoft.com/office/drawing/2014/main" id="{E4652757-5385-4C44-9630-2FFD685FDAB3}"/>
              </a:ext>
            </a:extLst>
          </p:cNvPr>
          <p:cNvSpPr>
            <a:spLocks xmlns:a="http://schemas.openxmlformats.org/drawingml/2006/main" noGrp="1"/>
          </p:cNvSpPr>
          <p:nvPr/>
        </p:nvSpPr>
        <p:spPr>
          <a:xfrm xmlns:a="http://schemas.openxmlformats.org/drawingml/2006/main">
            <a:off x="685800" y="1752600"/>
            <a:ext cx="2324100" cy="1676400"/>
          </a:xfrm>
          <a:prstGeom xmlns:a="http://schemas.openxmlformats.org/drawingml/2006/main" prst="roundRect">
            <a:avLst>
              <a:gd name="adj" fmla="val 9091"/>
            </a:avLst>
          </a:prstGeom>
          <a:solidFill xmlns:a="http://schemas.openxmlformats.org/drawingml/2006/main">
            <a:srgbClr val="FCFAF8"/>
          </a:solidFill>
          <a:ln xmlns:a="http://schemas.openxmlformats.org/drawingml/2006/main" w="19050">
            <a:solidFill>
              <a:srgbClr val="D8C9CC"/>
            </a:solidFill>
            <a:prstDash val="solid"/>
          </a:ln>
        </p:spPr>
      </p:sp>
      <p:sp>
        <p:nvSpPr>
          <p:cNvPr id="3" name="">
            <a:extLst xmlns:a="http://schemas.openxmlformats.org/drawingml/2006/main">
              <a:ext uri="{FF2B5EF4-FFF2-40B4-BE49-F238E27FC236}">
                <a16:creationId xmlns:a16="http://schemas.microsoft.com/office/drawing/2014/main" id="{1692B8F3-7B2C-467E-AFFF-43EF564D1FC4}"/>
              </a:ext>
            </a:extLst>
          </p:cNvPr>
          <p:cNvSpPr>
            <a:spLocks xmlns:a="http://schemas.openxmlformats.org/drawingml/2006/main" noGrp="1"/>
          </p:cNvSpPr>
          <p:nvPr/>
        </p:nvSpPr>
        <p:spPr>
          <a:xfrm xmlns:a="http://schemas.openxmlformats.org/drawingml/2006/main">
            <a:off x="8953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8B2433"/>
                </a:solidFill>
              </a:defRPr>
            </a:pPr>
            <a:r>
              <a:rPr sz="1350" b="1">
                <a:solidFill>
                  <a:srgbClr val="8B2433"/>
                </a:solidFill>
              </a:rPr>
              <a:t>READ</a:t>
            </a:r>
          </a:p>
        </p:txBody>
      </p:sp>
      <p:sp>
        <p:nvSpPr>
          <p:cNvPr id="4" name="">
            <a:extLst xmlns:a="http://schemas.openxmlformats.org/drawingml/2006/main">
              <a:ext uri="{FF2B5EF4-FFF2-40B4-BE49-F238E27FC236}">
                <a16:creationId xmlns:a16="http://schemas.microsoft.com/office/drawing/2014/main" id="{20279CF7-D76A-46D6-8CE2-567C754B2497}"/>
              </a:ext>
            </a:extLst>
          </p:cNvPr>
          <p:cNvSpPr>
            <a:spLocks xmlns:a="http://schemas.openxmlformats.org/drawingml/2006/main" noGrp="1"/>
          </p:cNvSpPr>
          <p:nvPr/>
        </p:nvSpPr>
        <p:spPr>
          <a:xfrm xmlns:a="http://schemas.openxmlformats.org/drawingml/2006/main">
            <a:off x="8953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a:solidFill>
                  <a:srgbClr val="25171A"/>
                </a:solidFill>
              </a:defRPr>
            </a:pPr>
            <a:r>
              <a:rPr sz="1425">
                <a:solidFill>
                  <a:srgbClr val="25171A"/>
                </a:solidFill>
              </a:rPr>
              <a:t>Name the brief, criterion or test question.</a:t>
            </a:r>
          </a:p>
        </p:txBody>
      </p:sp>
      <p:sp>
        <p:nvSpPr>
          <p:cNvPr id="5" name="">
            <a:extLst xmlns:a="http://schemas.openxmlformats.org/drawingml/2006/main">
              <a:ext uri="{FF2B5EF4-FFF2-40B4-BE49-F238E27FC236}">
                <a16:creationId xmlns:a16="http://schemas.microsoft.com/office/drawing/2014/main" id="{9B0C9C08-BFDA-44BA-821A-A82A5EAB2C65}"/>
              </a:ext>
            </a:extLst>
          </p:cNvPr>
          <p:cNvSpPr>
            <a:spLocks xmlns:a="http://schemas.openxmlformats.org/drawingml/2006/main" noGrp="1"/>
          </p:cNvSpPr>
          <p:nvPr/>
        </p:nvSpPr>
        <p:spPr>
          <a:xfrm xmlns:a="http://schemas.openxmlformats.org/drawingml/2006/main">
            <a:off x="3038475" y="2362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8B2433"/>
                </a:solidFill>
              </a:defRPr>
            </a:pPr>
            <a:r>
              <a:rPr sz="2250" b="1">
                <a:solidFill>
                  <a:srgbClr val="8B2433"/>
                </a:solidFill>
              </a:rPr>
              <a:t>→</a:t>
            </a:r>
          </a:p>
        </p:txBody>
      </p:sp>
      <p:sp>
        <p:nvSpPr>
          <p:cNvPr id="6" name="">
            <a:extLst xmlns:a="http://schemas.openxmlformats.org/drawingml/2006/main">
              <a:ext uri="{FF2B5EF4-FFF2-40B4-BE49-F238E27FC236}">
                <a16:creationId xmlns:a16="http://schemas.microsoft.com/office/drawing/2014/main" id="{29E2AA03-FC90-40CB-B8FC-604FE246AB3D}"/>
              </a:ext>
            </a:extLst>
          </p:cNvPr>
          <p:cNvSpPr>
            <a:spLocks xmlns:a="http://schemas.openxmlformats.org/drawingml/2006/main" noGrp="1"/>
          </p:cNvSpPr>
          <p:nvPr/>
        </p:nvSpPr>
        <p:spPr>
          <a:xfrm xmlns:a="http://schemas.openxmlformats.org/drawingml/2006/main">
            <a:off x="3467100" y="1752600"/>
            <a:ext cx="2324100" cy="1676400"/>
          </a:xfrm>
          <a:prstGeom xmlns:a="http://schemas.openxmlformats.org/drawingml/2006/main" prst="roundRect">
            <a:avLst>
              <a:gd name="adj" fmla="val 9091"/>
            </a:avLst>
          </a:prstGeom>
          <a:solidFill xmlns:a="http://schemas.openxmlformats.org/drawingml/2006/main">
            <a:srgbClr val="FCFAF8"/>
          </a:solidFill>
          <a:ln xmlns:a="http://schemas.openxmlformats.org/drawingml/2006/main" w="19050">
            <a:solidFill>
              <a:srgbClr val="D8C9CC"/>
            </a:solidFill>
            <a:prstDash val="solid"/>
          </a:ln>
        </p:spPr>
      </p:sp>
      <p:sp>
        <p:nvSpPr>
          <p:cNvPr id="7" name="">
            <a:extLst xmlns:a="http://schemas.openxmlformats.org/drawingml/2006/main">
              <a:ext uri="{FF2B5EF4-FFF2-40B4-BE49-F238E27FC236}">
                <a16:creationId xmlns:a16="http://schemas.microsoft.com/office/drawing/2014/main" id="{6C28EECD-AA63-4E1A-BBAC-2BE366DB4F1B}"/>
              </a:ext>
            </a:extLst>
          </p:cNvPr>
          <p:cNvSpPr>
            <a:spLocks xmlns:a="http://schemas.openxmlformats.org/drawingml/2006/main" noGrp="1"/>
          </p:cNvSpPr>
          <p:nvPr/>
        </p:nvSpPr>
        <p:spPr>
          <a:xfrm xmlns:a="http://schemas.openxmlformats.org/drawingml/2006/main">
            <a:off x="36766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8B2433"/>
                </a:solidFill>
              </a:defRPr>
            </a:pPr>
            <a:r>
              <a:rPr sz="1350" b="1">
                <a:solidFill>
                  <a:srgbClr val="8B2433"/>
                </a:solidFill>
              </a:rPr>
              <a:t>SELECT</a:t>
            </a:r>
          </a:p>
        </p:txBody>
      </p:sp>
      <p:sp>
        <p:nvSpPr>
          <p:cNvPr id="8" name="">
            <a:extLst xmlns:a="http://schemas.openxmlformats.org/drawingml/2006/main">
              <a:ext uri="{FF2B5EF4-FFF2-40B4-BE49-F238E27FC236}">
                <a16:creationId xmlns:a16="http://schemas.microsoft.com/office/drawing/2014/main" id="{5BE015C2-61E6-420F-87DF-08C0FA7804D3}"/>
              </a:ext>
            </a:extLst>
          </p:cNvPr>
          <p:cNvSpPr>
            <a:spLocks xmlns:a="http://schemas.openxmlformats.org/drawingml/2006/main" noGrp="1"/>
          </p:cNvSpPr>
          <p:nvPr/>
        </p:nvSpPr>
        <p:spPr>
          <a:xfrm xmlns:a="http://schemas.openxmlformats.org/drawingml/2006/main">
            <a:off x="36766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a:solidFill>
                  <a:srgbClr val="25171A"/>
                </a:solidFill>
              </a:defRPr>
            </a:pPr>
            <a:r>
              <a:rPr sz="1425">
                <a:solidFill>
                  <a:srgbClr val="25171A"/>
                </a:solidFill>
              </a:rPr>
              <a:t>Choose one concept, model or test result.</a:t>
            </a:r>
          </a:p>
        </p:txBody>
      </p:sp>
      <p:sp>
        <p:nvSpPr>
          <p:cNvPr id="9" name="">
            <a:extLst xmlns:a="http://schemas.openxmlformats.org/drawingml/2006/main">
              <a:ext uri="{FF2B5EF4-FFF2-40B4-BE49-F238E27FC236}">
                <a16:creationId xmlns:a16="http://schemas.microsoft.com/office/drawing/2014/main" id="{116A6610-A161-4274-A620-1C5E451B5524}"/>
              </a:ext>
            </a:extLst>
          </p:cNvPr>
          <p:cNvSpPr>
            <a:spLocks xmlns:a="http://schemas.openxmlformats.org/drawingml/2006/main" noGrp="1"/>
          </p:cNvSpPr>
          <p:nvPr/>
        </p:nvSpPr>
        <p:spPr>
          <a:xfrm xmlns:a="http://schemas.openxmlformats.org/drawingml/2006/main">
            <a:off x="5819775" y="2362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8B2433"/>
                </a:solidFill>
              </a:defRPr>
            </a:pPr>
            <a:r>
              <a:rPr sz="2250" b="1">
                <a:solidFill>
                  <a:srgbClr val="8B2433"/>
                </a:solidFill>
              </a:rPr>
              <a:t>→</a:t>
            </a:r>
          </a:p>
        </p:txBody>
      </p:sp>
      <p:sp>
        <p:nvSpPr>
          <p:cNvPr id="10" name="">
            <a:extLst xmlns:a="http://schemas.openxmlformats.org/drawingml/2006/main">
              <a:ext uri="{FF2B5EF4-FFF2-40B4-BE49-F238E27FC236}">
                <a16:creationId xmlns:a16="http://schemas.microsoft.com/office/drawing/2014/main" id="{BE4CE93C-5A17-4E79-ABB6-2DDA21C653D4}"/>
              </a:ext>
            </a:extLst>
          </p:cNvPr>
          <p:cNvSpPr>
            <a:spLocks xmlns:a="http://schemas.openxmlformats.org/drawingml/2006/main" noGrp="1"/>
          </p:cNvSpPr>
          <p:nvPr/>
        </p:nvSpPr>
        <p:spPr>
          <a:xfrm xmlns:a="http://schemas.openxmlformats.org/drawingml/2006/main">
            <a:off x="6248400" y="1752600"/>
            <a:ext cx="2324100" cy="1676400"/>
          </a:xfrm>
          <a:prstGeom xmlns:a="http://schemas.openxmlformats.org/drawingml/2006/main" prst="roundRect">
            <a:avLst>
              <a:gd name="adj" fmla="val 9091"/>
            </a:avLst>
          </a:prstGeom>
          <a:solidFill xmlns:a="http://schemas.openxmlformats.org/drawingml/2006/main">
            <a:srgbClr val="FBEAEC"/>
          </a:solidFill>
          <a:ln xmlns:a="http://schemas.openxmlformats.org/drawingml/2006/main" w="19050">
            <a:solidFill>
              <a:srgbClr val="8B2433"/>
            </a:solidFill>
            <a:prstDash val="solid"/>
          </a:ln>
        </p:spPr>
      </p:sp>
      <p:sp>
        <p:nvSpPr>
          <p:cNvPr id="11" name="">
            <a:extLst xmlns:a="http://schemas.openxmlformats.org/drawingml/2006/main">
              <a:ext uri="{FF2B5EF4-FFF2-40B4-BE49-F238E27FC236}">
                <a16:creationId xmlns:a16="http://schemas.microsoft.com/office/drawing/2014/main" id="{E20C2BD4-0511-4A76-89D6-290BBB17931D}"/>
              </a:ext>
            </a:extLst>
          </p:cNvPr>
          <p:cNvSpPr>
            <a:spLocks xmlns:a="http://schemas.openxmlformats.org/drawingml/2006/main" noGrp="1"/>
          </p:cNvSpPr>
          <p:nvPr/>
        </p:nvSpPr>
        <p:spPr>
          <a:xfrm xmlns:a="http://schemas.openxmlformats.org/drawingml/2006/main">
            <a:off x="64579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8B2433"/>
                </a:solidFill>
              </a:defRPr>
            </a:pPr>
            <a:r>
              <a:rPr sz="1350" b="1">
                <a:solidFill>
                  <a:srgbClr val="8B2433"/>
                </a:solidFill>
              </a:rPr>
              <a:t>EXPLAIN</a:t>
            </a:r>
          </a:p>
        </p:txBody>
      </p:sp>
      <p:sp>
        <p:nvSpPr>
          <p:cNvPr id="12" name="">
            <a:extLst xmlns:a="http://schemas.openxmlformats.org/drawingml/2006/main">
              <a:ext uri="{FF2B5EF4-FFF2-40B4-BE49-F238E27FC236}">
                <a16:creationId xmlns:a16="http://schemas.microsoft.com/office/drawing/2014/main" id="{4DF36F02-708C-451F-A1FE-752CD4861CCB}"/>
              </a:ext>
            </a:extLst>
          </p:cNvPr>
          <p:cNvSpPr>
            <a:spLocks xmlns:a="http://schemas.openxmlformats.org/drawingml/2006/main" noGrp="1"/>
          </p:cNvSpPr>
          <p:nvPr/>
        </p:nvSpPr>
        <p:spPr>
          <a:xfrm xmlns:a="http://schemas.openxmlformats.org/drawingml/2006/main">
            <a:off x="64579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a:solidFill>
                  <a:srgbClr val="25171A"/>
                </a:solidFill>
              </a:defRPr>
            </a:pPr>
            <a:r>
              <a:rPr sz="1425">
                <a:solidFill>
                  <a:srgbClr val="25171A"/>
                </a:solidFill>
              </a:rPr>
              <a:t>State what it proves and why it matters.</a:t>
            </a:r>
          </a:p>
        </p:txBody>
      </p:sp>
      <p:sp>
        <p:nvSpPr>
          <p:cNvPr id="13" name="">
            <a:extLst xmlns:a="http://schemas.openxmlformats.org/drawingml/2006/main">
              <a:ext uri="{FF2B5EF4-FFF2-40B4-BE49-F238E27FC236}">
                <a16:creationId xmlns:a16="http://schemas.microsoft.com/office/drawing/2014/main" id="{B1B7EADD-2573-49FB-B6AE-A419FE0D7448}"/>
              </a:ext>
            </a:extLst>
          </p:cNvPr>
          <p:cNvSpPr>
            <a:spLocks xmlns:a="http://schemas.openxmlformats.org/drawingml/2006/main" noGrp="1"/>
          </p:cNvSpPr>
          <p:nvPr/>
        </p:nvSpPr>
        <p:spPr>
          <a:xfrm xmlns:a="http://schemas.openxmlformats.org/drawingml/2006/main">
            <a:off x="8601075" y="2362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8B2433"/>
                </a:solidFill>
              </a:defRPr>
            </a:pPr>
            <a:r>
              <a:rPr sz="2250" b="1">
                <a:solidFill>
                  <a:srgbClr val="8B2433"/>
                </a:solidFill>
              </a:rPr>
              <a:t>→</a:t>
            </a:r>
          </a:p>
        </p:txBody>
      </p:sp>
      <p:sp>
        <p:nvSpPr>
          <p:cNvPr id="14" name="">
            <a:extLst xmlns:a="http://schemas.openxmlformats.org/drawingml/2006/main">
              <a:ext uri="{FF2B5EF4-FFF2-40B4-BE49-F238E27FC236}">
                <a16:creationId xmlns:a16="http://schemas.microsoft.com/office/drawing/2014/main" id="{67FEC9CD-C4F5-4540-812C-DEE81EE7BAD4}"/>
              </a:ext>
            </a:extLst>
          </p:cNvPr>
          <p:cNvSpPr>
            <a:spLocks xmlns:a="http://schemas.openxmlformats.org/drawingml/2006/main" noGrp="1"/>
          </p:cNvSpPr>
          <p:nvPr/>
        </p:nvSpPr>
        <p:spPr>
          <a:xfrm xmlns:a="http://schemas.openxmlformats.org/drawingml/2006/main">
            <a:off x="9029700" y="1752600"/>
            <a:ext cx="2324100" cy="1676400"/>
          </a:xfrm>
          <a:prstGeom xmlns:a="http://schemas.openxmlformats.org/drawingml/2006/main" prst="roundRect">
            <a:avLst>
              <a:gd name="adj" fmla="val 9091"/>
            </a:avLst>
          </a:prstGeom>
          <a:solidFill xmlns:a="http://schemas.openxmlformats.org/drawingml/2006/main">
            <a:srgbClr val="FCFAF8"/>
          </a:solidFill>
          <a:ln xmlns:a="http://schemas.openxmlformats.org/drawingml/2006/main" w="19050">
            <a:solidFill>
              <a:srgbClr val="D8C9CC"/>
            </a:solidFill>
            <a:prstDash val="solid"/>
          </a:ln>
        </p:spPr>
      </p:sp>
      <p:sp>
        <p:nvSpPr>
          <p:cNvPr id="15" name="">
            <a:extLst xmlns:a="http://schemas.openxmlformats.org/drawingml/2006/main">
              <a:ext uri="{FF2B5EF4-FFF2-40B4-BE49-F238E27FC236}">
                <a16:creationId xmlns:a16="http://schemas.microsoft.com/office/drawing/2014/main" id="{1052E7C8-EDD3-49A9-B281-4271A1781AA9}"/>
              </a:ext>
            </a:extLst>
          </p:cNvPr>
          <p:cNvSpPr>
            <a:spLocks xmlns:a="http://schemas.openxmlformats.org/drawingml/2006/main" noGrp="1"/>
          </p:cNvSpPr>
          <p:nvPr/>
        </p:nvSpPr>
        <p:spPr>
          <a:xfrm xmlns:a="http://schemas.openxmlformats.org/drawingml/2006/main">
            <a:off x="92392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8B2433"/>
                </a:solidFill>
              </a:defRPr>
            </a:pPr>
            <a:r>
              <a:rPr sz="1350" b="1">
                <a:solidFill>
                  <a:srgbClr val="8B2433"/>
                </a:solidFill>
              </a:rPr>
              <a:t>CHECK</a:t>
            </a:r>
          </a:p>
        </p:txBody>
      </p:sp>
      <p:sp>
        <p:nvSpPr>
          <p:cNvPr id="16" name="">
            <a:extLst xmlns:a="http://schemas.openxmlformats.org/drawingml/2006/main">
              <a:ext uri="{FF2B5EF4-FFF2-40B4-BE49-F238E27FC236}">
                <a16:creationId xmlns:a16="http://schemas.microsoft.com/office/drawing/2014/main" id="{C08B0CDE-4A7C-4F6E-9F51-8A0EE20DDF88}"/>
              </a:ext>
            </a:extLst>
          </p:cNvPr>
          <p:cNvSpPr>
            <a:spLocks xmlns:a="http://schemas.openxmlformats.org/drawingml/2006/main" noGrp="1"/>
          </p:cNvSpPr>
          <p:nvPr/>
        </p:nvSpPr>
        <p:spPr>
          <a:xfrm xmlns:a="http://schemas.openxmlformats.org/drawingml/2006/main">
            <a:off x="92392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a:solidFill>
                  <a:srgbClr val="25171A"/>
                </a:solidFill>
              </a:defRPr>
            </a:pPr>
            <a:r>
              <a:rPr sz="1425">
                <a:solidFill>
                  <a:srgbClr val="25171A"/>
                </a:solidFill>
              </a:rPr>
              <a:t>Limit the claim to the fidelity and evidence.</a:t>
            </a:r>
          </a:p>
        </p:txBody>
      </p:sp>
      <p:sp>
        <p:nvSpPr>
          <p:cNvPr id="17" name="">
            <a:extLst xmlns:a="http://schemas.openxmlformats.org/drawingml/2006/main">
              <a:ext uri="{FF2B5EF4-FFF2-40B4-BE49-F238E27FC236}">
                <a16:creationId xmlns:a16="http://schemas.microsoft.com/office/drawing/2014/main" id="{C06D0AC0-24FB-4CD2-88D9-38E577A58AE6}"/>
              </a:ext>
            </a:extLst>
          </p:cNvPr>
          <p:cNvSpPr>
            <a:spLocks xmlns:a="http://schemas.openxmlformats.org/drawingml/2006/main" noGrp="1"/>
          </p:cNvSpPr>
          <p:nvPr/>
        </p:nvSpPr>
        <p:spPr>
          <a:xfrm xmlns:a="http://schemas.openxmlformats.org/drawingml/2006/main">
            <a:off x="1257300" y="4114800"/>
            <a:ext cx="9677400" cy="1295400"/>
          </a:xfrm>
          <a:prstGeom xmlns:a="http://schemas.openxmlformats.org/drawingml/2006/main" prst="roundRect">
            <a:avLst>
              <a:gd name="adj" fmla="val 11765"/>
            </a:avLst>
          </a:prstGeom>
          <a:solidFill xmlns:a="http://schemas.openxmlformats.org/drawingml/2006/main">
            <a:srgbClr val="3B111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3A7BB2C-5286-486B-8663-3F8D906271EE}"/>
              </a:ext>
            </a:extLst>
          </p:cNvPr>
          <p:cNvSpPr>
            <a:spLocks xmlns:a="http://schemas.openxmlformats.org/drawingml/2006/main" noGrp="1"/>
          </p:cNvSpPr>
          <p:nvPr/>
        </p:nvSpPr>
        <p:spPr>
          <a:xfrm xmlns:a="http://schemas.openxmlformats.org/drawingml/2006/main">
            <a:off x="1562100" y="43434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4A9B8"/>
                </a:solidFill>
              </a:defRPr>
            </a:pPr>
            <a:r>
              <a:rPr sz="1350" b="1">
                <a:solidFill>
                  <a:srgbClr val="F4A9B8"/>
                </a:solidFill>
              </a:rPr>
              <a:t>Sentence support</a:t>
            </a:r>
          </a:p>
        </p:txBody>
      </p:sp>
      <p:sp>
        <p:nvSpPr>
          <p:cNvPr id="19" name="">
            <a:extLst xmlns:a="http://schemas.openxmlformats.org/drawingml/2006/main">
              <a:ext uri="{FF2B5EF4-FFF2-40B4-BE49-F238E27FC236}">
                <a16:creationId xmlns:a16="http://schemas.microsoft.com/office/drawing/2014/main" id="{46B913D8-4C5C-495E-A364-55F0020F8C2A}"/>
              </a:ext>
            </a:extLst>
          </p:cNvPr>
          <p:cNvSpPr>
            <a:spLocks xmlns:a="http://schemas.openxmlformats.org/drawingml/2006/main" noGrp="1"/>
          </p:cNvSpPr>
          <p:nvPr/>
        </p:nvSpPr>
        <p:spPr>
          <a:xfrm xmlns:a="http://schemas.openxmlformats.org/drawingml/2006/main">
            <a:off x="1562100" y="47244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The criterion was ___. I compared or tested ___. The evidence showed ___. I revised ___ in Onshape because ___. A limitation is ___.</a:t>
            </a:r>
          </a:p>
        </p:txBody>
      </p:sp>
      <p:sp>
        <p:nvSpPr>
          <p:cNvPr id="20" name="">
            <a:extLst xmlns:a="http://schemas.openxmlformats.org/drawingml/2006/main">
              <a:ext uri="{FF2B5EF4-FFF2-40B4-BE49-F238E27FC236}">
                <a16:creationId xmlns:a16="http://schemas.microsoft.com/office/drawing/2014/main" id="{1E230AC4-03DB-49E2-909E-7F3CE77EBAB8}"/>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4C9C8E5-9517-44BB-A2F7-CD89B3F9B863}"/>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66585B"/>
                </a:solidFill>
              </a:defRPr>
            </a:pPr>
            <a:r>
              <a:rPr sz="900" b="1">
                <a:solidFill>
                  <a:srgbClr val="66585B"/>
                </a:solidFill>
              </a:rPr>
              <a:t>YEAR 9 GRAPHICS  •  MODULE 3</a:t>
            </a:r>
          </a:p>
        </p:txBody>
      </p:sp>
      <p:sp>
        <p:nvSpPr>
          <p:cNvPr id="22" name="">
            <a:extLst xmlns:a="http://schemas.openxmlformats.org/drawingml/2006/main">
              <a:ext uri="{FF2B5EF4-FFF2-40B4-BE49-F238E27FC236}">
                <a16:creationId xmlns:a16="http://schemas.microsoft.com/office/drawing/2014/main" id="{3FFB9569-47E6-4D2C-8FC1-B4E7F117FB9C}"/>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8B2433"/>
                </a:solidFill>
              </a:defRPr>
            </a:pPr>
            <a:r>
              <a:rPr sz="900" b="1">
                <a:solidFill>
                  <a:srgbClr val="8B2433"/>
                </a:solidFill>
              </a:rPr>
              <a:t>07</a:t>
            </a:r>
          </a:p>
        </p:txBody>
      </p:sp>
    </p:spTree>
    <p:extLst>
      <p:ext uri="{BB962C8B-B14F-4D97-AF65-F5344CB8AC3E}">
        <p14:creationId xmlns:p14="http://schemas.microsoft.com/office/powerpoint/2010/main" val="1979128287"/>
      </p:ext>
    </p:extLst>
  </p:cSld>
</p:sld>
</file>

<file path=ppt/slides/slide8.xml><?xml version="1.0" encoding="utf-8"?>
<p:sld xmlns:p="http://schemas.openxmlformats.org/presentationml/2006/main">
  <p:cSld>
    <p:bg>
      <p:bgPr>
        <a:solidFill xmlns:a="http://schemas.openxmlformats.org/drawingml/2006/main">
          <a:srgbClr val="FBEA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4E2A7B1-8A2E-4C94-AB97-9A1CE7499B85}"/>
              </a:ext>
            </a:extLst>
          </p:cNvPr>
          <p:cNvSpPr>
            <a:spLocks xmlns:a="http://schemas.openxmlformats.org/drawingml/2006/main" noGrp="1"/>
          </p:cNvSpPr>
          <p:nvPr/>
        </p:nvSpPr>
        <p:spPr>
          <a:xfrm xmlns:a="http://schemas.openxmlformats.org/drawingml/2006/main">
            <a:off x="0" y="0"/>
            <a:ext cx="2781300" cy="6858000"/>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CB392A2-E54E-46DF-9069-7E62FD826671}"/>
              </a:ext>
            </a:extLst>
          </p:cNvPr>
          <p:cNvSpPr>
            <a:spLocks xmlns:a="http://schemas.openxmlformats.org/drawingml/2006/main" noGrp="1"/>
          </p:cNvSpPr>
          <p:nvPr/>
        </p:nvSpPr>
        <p:spPr>
          <a:xfrm xmlns:a="http://schemas.openxmlformats.org/drawingml/2006/main">
            <a:off x="552450" y="8572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D8DF"/>
                </a:solidFill>
              </a:defRPr>
            </a:pPr>
            <a:r>
              <a:rPr sz="1275" b="1">
                <a:solidFill>
                  <a:srgbClr val="FFD8DF"/>
                </a:solidFill>
              </a:rPr>
              <a:t>MODULE 3</a:t>
            </a:r>
          </a:p>
        </p:txBody>
      </p:sp>
      <p:sp>
        <p:nvSpPr>
          <p:cNvPr id="3" name="">
            <a:extLst xmlns:a="http://schemas.openxmlformats.org/drawingml/2006/main">
              <a:ext uri="{FF2B5EF4-FFF2-40B4-BE49-F238E27FC236}">
                <a16:creationId xmlns:a16="http://schemas.microsoft.com/office/drawing/2014/main" id="{E81EBFEA-F172-4212-A55A-49F67C350639}"/>
              </a:ext>
            </a:extLst>
          </p:cNvPr>
          <p:cNvSpPr>
            <a:spLocks xmlns:a="http://schemas.openxmlformats.org/drawingml/2006/main" noGrp="1"/>
          </p:cNvSpPr>
          <p:nvPr/>
        </p:nvSpPr>
        <p:spPr>
          <a:xfrm xmlns:a="http://schemas.openxmlformats.org/drawingml/2006/main">
            <a:off x="457200" y="1676400"/>
            <a:ext cx="1885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4350" b="1">
                <a:solidFill>
                  <a:srgbClr val="FFFFFF"/>
                </a:solidFill>
              </a:defRPr>
            </a:pPr>
            <a:r>
              <a:rPr sz="4350" b="1">
                <a:solidFill>
                  <a:srgbClr val="FFFFFF"/>
                </a:solidFill>
              </a:rPr>
              <a:t>EXIT</a:t>
            </a:r>
          </a:p>
        </p:txBody>
      </p:sp>
      <p:sp>
        <p:nvSpPr>
          <p:cNvPr id="4" name="">
            <a:extLst xmlns:a="http://schemas.openxmlformats.org/drawingml/2006/main">
              <a:ext uri="{FF2B5EF4-FFF2-40B4-BE49-F238E27FC236}">
                <a16:creationId xmlns:a16="http://schemas.microsoft.com/office/drawing/2014/main" id="{A843B30E-F67C-459F-BFDF-4420640DC61C}"/>
              </a:ext>
            </a:extLst>
          </p:cNvPr>
          <p:cNvSpPr>
            <a:spLocks xmlns:a="http://schemas.openxmlformats.org/drawingml/2006/main" noGrp="1"/>
          </p:cNvSpPr>
          <p:nvPr/>
        </p:nvSpPr>
        <p:spPr>
          <a:xfrm xmlns:a="http://schemas.openxmlformats.org/drawingml/2006/main">
            <a:off x="361950" y="240030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FFFFF"/>
                </a:solidFill>
              </a:defRPr>
            </a:pPr>
            <a:r>
              <a:rPr sz="1950" b="1">
                <a:solidFill>
                  <a:srgbClr val="FFFFFF"/>
                </a:solidFill>
              </a:rPr>
              <a:t>EVIDENCE</a:t>
            </a:r>
          </a:p>
        </p:txBody>
      </p:sp>
      <p:sp>
        <p:nvSpPr>
          <p:cNvPr id="5" name="">
            <a:extLst xmlns:a="http://schemas.openxmlformats.org/drawingml/2006/main">
              <a:ext uri="{FF2B5EF4-FFF2-40B4-BE49-F238E27FC236}">
                <a16:creationId xmlns:a16="http://schemas.microsoft.com/office/drawing/2014/main" id="{E994F905-28B2-46B5-9B80-92FC13012577}"/>
              </a:ext>
            </a:extLst>
          </p:cNvPr>
          <p:cNvSpPr>
            <a:spLocks xmlns:a="http://schemas.openxmlformats.org/drawingml/2006/main" noGrp="1"/>
          </p:cNvSpPr>
          <p:nvPr/>
        </p:nvSpPr>
        <p:spPr>
          <a:xfrm xmlns:a="http://schemas.openxmlformats.org/drawingml/2006/main">
            <a:off x="3390900" y="971550"/>
            <a:ext cx="714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3B1118"/>
                </a:solidFill>
              </a:defRPr>
            </a:pPr>
            <a:r>
              <a:rPr sz="1950" b="1">
                <a:solidFill>
                  <a:srgbClr val="3B1118"/>
                </a:solidFill>
              </a:rPr>
              <a:t>1  One product relationship I can now explain</a:t>
            </a:r>
          </a:p>
        </p:txBody>
      </p:sp>
      <p:sp>
        <p:nvSpPr>
          <p:cNvPr id="6" name="">
            <a:extLst xmlns:a="http://schemas.openxmlformats.org/drawingml/2006/main">
              <a:ext uri="{FF2B5EF4-FFF2-40B4-BE49-F238E27FC236}">
                <a16:creationId xmlns:a16="http://schemas.microsoft.com/office/drawing/2014/main" id="{FD8B85C4-6E94-4B62-AB75-D9BC18C966A2}"/>
              </a:ext>
            </a:extLst>
          </p:cNvPr>
          <p:cNvSpPr>
            <a:spLocks xmlns:a="http://schemas.openxmlformats.org/drawingml/2006/main" noGrp="1"/>
          </p:cNvSpPr>
          <p:nvPr/>
        </p:nvSpPr>
        <p:spPr>
          <a:xfrm xmlns:a="http://schemas.openxmlformats.org/drawingml/2006/main">
            <a:off x="3390900" y="1847850"/>
            <a:ext cx="7620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3B1118"/>
                </a:solidFill>
              </a:defRPr>
            </a:pPr>
            <a:r>
              <a:rPr sz="1950" b="1">
                <a:solidFill>
                  <a:srgbClr val="3B1118"/>
                </a:solidFill>
              </a:rPr>
              <a:t>2  One test result or revision I can point to</a:t>
            </a:r>
          </a:p>
        </p:txBody>
      </p:sp>
      <p:sp>
        <p:nvSpPr>
          <p:cNvPr id="7" name="">
            <a:extLst xmlns:a="http://schemas.openxmlformats.org/drawingml/2006/main">
              <a:ext uri="{FF2B5EF4-FFF2-40B4-BE49-F238E27FC236}">
                <a16:creationId xmlns:a16="http://schemas.microsoft.com/office/drawing/2014/main" id="{419AD4B8-9848-4115-9BB8-2D8813F3B343}"/>
              </a:ext>
            </a:extLst>
          </p:cNvPr>
          <p:cNvSpPr>
            <a:spLocks xmlns:a="http://schemas.openxmlformats.org/drawingml/2006/main" noGrp="1"/>
          </p:cNvSpPr>
          <p:nvPr/>
        </p:nvSpPr>
        <p:spPr>
          <a:xfrm xmlns:a="http://schemas.openxmlformats.org/drawingml/2006/main">
            <a:off x="3390900" y="28765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3B1118"/>
                </a:solidFill>
              </a:defRPr>
            </a:pPr>
            <a:r>
              <a:rPr sz="1950" b="1">
                <a:solidFill>
                  <a:srgbClr val="3B1118"/>
                </a:solidFill>
              </a:rPr>
              <a:t>3  One claim I must limit to the prototype evidence</a:t>
            </a:r>
          </a:p>
        </p:txBody>
      </p:sp>
      <p:sp>
        <p:nvSpPr>
          <p:cNvPr id="8" name="">
            <a:extLst xmlns:a="http://schemas.openxmlformats.org/drawingml/2006/main">
              <a:ext uri="{FF2B5EF4-FFF2-40B4-BE49-F238E27FC236}">
                <a16:creationId xmlns:a16="http://schemas.microsoft.com/office/drawing/2014/main" id="{73898055-3E92-427A-B2DD-6D0446A28E8E}"/>
              </a:ext>
            </a:extLst>
          </p:cNvPr>
          <p:cNvSpPr>
            <a:spLocks xmlns:a="http://schemas.openxmlformats.org/drawingml/2006/main" noGrp="1"/>
          </p:cNvSpPr>
          <p:nvPr/>
        </p:nvSpPr>
        <p:spPr>
          <a:xfrm xmlns:a="http://schemas.openxmlformats.org/drawingml/2006/main">
            <a:off x="3390900" y="4000500"/>
            <a:ext cx="7505700" cy="13716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9050">
            <a:solidFill>
              <a:srgbClr val="D8C9CC"/>
            </a:solidFill>
            <a:prstDash val="solid"/>
          </a:ln>
        </p:spPr>
      </p:sp>
      <p:sp>
        <p:nvSpPr>
          <p:cNvPr id="9" name="">
            <a:extLst xmlns:a="http://schemas.openxmlformats.org/drawingml/2006/main">
              <a:ext uri="{FF2B5EF4-FFF2-40B4-BE49-F238E27FC236}">
                <a16:creationId xmlns:a16="http://schemas.microsoft.com/office/drawing/2014/main" id="{BBD7382B-FBA1-47CF-9A2F-5BAA1B0381F7}"/>
              </a:ext>
            </a:extLst>
          </p:cNvPr>
          <p:cNvSpPr>
            <a:spLocks xmlns:a="http://schemas.openxmlformats.org/drawingml/2006/main" noGrp="1"/>
          </p:cNvSpPr>
          <p:nvPr/>
        </p:nvSpPr>
        <p:spPr>
          <a:xfrm xmlns:a="http://schemas.openxmlformats.org/drawingml/2006/main">
            <a:off x="3676650" y="42481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8B2433"/>
                </a:solidFill>
              </a:defRPr>
            </a:pPr>
            <a:r>
              <a:rPr sz="1350" b="1">
                <a:solidFill>
                  <a:srgbClr val="8B2433"/>
                </a:solidFill>
              </a:rPr>
              <a:t>SAVE TO MY FOLIO</a:t>
            </a:r>
          </a:p>
        </p:txBody>
      </p:sp>
      <p:sp>
        <p:nvSpPr>
          <p:cNvPr id="10" name="">
            <a:extLst xmlns:a="http://schemas.openxmlformats.org/drawingml/2006/main">
              <a:ext uri="{FF2B5EF4-FFF2-40B4-BE49-F238E27FC236}">
                <a16:creationId xmlns:a16="http://schemas.microsoft.com/office/drawing/2014/main" id="{064E2F73-E0F7-4951-810B-EC8CC41DBEEF}"/>
              </a:ext>
            </a:extLst>
          </p:cNvPr>
          <p:cNvSpPr>
            <a:spLocks xmlns:a="http://schemas.openxmlformats.org/drawingml/2006/main" noGrp="1"/>
          </p:cNvSpPr>
          <p:nvPr/>
        </p:nvSpPr>
        <p:spPr>
          <a:xfrm xmlns:a="http://schemas.openxmlformats.org/drawingml/2006/main">
            <a:off x="3676650" y="4667250"/>
            <a:ext cx="6800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a:solidFill>
                  <a:srgbClr val="25171A"/>
                </a:solidFill>
              </a:defRPr>
            </a:pPr>
            <a:r>
              <a:rPr sz="1500">
                <a:solidFill>
                  <a:srgbClr val="25171A"/>
                </a:solidFill>
              </a:rPr>
              <a:t>One dated concept comparison, Onshape model view or prototype test; a caption stating what it proves; and a reasoned next step.</a:t>
            </a:r>
          </a:p>
        </p:txBody>
      </p:sp>
      <p:sp>
        <p:nvSpPr>
          <p:cNvPr id="11" name="">
            <a:extLst xmlns:a="http://schemas.openxmlformats.org/drawingml/2006/main">
              <a:ext uri="{FF2B5EF4-FFF2-40B4-BE49-F238E27FC236}">
                <a16:creationId xmlns:a16="http://schemas.microsoft.com/office/drawing/2014/main" id="{60E7B04D-6283-483D-9A6D-D0E422BFCF5B}"/>
              </a:ext>
            </a:extLst>
          </p:cNvPr>
          <p:cNvSpPr>
            <a:spLocks xmlns:a="http://schemas.openxmlformats.org/drawingml/2006/main" noGrp="1"/>
          </p:cNvSpPr>
          <p:nvPr/>
        </p:nvSpPr>
        <p:spPr>
          <a:xfrm xmlns:a="http://schemas.openxmlformats.org/drawingml/2006/main">
            <a:off x="3390900" y="5791200"/>
            <a:ext cx="750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66585B"/>
                </a:solidFill>
              </a:defRPr>
            </a:pPr>
            <a:r>
              <a:rPr sz="1350" b="1">
                <a:solidFill>
                  <a:srgbClr val="66585B"/>
                </a:solidFill>
              </a:rPr>
              <a:t>Next: open the matching section package for feedback, then save the stronger response—not every draft.</a:t>
            </a:r>
          </a:p>
        </p:txBody>
      </p:sp>
      <p:sp>
        <p:nvSpPr>
          <p:cNvPr id="12" name="">
            <a:extLst xmlns:a="http://schemas.openxmlformats.org/drawingml/2006/main">
              <a:ext uri="{FF2B5EF4-FFF2-40B4-BE49-F238E27FC236}">
                <a16:creationId xmlns:a16="http://schemas.microsoft.com/office/drawing/2014/main" id="{F032FE64-EEF2-4590-BA42-CC03D6CEB8ED}"/>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6546312-6D9C-43CD-A0B7-E56C9B0ED0B5}"/>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66585B"/>
                </a:solidFill>
              </a:defRPr>
            </a:pPr>
            <a:r>
              <a:rPr sz="900" b="1">
                <a:solidFill>
                  <a:srgbClr val="66585B"/>
                </a:solidFill>
              </a:rPr>
              <a:t>YEAR 9 GRAPHICS  •  MODULE 3</a:t>
            </a:r>
          </a:p>
        </p:txBody>
      </p:sp>
      <p:sp>
        <p:nvSpPr>
          <p:cNvPr id="14" name="">
            <a:extLst xmlns:a="http://schemas.openxmlformats.org/drawingml/2006/main">
              <a:ext uri="{FF2B5EF4-FFF2-40B4-BE49-F238E27FC236}">
                <a16:creationId xmlns:a16="http://schemas.microsoft.com/office/drawing/2014/main" id="{40F0BB3D-97EE-46BA-BDD6-101E7E7B965C}"/>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8B2433"/>
                </a:solidFill>
              </a:defRPr>
            </a:pPr>
            <a:r>
              <a:rPr sz="900" b="1">
                <a:solidFill>
                  <a:srgbClr val="8B2433"/>
                </a:solidFill>
              </a:rPr>
              <a:t>08</a:t>
            </a:r>
          </a:p>
        </p:txBody>
      </p:sp>
    </p:spTree>
    <p:extLst>
      <p:ext uri="{BB962C8B-B14F-4D97-AF65-F5344CB8AC3E}">
        <p14:creationId xmlns:p14="http://schemas.microsoft.com/office/powerpoint/2010/main" val="20920101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2026-08-31T02:46:40.2150000Z</dcterms:created>
  <dcterms:modified xsi:type="dcterms:W3CDTF">2026-08-31T02:46:40.2150000Z</dcterms:modified>
</coreProperties>
</file>